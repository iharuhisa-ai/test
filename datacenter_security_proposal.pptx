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2188952" cy="54864"/>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097280"/>
            <a:ext cx="1645920" cy="320040"/>
          </a:xfrm>
          <a:prstGeom prst="rect">
            <a:avLst/>
          </a:prstGeom>
          <a:solidFill>
            <a:srgbClr val="002844"/>
          </a:solidFill>
          <a:ln w="1270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115568"/>
            <a:ext cx="1609344" cy="274320"/>
          </a:xfrm>
          <a:prstGeom prst="rect">
            <a:avLst/>
          </a:prstGeom>
          <a:noFill/>
        </p:spPr>
        <p:txBody>
          <a:bodyPr wrap="square">
            <a:spAutoFit/>
          </a:bodyPr>
          <a:lstStyle/>
          <a:p>
            <a:pPr algn="ctr"/>
            <a:r>
              <a:rPr sz="1100" b="1" i="0">
                <a:solidFill>
                  <a:srgbClr val="00A8FF"/>
                </a:solidFill>
              </a:rPr>
              <a:t>PROPOSAL 2026</a:t>
            </a:r>
          </a:p>
        </p:txBody>
      </p:sp>
      <p:sp>
        <p:nvSpPr>
          <p:cNvPr id="7" name="TextBox 6"/>
          <p:cNvSpPr txBox="1"/>
          <p:nvPr/>
        </p:nvSpPr>
        <p:spPr>
          <a:xfrm>
            <a:off x="731520" y="1600200"/>
            <a:ext cx="10515600" cy="777240"/>
          </a:xfrm>
          <a:prstGeom prst="rect">
            <a:avLst/>
          </a:prstGeom>
          <a:noFill/>
        </p:spPr>
        <p:txBody>
          <a:bodyPr wrap="square">
            <a:spAutoFit/>
          </a:bodyPr>
          <a:lstStyle/>
          <a:p>
            <a:pPr algn="l"/>
            <a:r>
              <a:rPr sz="4000" b="1" i="0">
                <a:solidFill>
                  <a:srgbClr val="FFFFFF"/>
                </a:solidFill>
              </a:rPr>
              <a:t>災害に強いデータセンター警備</a:t>
            </a:r>
          </a:p>
        </p:txBody>
      </p:sp>
      <p:sp>
        <p:nvSpPr>
          <p:cNvPr id="8" name="TextBox 7"/>
          <p:cNvSpPr txBox="1"/>
          <p:nvPr/>
        </p:nvSpPr>
        <p:spPr>
          <a:xfrm>
            <a:off x="731520" y="2331720"/>
            <a:ext cx="10515600" cy="640080"/>
          </a:xfrm>
          <a:prstGeom prst="rect">
            <a:avLst/>
          </a:prstGeom>
          <a:noFill/>
        </p:spPr>
        <p:txBody>
          <a:bodyPr wrap="square">
            <a:spAutoFit/>
          </a:bodyPr>
          <a:lstStyle/>
          <a:p>
            <a:pPr algn="l"/>
            <a:r>
              <a:rPr sz="3200" b="1" i="0">
                <a:solidFill>
                  <a:srgbClr val="00A8FF"/>
                </a:solidFill>
              </a:rPr>
              <a:t>au Starlink 通信冗長化ソリューション</a:t>
            </a:r>
          </a:p>
        </p:txBody>
      </p:sp>
      <p:sp>
        <p:nvSpPr>
          <p:cNvPr id="9" name="TextBox 8"/>
          <p:cNvSpPr txBox="1"/>
          <p:nvPr/>
        </p:nvSpPr>
        <p:spPr>
          <a:xfrm>
            <a:off x="731520" y="3063240"/>
            <a:ext cx="9601200" cy="1005840"/>
          </a:xfrm>
          <a:prstGeom prst="rect">
            <a:avLst/>
          </a:prstGeom>
          <a:noFill/>
        </p:spPr>
        <p:txBody>
          <a:bodyPr wrap="square">
            <a:spAutoFit/>
          </a:bodyPr>
          <a:lstStyle/>
          <a:p>
            <a:pPr algn="l"/>
            <a:r>
              <a:rPr sz="1700" b="0" i="0">
                <a:solidFill>
                  <a:srgbClr val="C0D4E8"/>
                </a:solidFill>
              </a:rPr>
              <a:t>衛星通信 × 地上回線のハイブリッド構成で
「どんな災害でも途切れない警備体制」を実現します</a:t>
            </a:r>
          </a:p>
        </p:txBody>
      </p:sp>
      <p:sp>
        <p:nvSpPr>
          <p:cNvPr id="10" name="Rectangle 9"/>
          <p:cNvSpPr/>
          <p:nvPr/>
        </p:nvSpPr>
        <p:spPr>
          <a:xfrm>
            <a:off x="731520" y="4206240"/>
            <a:ext cx="10515600" cy="127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343400"/>
            <a:ext cx="1097280" cy="274320"/>
          </a:xfrm>
          <a:prstGeom prst="rect">
            <a:avLst/>
          </a:prstGeom>
          <a:noFill/>
        </p:spPr>
        <p:txBody>
          <a:bodyPr wrap="square">
            <a:spAutoFit/>
          </a:bodyPr>
          <a:lstStyle/>
          <a:p>
            <a:pPr algn="l"/>
            <a:r>
              <a:rPr sz="1100" b="0" i="0">
                <a:solidFill>
                  <a:srgbClr val="6A8AAA"/>
                </a:solidFill>
              </a:rPr>
              <a:t>提案日</a:t>
            </a:r>
          </a:p>
        </p:txBody>
      </p:sp>
      <p:sp>
        <p:nvSpPr>
          <p:cNvPr id="12" name="TextBox 11"/>
          <p:cNvSpPr txBox="1"/>
          <p:nvPr/>
        </p:nvSpPr>
        <p:spPr>
          <a:xfrm>
            <a:off x="731520" y="4617720"/>
            <a:ext cx="3383280" cy="365760"/>
          </a:xfrm>
          <a:prstGeom prst="rect">
            <a:avLst/>
          </a:prstGeom>
          <a:noFill/>
        </p:spPr>
        <p:txBody>
          <a:bodyPr wrap="square">
            <a:spAutoFit/>
          </a:bodyPr>
          <a:lstStyle/>
          <a:p>
            <a:pPr algn="l"/>
            <a:r>
              <a:rPr sz="1400" b="1" i="0">
                <a:solidFill>
                  <a:srgbClr val="FFFFFF"/>
                </a:solidFill>
              </a:rPr>
              <a:t>2026年6月25日</a:t>
            </a:r>
          </a:p>
        </p:txBody>
      </p:sp>
      <p:sp>
        <p:nvSpPr>
          <p:cNvPr id="13" name="TextBox 12"/>
          <p:cNvSpPr txBox="1"/>
          <p:nvPr/>
        </p:nvSpPr>
        <p:spPr>
          <a:xfrm>
            <a:off x="4297680" y="4343400"/>
            <a:ext cx="1097280" cy="274320"/>
          </a:xfrm>
          <a:prstGeom prst="rect">
            <a:avLst/>
          </a:prstGeom>
          <a:noFill/>
        </p:spPr>
        <p:txBody>
          <a:bodyPr wrap="square">
            <a:spAutoFit/>
          </a:bodyPr>
          <a:lstStyle/>
          <a:p>
            <a:pPr algn="l"/>
            <a:r>
              <a:rPr sz="1100" b="0" i="0">
                <a:solidFill>
                  <a:srgbClr val="6A8AAA"/>
                </a:solidFill>
              </a:rPr>
              <a:t>提案先</a:t>
            </a:r>
          </a:p>
        </p:txBody>
      </p:sp>
      <p:sp>
        <p:nvSpPr>
          <p:cNvPr id="14" name="TextBox 13"/>
          <p:cNvSpPr txBox="1"/>
          <p:nvPr/>
        </p:nvSpPr>
        <p:spPr>
          <a:xfrm>
            <a:off x="4297680" y="4617720"/>
            <a:ext cx="3383280" cy="365760"/>
          </a:xfrm>
          <a:prstGeom prst="rect">
            <a:avLst/>
          </a:prstGeom>
          <a:noFill/>
        </p:spPr>
        <p:txBody>
          <a:bodyPr wrap="square">
            <a:spAutoFit/>
          </a:bodyPr>
          <a:lstStyle/>
          <a:p>
            <a:pPr algn="l"/>
            <a:r>
              <a:rPr sz="1400" b="1" i="0">
                <a:solidFill>
                  <a:srgbClr val="FFFFFF"/>
                </a:solidFill>
              </a:rPr>
              <a:t>貴社データセンター担当者様</a:t>
            </a:r>
          </a:p>
        </p:txBody>
      </p:sp>
      <p:sp>
        <p:nvSpPr>
          <p:cNvPr id="15" name="TextBox 14"/>
          <p:cNvSpPr txBox="1"/>
          <p:nvPr/>
        </p:nvSpPr>
        <p:spPr>
          <a:xfrm>
            <a:off x="7863840" y="4343400"/>
            <a:ext cx="1097280" cy="274320"/>
          </a:xfrm>
          <a:prstGeom prst="rect">
            <a:avLst/>
          </a:prstGeom>
          <a:noFill/>
        </p:spPr>
        <p:txBody>
          <a:bodyPr wrap="square">
            <a:spAutoFit/>
          </a:bodyPr>
          <a:lstStyle/>
          <a:p>
            <a:pPr algn="l"/>
            <a:r>
              <a:rPr sz="1100" b="0" i="0">
                <a:solidFill>
                  <a:srgbClr val="6A8AAA"/>
                </a:solidFill>
              </a:rPr>
              <a:t>作成者</a:t>
            </a:r>
          </a:p>
        </p:txBody>
      </p:sp>
      <p:sp>
        <p:nvSpPr>
          <p:cNvPr id="16" name="TextBox 15"/>
          <p:cNvSpPr txBox="1"/>
          <p:nvPr/>
        </p:nvSpPr>
        <p:spPr>
          <a:xfrm>
            <a:off x="7863840" y="4617720"/>
            <a:ext cx="3383280" cy="365760"/>
          </a:xfrm>
          <a:prstGeom prst="rect">
            <a:avLst/>
          </a:prstGeom>
          <a:noFill/>
        </p:spPr>
        <p:txBody>
          <a:bodyPr wrap="square">
            <a:spAutoFit/>
          </a:bodyPr>
          <a:lstStyle/>
          <a:p>
            <a:pPr algn="l"/>
            <a:r>
              <a:rPr sz="1400" b="1" i="0">
                <a:solidFill>
                  <a:srgbClr val="FFFFFF"/>
                </a:solidFill>
              </a:rPr>
              <a:t>警備営業部</a:t>
            </a:r>
          </a:p>
        </p:txBody>
      </p:sp>
      <p:sp>
        <p:nvSpPr>
          <p:cNvPr id="17" name="TextBox 16"/>
          <p:cNvSpPr txBox="1"/>
          <p:nvPr/>
        </p:nvSpPr>
        <p:spPr>
          <a:xfrm>
            <a:off x="10817352" y="6446520"/>
            <a:ext cx="1188720" cy="274320"/>
          </a:xfrm>
          <a:prstGeom prst="rect">
            <a:avLst/>
          </a:prstGeom>
          <a:noFill/>
        </p:spPr>
        <p:txBody>
          <a:bodyPr wrap="square">
            <a:spAutoFit/>
          </a:bodyPr>
          <a:lstStyle/>
          <a:p>
            <a:pPr algn="r"/>
            <a:r>
              <a:rPr sz="1100" b="0" i="0">
                <a:solidFill>
                  <a:srgbClr val="6A8AAA"/>
                </a:solidFill>
              </a:rPr>
              <a:t>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234440"/>
            <a:ext cx="73152" cy="347472"/>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43000"/>
            <a:ext cx="10789920" cy="457200"/>
          </a:xfrm>
          <a:prstGeom prst="rect">
            <a:avLst/>
          </a:prstGeom>
          <a:noFill/>
        </p:spPr>
        <p:txBody>
          <a:bodyPr wrap="square">
            <a:spAutoFit/>
          </a:bodyPr>
          <a:lstStyle/>
          <a:p>
            <a:pPr algn="l"/>
            <a:r>
              <a:rPr sz="2200" b="1" i="0">
                <a:solidFill>
                  <a:srgbClr val="FFFFFF"/>
                </a:solidFill>
              </a:rPr>
              <a:t>本日のご提案内容</a:t>
            </a:r>
          </a:p>
        </p:txBody>
      </p:sp>
      <p:sp>
        <p:nvSpPr>
          <p:cNvPr id="5" name="Rectangle 4"/>
          <p:cNvSpPr/>
          <p:nvPr/>
        </p:nvSpPr>
        <p:spPr>
          <a:xfrm>
            <a:off x="548640" y="1645920"/>
            <a:ext cx="11064240" cy="1905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5394960" cy="896112"/>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993392"/>
            <a:ext cx="457200" cy="365760"/>
          </a:xfrm>
          <a:prstGeom prst="rect">
            <a:avLst/>
          </a:prstGeom>
          <a:noFill/>
        </p:spPr>
        <p:txBody>
          <a:bodyPr wrap="square">
            <a:spAutoFit/>
          </a:bodyPr>
          <a:lstStyle/>
          <a:p>
            <a:pPr algn="l"/>
            <a:r>
              <a:rPr sz="2000" b="0" i="0">
                <a:solidFill>
                  <a:srgbClr val="FFFFFF"/>
                </a:solidFill>
              </a:rPr>
              <a:t>⚠</a:t>
            </a:r>
          </a:p>
        </p:txBody>
      </p:sp>
      <p:sp>
        <p:nvSpPr>
          <p:cNvPr id="8" name="TextBox 7"/>
          <p:cNvSpPr txBox="1"/>
          <p:nvPr/>
        </p:nvSpPr>
        <p:spPr>
          <a:xfrm>
            <a:off x="1115568" y="1993392"/>
            <a:ext cx="4572000" cy="320040"/>
          </a:xfrm>
          <a:prstGeom prst="rect">
            <a:avLst/>
          </a:prstGeom>
          <a:noFill/>
        </p:spPr>
        <p:txBody>
          <a:bodyPr wrap="square">
            <a:spAutoFit/>
          </a:bodyPr>
          <a:lstStyle/>
          <a:p>
            <a:pPr algn="l"/>
            <a:r>
              <a:rPr sz="1400" b="1" i="0">
                <a:solidFill>
                  <a:srgbClr val="00A8FF"/>
                </a:solidFill>
              </a:rPr>
              <a:t>1. 現状課題の整理</a:t>
            </a:r>
          </a:p>
        </p:txBody>
      </p:sp>
      <p:sp>
        <p:nvSpPr>
          <p:cNvPr id="9" name="TextBox 8"/>
          <p:cNvSpPr txBox="1"/>
          <p:nvPr/>
        </p:nvSpPr>
        <p:spPr>
          <a:xfrm>
            <a:off x="1115568" y="2340864"/>
            <a:ext cx="4572000" cy="256032"/>
          </a:xfrm>
          <a:prstGeom prst="rect">
            <a:avLst/>
          </a:prstGeom>
          <a:noFill/>
        </p:spPr>
        <p:txBody>
          <a:bodyPr wrap="square">
            <a:spAutoFit/>
          </a:bodyPr>
          <a:lstStyle/>
          <a:p>
            <a:pPr algn="l"/>
            <a:r>
              <a:rPr sz="1150" b="0" i="0">
                <a:solidFill>
                  <a:srgbClr val="C0D4E8"/>
                </a:solidFill>
              </a:rPr>
              <a:t>データセンター警備における通信断リスクと既存体制の脆弱性を確認します</a:t>
            </a:r>
          </a:p>
        </p:txBody>
      </p:sp>
      <p:sp>
        <p:nvSpPr>
          <p:cNvPr id="10" name="Rectangle 9"/>
          <p:cNvSpPr/>
          <p:nvPr/>
        </p:nvSpPr>
        <p:spPr>
          <a:xfrm>
            <a:off x="6080760" y="1828800"/>
            <a:ext cx="5394960" cy="896112"/>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45352" y="1993392"/>
            <a:ext cx="457200" cy="365760"/>
          </a:xfrm>
          <a:prstGeom prst="rect">
            <a:avLst/>
          </a:prstGeom>
          <a:noFill/>
        </p:spPr>
        <p:txBody>
          <a:bodyPr wrap="square">
            <a:spAutoFit/>
          </a:bodyPr>
          <a:lstStyle/>
          <a:p>
            <a:pPr algn="l"/>
            <a:r>
              <a:rPr sz="2000" b="0" i="0">
                <a:solidFill>
                  <a:srgbClr val="FFFFFF"/>
                </a:solidFill>
              </a:rPr>
              <a:t>🛰</a:t>
            </a:r>
          </a:p>
        </p:txBody>
      </p:sp>
      <p:sp>
        <p:nvSpPr>
          <p:cNvPr id="12" name="TextBox 11"/>
          <p:cNvSpPr txBox="1"/>
          <p:nvPr/>
        </p:nvSpPr>
        <p:spPr>
          <a:xfrm>
            <a:off x="6739128" y="1993392"/>
            <a:ext cx="4572000" cy="320040"/>
          </a:xfrm>
          <a:prstGeom prst="rect">
            <a:avLst/>
          </a:prstGeom>
          <a:noFill/>
        </p:spPr>
        <p:txBody>
          <a:bodyPr wrap="square">
            <a:spAutoFit/>
          </a:bodyPr>
          <a:lstStyle/>
          <a:p>
            <a:pPr algn="l"/>
            <a:r>
              <a:rPr sz="1400" b="1" i="0">
                <a:solidFill>
                  <a:srgbClr val="00A8FF"/>
                </a:solidFill>
              </a:rPr>
              <a:t>2. au Starlinkとは</a:t>
            </a:r>
          </a:p>
        </p:txBody>
      </p:sp>
      <p:sp>
        <p:nvSpPr>
          <p:cNvPr id="13" name="TextBox 12"/>
          <p:cNvSpPr txBox="1"/>
          <p:nvPr/>
        </p:nvSpPr>
        <p:spPr>
          <a:xfrm>
            <a:off x="6739128" y="2340864"/>
            <a:ext cx="4572000" cy="256032"/>
          </a:xfrm>
          <a:prstGeom prst="rect">
            <a:avLst/>
          </a:prstGeom>
          <a:noFill/>
        </p:spPr>
        <p:txBody>
          <a:bodyPr wrap="square">
            <a:spAutoFit/>
          </a:bodyPr>
          <a:lstStyle/>
          <a:p>
            <a:pPr algn="l"/>
            <a:r>
              <a:rPr sz="1150" b="0" i="0">
                <a:solidFill>
                  <a:srgbClr val="C0D4E8"/>
                </a:solidFill>
              </a:rPr>
              <a:t>低軌道衛星通信の仕組みとauサービスとしての信頼性をご説明します</a:t>
            </a:r>
          </a:p>
        </p:txBody>
      </p:sp>
      <p:sp>
        <p:nvSpPr>
          <p:cNvPr id="14" name="Rectangle 13"/>
          <p:cNvSpPr/>
          <p:nvPr/>
        </p:nvSpPr>
        <p:spPr>
          <a:xfrm>
            <a:off x="457200" y="2926080"/>
            <a:ext cx="5394960" cy="896112"/>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090672"/>
            <a:ext cx="457200" cy="365760"/>
          </a:xfrm>
          <a:prstGeom prst="rect">
            <a:avLst/>
          </a:prstGeom>
          <a:noFill/>
        </p:spPr>
        <p:txBody>
          <a:bodyPr wrap="square">
            <a:spAutoFit/>
          </a:bodyPr>
          <a:lstStyle/>
          <a:p>
            <a:pPr algn="l"/>
            <a:r>
              <a:rPr sz="2000" b="0" i="0">
                <a:solidFill>
                  <a:srgbClr val="FFFFFF"/>
                </a:solidFill>
              </a:rPr>
              <a:t>📊</a:t>
            </a:r>
          </a:p>
        </p:txBody>
      </p:sp>
      <p:sp>
        <p:nvSpPr>
          <p:cNvPr id="16" name="TextBox 15"/>
          <p:cNvSpPr txBox="1"/>
          <p:nvPr/>
        </p:nvSpPr>
        <p:spPr>
          <a:xfrm>
            <a:off x="1115568" y="3090672"/>
            <a:ext cx="4572000" cy="320040"/>
          </a:xfrm>
          <a:prstGeom prst="rect">
            <a:avLst/>
          </a:prstGeom>
          <a:noFill/>
        </p:spPr>
        <p:txBody>
          <a:bodyPr wrap="square">
            <a:spAutoFit/>
          </a:bodyPr>
          <a:lstStyle/>
          <a:p>
            <a:pPr algn="l"/>
            <a:r>
              <a:rPr sz="1400" b="1" i="0">
                <a:solidFill>
                  <a:srgbClr val="00A8FF"/>
                </a:solidFill>
              </a:rPr>
              <a:t>3. 他手段との比較</a:t>
            </a:r>
          </a:p>
        </p:txBody>
      </p:sp>
      <p:sp>
        <p:nvSpPr>
          <p:cNvPr id="17" name="TextBox 16"/>
          <p:cNvSpPr txBox="1"/>
          <p:nvPr/>
        </p:nvSpPr>
        <p:spPr>
          <a:xfrm>
            <a:off x="1115568" y="3438144"/>
            <a:ext cx="4572000" cy="256032"/>
          </a:xfrm>
          <a:prstGeom prst="rect">
            <a:avLst/>
          </a:prstGeom>
          <a:noFill/>
        </p:spPr>
        <p:txBody>
          <a:bodyPr wrap="square">
            <a:spAutoFit/>
          </a:bodyPr>
          <a:lstStyle/>
          <a:p>
            <a:pPr algn="l"/>
            <a:r>
              <a:rPr sz="1150" b="0" i="0">
                <a:solidFill>
                  <a:srgbClr val="C0D4E8"/>
                </a:solidFill>
              </a:rPr>
              <a:t>地上回線・LTE・従来衛星との比較表でStarlinkの優位性を示します</a:t>
            </a:r>
          </a:p>
        </p:txBody>
      </p:sp>
      <p:sp>
        <p:nvSpPr>
          <p:cNvPr id="18" name="Rectangle 17"/>
          <p:cNvSpPr/>
          <p:nvPr/>
        </p:nvSpPr>
        <p:spPr>
          <a:xfrm>
            <a:off x="6080760" y="2926080"/>
            <a:ext cx="5394960" cy="896112"/>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5352" y="3090672"/>
            <a:ext cx="457200" cy="365760"/>
          </a:xfrm>
          <a:prstGeom prst="rect">
            <a:avLst/>
          </a:prstGeom>
          <a:noFill/>
        </p:spPr>
        <p:txBody>
          <a:bodyPr wrap="square">
            <a:spAutoFit/>
          </a:bodyPr>
          <a:lstStyle/>
          <a:p>
            <a:pPr algn="l"/>
            <a:r>
              <a:rPr sz="2000" b="0" i="0">
                <a:solidFill>
                  <a:srgbClr val="FFFFFF"/>
                </a:solidFill>
              </a:rPr>
              <a:t>🔒</a:t>
            </a:r>
          </a:p>
        </p:txBody>
      </p:sp>
      <p:sp>
        <p:nvSpPr>
          <p:cNvPr id="20" name="TextBox 19"/>
          <p:cNvSpPr txBox="1"/>
          <p:nvPr/>
        </p:nvSpPr>
        <p:spPr>
          <a:xfrm>
            <a:off x="6739128" y="3090672"/>
            <a:ext cx="4572000" cy="320040"/>
          </a:xfrm>
          <a:prstGeom prst="rect">
            <a:avLst/>
          </a:prstGeom>
          <a:noFill/>
        </p:spPr>
        <p:txBody>
          <a:bodyPr wrap="square">
            <a:spAutoFit/>
          </a:bodyPr>
          <a:lstStyle/>
          <a:p>
            <a:pPr algn="l"/>
            <a:r>
              <a:rPr sz="1400" b="1" i="0">
                <a:solidFill>
                  <a:srgbClr val="00A8FF"/>
                </a:solidFill>
              </a:rPr>
              <a:t>4. 警備への活用提案</a:t>
            </a:r>
          </a:p>
        </p:txBody>
      </p:sp>
      <p:sp>
        <p:nvSpPr>
          <p:cNvPr id="21" name="TextBox 20"/>
          <p:cNvSpPr txBox="1"/>
          <p:nvPr/>
        </p:nvSpPr>
        <p:spPr>
          <a:xfrm>
            <a:off x="6739128" y="3438144"/>
            <a:ext cx="4572000" cy="256032"/>
          </a:xfrm>
          <a:prstGeom prst="rect">
            <a:avLst/>
          </a:prstGeom>
          <a:noFill/>
        </p:spPr>
        <p:txBody>
          <a:bodyPr wrap="square">
            <a:spAutoFit/>
          </a:bodyPr>
          <a:lstStyle/>
          <a:p>
            <a:pPr algn="l"/>
            <a:r>
              <a:rPr sz="1150" b="0" i="0">
                <a:solidFill>
                  <a:srgbClr val="C0D4E8"/>
                </a:solidFill>
              </a:rPr>
              <a:t>通信冗長化の具体的な構成と警備オペレーションへの組み込み方法をご提示します</a:t>
            </a:r>
          </a:p>
        </p:txBody>
      </p:sp>
      <p:sp>
        <p:nvSpPr>
          <p:cNvPr id="22" name="Rectangle 21"/>
          <p:cNvSpPr/>
          <p:nvPr/>
        </p:nvSpPr>
        <p:spPr>
          <a:xfrm>
            <a:off x="457200" y="4023360"/>
            <a:ext cx="5394960" cy="896112"/>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4187952"/>
            <a:ext cx="457200" cy="365760"/>
          </a:xfrm>
          <a:prstGeom prst="rect">
            <a:avLst/>
          </a:prstGeom>
          <a:noFill/>
        </p:spPr>
        <p:txBody>
          <a:bodyPr wrap="square">
            <a:spAutoFit/>
          </a:bodyPr>
          <a:lstStyle/>
          <a:p>
            <a:pPr algn="l"/>
            <a:r>
              <a:rPr sz="2000" b="0" i="0">
                <a:solidFill>
                  <a:srgbClr val="FFFFFF"/>
                </a:solidFill>
              </a:rPr>
              <a:t>📱</a:t>
            </a:r>
          </a:p>
        </p:txBody>
      </p:sp>
      <p:sp>
        <p:nvSpPr>
          <p:cNvPr id="24" name="TextBox 23"/>
          <p:cNvSpPr txBox="1"/>
          <p:nvPr/>
        </p:nvSpPr>
        <p:spPr>
          <a:xfrm>
            <a:off x="1115568" y="4187952"/>
            <a:ext cx="4572000" cy="320040"/>
          </a:xfrm>
          <a:prstGeom prst="rect">
            <a:avLst/>
          </a:prstGeom>
          <a:noFill/>
        </p:spPr>
        <p:txBody>
          <a:bodyPr wrap="square">
            <a:spAutoFit/>
          </a:bodyPr>
          <a:lstStyle/>
          <a:p>
            <a:pPr algn="l"/>
            <a:r>
              <a:rPr sz="1400" b="1" i="0">
                <a:solidFill>
                  <a:srgbClr val="00A8FF"/>
                </a:solidFill>
              </a:rPr>
              <a:t>5. スマホ警備ホットライン</a:t>
            </a:r>
          </a:p>
        </p:txBody>
      </p:sp>
      <p:sp>
        <p:nvSpPr>
          <p:cNvPr id="25" name="TextBox 24"/>
          <p:cNvSpPr txBox="1"/>
          <p:nvPr/>
        </p:nvSpPr>
        <p:spPr>
          <a:xfrm>
            <a:off x="1115568" y="4535424"/>
            <a:ext cx="4572000" cy="256032"/>
          </a:xfrm>
          <a:prstGeom prst="rect">
            <a:avLst/>
          </a:prstGeom>
          <a:noFill/>
        </p:spPr>
        <p:txBody>
          <a:bodyPr wrap="square">
            <a:spAutoFit/>
          </a:bodyPr>
          <a:lstStyle/>
          <a:p>
            <a:pPr algn="l"/>
            <a:r>
              <a:rPr sz="1150" b="0" i="0">
                <a:solidFill>
                  <a:srgbClr val="C0D4E8"/>
                </a:solidFill>
              </a:rPr>
              <a:t>au Starlink Wi-Fi経由でスマホを警備専用ホットラインとして活用します</a:t>
            </a:r>
          </a:p>
        </p:txBody>
      </p:sp>
      <p:sp>
        <p:nvSpPr>
          <p:cNvPr id="26" name="Rectangle 25"/>
          <p:cNvSpPr/>
          <p:nvPr/>
        </p:nvSpPr>
        <p:spPr>
          <a:xfrm>
            <a:off x="6080760" y="4023360"/>
            <a:ext cx="5394960" cy="896112"/>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45352" y="4187952"/>
            <a:ext cx="457200" cy="365760"/>
          </a:xfrm>
          <a:prstGeom prst="rect">
            <a:avLst/>
          </a:prstGeom>
          <a:noFill/>
        </p:spPr>
        <p:txBody>
          <a:bodyPr wrap="square">
            <a:spAutoFit/>
          </a:bodyPr>
          <a:lstStyle/>
          <a:p>
            <a:pPr algn="l"/>
            <a:r>
              <a:rPr sz="2000" b="0" i="0">
                <a:solidFill>
                  <a:srgbClr val="FFFFFF"/>
                </a:solidFill>
              </a:rPr>
              <a:t>📋</a:t>
            </a:r>
          </a:p>
        </p:txBody>
      </p:sp>
      <p:sp>
        <p:nvSpPr>
          <p:cNvPr id="28" name="TextBox 27"/>
          <p:cNvSpPr txBox="1"/>
          <p:nvPr/>
        </p:nvSpPr>
        <p:spPr>
          <a:xfrm>
            <a:off x="6739128" y="4187952"/>
            <a:ext cx="4572000" cy="320040"/>
          </a:xfrm>
          <a:prstGeom prst="rect">
            <a:avLst/>
          </a:prstGeom>
          <a:noFill/>
        </p:spPr>
        <p:txBody>
          <a:bodyPr wrap="square">
            <a:spAutoFit/>
          </a:bodyPr>
          <a:lstStyle/>
          <a:p>
            <a:pPr algn="l"/>
            <a:r>
              <a:rPr sz="1400" b="1" i="0">
                <a:solidFill>
                  <a:srgbClr val="00A8FF"/>
                </a:solidFill>
              </a:rPr>
              <a:t>6. 導入ステップ・費用感</a:t>
            </a:r>
          </a:p>
        </p:txBody>
      </p:sp>
      <p:sp>
        <p:nvSpPr>
          <p:cNvPr id="29" name="TextBox 28"/>
          <p:cNvSpPr txBox="1"/>
          <p:nvPr/>
        </p:nvSpPr>
        <p:spPr>
          <a:xfrm>
            <a:off x="6739128" y="4535424"/>
            <a:ext cx="4572000" cy="256032"/>
          </a:xfrm>
          <a:prstGeom prst="rect">
            <a:avLst/>
          </a:prstGeom>
          <a:noFill/>
        </p:spPr>
        <p:txBody>
          <a:bodyPr wrap="square">
            <a:spAutoFit/>
          </a:bodyPr>
          <a:lstStyle/>
          <a:p>
            <a:pPr algn="l"/>
            <a:r>
              <a:rPr sz="1150" b="0" i="0">
                <a:solidFill>
                  <a:srgbClr val="C0D4E8"/>
                </a:solidFill>
              </a:rPr>
              <a:t>Starlink端末はオプション追加で対応可能。スモールスタートから段階的展開まで、ロードマップと費用をご案内します</a:t>
            </a:r>
          </a:p>
        </p:txBody>
      </p:sp>
      <p:sp>
        <p:nvSpPr>
          <p:cNvPr id="30" name="Rectangle 29"/>
          <p:cNvSpPr/>
          <p:nvPr/>
        </p:nvSpPr>
        <p:spPr>
          <a:xfrm>
            <a:off x="457200" y="5120640"/>
            <a:ext cx="5394960" cy="896112"/>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5285232"/>
            <a:ext cx="457200" cy="365760"/>
          </a:xfrm>
          <a:prstGeom prst="rect">
            <a:avLst/>
          </a:prstGeom>
          <a:noFill/>
        </p:spPr>
        <p:txBody>
          <a:bodyPr wrap="square">
            <a:spAutoFit/>
          </a:bodyPr>
          <a:lstStyle/>
          <a:p>
            <a:pPr algn="l"/>
            <a:r>
              <a:rPr sz="2000" b="0" i="0">
                <a:solidFill>
                  <a:srgbClr val="FFFFFF"/>
                </a:solidFill>
              </a:rPr>
              <a:t>✅</a:t>
            </a:r>
          </a:p>
        </p:txBody>
      </p:sp>
      <p:sp>
        <p:nvSpPr>
          <p:cNvPr id="32" name="TextBox 31"/>
          <p:cNvSpPr txBox="1"/>
          <p:nvPr/>
        </p:nvSpPr>
        <p:spPr>
          <a:xfrm>
            <a:off x="1115568" y="5285232"/>
            <a:ext cx="4572000" cy="320040"/>
          </a:xfrm>
          <a:prstGeom prst="rect">
            <a:avLst/>
          </a:prstGeom>
          <a:noFill/>
        </p:spPr>
        <p:txBody>
          <a:bodyPr wrap="square">
            <a:spAutoFit/>
          </a:bodyPr>
          <a:lstStyle/>
          <a:p>
            <a:pPr algn="l"/>
            <a:r>
              <a:rPr sz="1400" b="1" i="0">
                <a:solidFill>
                  <a:srgbClr val="00A8FF"/>
                </a:solidFill>
              </a:rPr>
              <a:t>7. 導入効果</a:t>
            </a:r>
          </a:p>
        </p:txBody>
      </p:sp>
      <p:sp>
        <p:nvSpPr>
          <p:cNvPr id="33" name="TextBox 32"/>
          <p:cNvSpPr txBox="1"/>
          <p:nvPr/>
        </p:nvSpPr>
        <p:spPr>
          <a:xfrm>
            <a:off x="1115568" y="5632704"/>
            <a:ext cx="4572000" cy="256032"/>
          </a:xfrm>
          <a:prstGeom prst="rect">
            <a:avLst/>
          </a:prstGeom>
          <a:noFill/>
        </p:spPr>
        <p:txBody>
          <a:bodyPr wrap="square">
            <a:spAutoFit/>
          </a:bodyPr>
          <a:lstStyle/>
          <a:p>
            <a:pPr algn="l"/>
            <a:r>
              <a:rPr sz="1150" b="0" i="0">
                <a:solidFill>
                  <a:srgbClr val="C0D4E8"/>
                </a:solidFill>
              </a:rPr>
              <a:t>定量的な効果指標と期待されるビジネス価値をご紹介します</a:t>
            </a:r>
          </a:p>
        </p:txBody>
      </p:sp>
      <p:sp>
        <p:nvSpPr>
          <p:cNvPr id="34" name="TextBox 33"/>
          <p:cNvSpPr txBox="1"/>
          <p:nvPr/>
        </p:nvSpPr>
        <p:spPr>
          <a:xfrm>
            <a:off x="10817352" y="6446520"/>
            <a:ext cx="1188720" cy="274320"/>
          </a:xfrm>
          <a:prstGeom prst="rect">
            <a:avLst/>
          </a:prstGeom>
          <a:noFill/>
        </p:spPr>
        <p:txBody>
          <a:bodyPr wrap="square">
            <a:spAutoFit/>
          </a:bodyPr>
          <a:lstStyle/>
          <a:p>
            <a:pPr algn="r"/>
            <a:r>
              <a:rPr sz="1100" b="0" i="0">
                <a:solidFill>
                  <a:srgbClr val="6A8AAA"/>
                </a:solidFill>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234440"/>
            <a:ext cx="73152" cy="347472"/>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43000"/>
            <a:ext cx="10789920" cy="457200"/>
          </a:xfrm>
          <a:prstGeom prst="rect">
            <a:avLst/>
          </a:prstGeom>
          <a:noFill/>
        </p:spPr>
        <p:txBody>
          <a:bodyPr wrap="square">
            <a:spAutoFit/>
          </a:bodyPr>
          <a:lstStyle/>
          <a:p>
            <a:pPr algn="l"/>
            <a:r>
              <a:rPr sz="2200" b="1" i="0">
                <a:solidFill>
                  <a:srgbClr val="FFFFFF"/>
                </a:solidFill>
              </a:rPr>
              <a:t>データセンター警備が抱える「通信断」リスク</a:t>
            </a:r>
          </a:p>
        </p:txBody>
      </p:sp>
      <p:sp>
        <p:nvSpPr>
          <p:cNvPr id="5" name="Rectangle 4"/>
          <p:cNvSpPr/>
          <p:nvPr/>
        </p:nvSpPr>
        <p:spPr>
          <a:xfrm>
            <a:off x="548640" y="1645920"/>
            <a:ext cx="11064240" cy="1905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3566160" cy="141732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993392"/>
            <a:ext cx="457200" cy="365760"/>
          </a:xfrm>
          <a:prstGeom prst="rect">
            <a:avLst/>
          </a:prstGeom>
          <a:noFill/>
        </p:spPr>
        <p:txBody>
          <a:bodyPr wrap="square">
            <a:spAutoFit/>
          </a:bodyPr>
          <a:lstStyle/>
          <a:p>
            <a:pPr algn="l"/>
            <a:r>
              <a:rPr sz="2000" b="0" i="0">
                <a:solidFill>
                  <a:srgbClr val="FFFFFF"/>
                </a:solidFill>
              </a:rPr>
              <a:t>🌀</a:t>
            </a:r>
          </a:p>
        </p:txBody>
      </p:sp>
      <p:sp>
        <p:nvSpPr>
          <p:cNvPr id="8" name="TextBox 7"/>
          <p:cNvSpPr txBox="1"/>
          <p:nvPr/>
        </p:nvSpPr>
        <p:spPr>
          <a:xfrm>
            <a:off x="1115568" y="1993392"/>
            <a:ext cx="2743200" cy="320040"/>
          </a:xfrm>
          <a:prstGeom prst="rect">
            <a:avLst/>
          </a:prstGeom>
          <a:noFill/>
        </p:spPr>
        <p:txBody>
          <a:bodyPr wrap="square">
            <a:spAutoFit/>
          </a:bodyPr>
          <a:lstStyle/>
          <a:p>
            <a:pPr algn="l"/>
            <a:r>
              <a:rPr sz="1400" b="1" i="0">
                <a:solidFill>
                  <a:srgbClr val="FF6060"/>
                </a:solidFill>
              </a:rPr>
              <a:t>自然災害による通信断</a:t>
            </a:r>
          </a:p>
        </p:txBody>
      </p:sp>
      <p:sp>
        <p:nvSpPr>
          <p:cNvPr id="9" name="TextBox 8"/>
          <p:cNvSpPr txBox="1"/>
          <p:nvPr/>
        </p:nvSpPr>
        <p:spPr>
          <a:xfrm>
            <a:off x="1115568" y="2340864"/>
            <a:ext cx="2743200" cy="777240"/>
          </a:xfrm>
          <a:prstGeom prst="rect">
            <a:avLst/>
          </a:prstGeom>
          <a:noFill/>
        </p:spPr>
        <p:txBody>
          <a:bodyPr wrap="square">
            <a:spAutoFit/>
          </a:bodyPr>
          <a:lstStyle/>
          <a:p>
            <a:pPr algn="l"/>
            <a:r>
              <a:rPr sz="1150" b="0" i="0">
                <a:solidFill>
                  <a:srgbClr val="C0D4E8"/>
                </a:solidFill>
              </a:rPr>
              <a:t>地震・台風・大雨による地上回線の切断。光ファイバーの物理損傷は復旧に数日〜数週間を要する。</a:t>
            </a:r>
          </a:p>
        </p:txBody>
      </p:sp>
      <p:sp>
        <p:nvSpPr>
          <p:cNvPr id="10" name="Rectangle 9"/>
          <p:cNvSpPr/>
          <p:nvPr/>
        </p:nvSpPr>
        <p:spPr>
          <a:xfrm>
            <a:off x="4224528" y="1828800"/>
            <a:ext cx="3566160" cy="141732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0" y="1993392"/>
            <a:ext cx="457200" cy="365760"/>
          </a:xfrm>
          <a:prstGeom prst="rect">
            <a:avLst/>
          </a:prstGeom>
          <a:noFill/>
        </p:spPr>
        <p:txBody>
          <a:bodyPr wrap="square">
            <a:spAutoFit/>
          </a:bodyPr>
          <a:lstStyle/>
          <a:p>
            <a:pPr algn="l"/>
            <a:r>
              <a:rPr sz="2000" b="0" i="0">
                <a:solidFill>
                  <a:srgbClr val="FFFFFF"/>
                </a:solidFill>
              </a:rPr>
              <a:t>⚡</a:t>
            </a:r>
          </a:p>
        </p:txBody>
      </p:sp>
      <p:sp>
        <p:nvSpPr>
          <p:cNvPr id="12" name="TextBox 11"/>
          <p:cNvSpPr txBox="1"/>
          <p:nvPr/>
        </p:nvSpPr>
        <p:spPr>
          <a:xfrm>
            <a:off x="4882896" y="1993392"/>
            <a:ext cx="2743200" cy="320040"/>
          </a:xfrm>
          <a:prstGeom prst="rect">
            <a:avLst/>
          </a:prstGeom>
          <a:noFill/>
        </p:spPr>
        <p:txBody>
          <a:bodyPr wrap="square">
            <a:spAutoFit/>
          </a:bodyPr>
          <a:lstStyle/>
          <a:p>
            <a:pPr algn="l"/>
            <a:r>
              <a:rPr sz="1400" b="1" i="0">
                <a:solidFill>
                  <a:srgbClr val="FF6060"/>
                </a:solidFill>
              </a:rPr>
              <a:t>停電・設備障害</a:t>
            </a:r>
          </a:p>
        </p:txBody>
      </p:sp>
      <p:sp>
        <p:nvSpPr>
          <p:cNvPr id="13" name="TextBox 12"/>
          <p:cNvSpPr txBox="1"/>
          <p:nvPr/>
        </p:nvSpPr>
        <p:spPr>
          <a:xfrm>
            <a:off x="4882896" y="2340864"/>
            <a:ext cx="2743200" cy="777240"/>
          </a:xfrm>
          <a:prstGeom prst="rect">
            <a:avLst/>
          </a:prstGeom>
          <a:noFill/>
        </p:spPr>
        <p:txBody>
          <a:bodyPr wrap="square">
            <a:spAutoFit/>
          </a:bodyPr>
          <a:lstStyle/>
          <a:p>
            <a:pPr algn="l"/>
            <a:r>
              <a:rPr sz="1150" b="0" i="0">
                <a:solidFill>
                  <a:srgbClr val="C0D4E8"/>
                </a:solidFill>
              </a:rPr>
              <a:t>長時間停電時のUPS枯渇。通信機器の電源断により監視カメラ・センサーが失報するリスクがある。</a:t>
            </a:r>
          </a:p>
        </p:txBody>
      </p:sp>
      <p:sp>
        <p:nvSpPr>
          <p:cNvPr id="14" name="Rectangle 13"/>
          <p:cNvSpPr/>
          <p:nvPr/>
        </p:nvSpPr>
        <p:spPr>
          <a:xfrm>
            <a:off x="7991856" y="1828800"/>
            <a:ext cx="3566160" cy="141732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56448" y="1993392"/>
            <a:ext cx="457200" cy="365760"/>
          </a:xfrm>
          <a:prstGeom prst="rect">
            <a:avLst/>
          </a:prstGeom>
          <a:noFill/>
        </p:spPr>
        <p:txBody>
          <a:bodyPr wrap="square">
            <a:spAutoFit/>
          </a:bodyPr>
          <a:lstStyle/>
          <a:p>
            <a:pPr algn="l"/>
            <a:r>
              <a:rPr sz="2000" b="0" i="0">
                <a:solidFill>
                  <a:srgbClr val="FFFFFF"/>
                </a:solidFill>
              </a:rPr>
              <a:t>🔌</a:t>
            </a:r>
          </a:p>
        </p:txBody>
      </p:sp>
      <p:sp>
        <p:nvSpPr>
          <p:cNvPr id="16" name="TextBox 15"/>
          <p:cNvSpPr txBox="1"/>
          <p:nvPr/>
        </p:nvSpPr>
        <p:spPr>
          <a:xfrm>
            <a:off x="8650224" y="1993392"/>
            <a:ext cx="2743200" cy="320040"/>
          </a:xfrm>
          <a:prstGeom prst="rect">
            <a:avLst/>
          </a:prstGeom>
          <a:noFill/>
        </p:spPr>
        <p:txBody>
          <a:bodyPr wrap="square">
            <a:spAutoFit/>
          </a:bodyPr>
          <a:lstStyle/>
          <a:p>
            <a:pPr algn="l"/>
            <a:r>
              <a:rPr sz="1400" b="1" i="0">
                <a:solidFill>
                  <a:srgbClr val="FF6060"/>
                </a:solidFill>
              </a:rPr>
              <a:t>単一キャリア依存</a:t>
            </a:r>
          </a:p>
        </p:txBody>
      </p:sp>
      <p:sp>
        <p:nvSpPr>
          <p:cNvPr id="17" name="TextBox 16"/>
          <p:cNvSpPr txBox="1"/>
          <p:nvPr/>
        </p:nvSpPr>
        <p:spPr>
          <a:xfrm>
            <a:off x="8650224" y="2340864"/>
            <a:ext cx="2743200" cy="777240"/>
          </a:xfrm>
          <a:prstGeom prst="rect">
            <a:avLst/>
          </a:prstGeom>
          <a:noFill/>
        </p:spPr>
        <p:txBody>
          <a:bodyPr wrap="square">
            <a:spAutoFit/>
          </a:bodyPr>
          <a:lstStyle/>
          <a:p>
            <a:pPr algn="l"/>
            <a:r>
              <a:rPr sz="1150" b="0" i="0">
                <a:solidFill>
                  <a:srgbClr val="C0D4E8"/>
                </a:solidFill>
              </a:rPr>
              <a:t>1系統の地上回線のみでは、局舎障害・ケーブル切断で警備センターとの通信が完全孤立する。</a:t>
            </a:r>
          </a:p>
        </p:txBody>
      </p:sp>
      <p:sp>
        <p:nvSpPr>
          <p:cNvPr id="18" name="Rectangle 17"/>
          <p:cNvSpPr/>
          <p:nvPr/>
        </p:nvSpPr>
        <p:spPr>
          <a:xfrm>
            <a:off x="457200" y="3401568"/>
            <a:ext cx="11247120" cy="1298448"/>
          </a:xfrm>
          <a:prstGeom prst="rect">
            <a:avLst/>
          </a:prstGeom>
          <a:solidFill>
            <a:srgbClr val="0A1E32"/>
          </a:solidFill>
          <a:ln w="1905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538728"/>
            <a:ext cx="10881360" cy="320040"/>
          </a:xfrm>
          <a:prstGeom prst="rect">
            <a:avLst/>
          </a:prstGeom>
          <a:noFill/>
        </p:spPr>
        <p:txBody>
          <a:bodyPr wrap="square">
            <a:spAutoFit/>
          </a:bodyPr>
          <a:lstStyle/>
          <a:p>
            <a:pPr algn="l"/>
            <a:r>
              <a:rPr sz="1400" b="1" i="0">
                <a:solidFill>
                  <a:srgbClr val="00A8FF"/>
                </a:solidFill>
              </a:rPr>
              <a:t>⚡ 実際に起きた事例</a:t>
            </a:r>
          </a:p>
        </p:txBody>
      </p:sp>
      <p:sp>
        <p:nvSpPr>
          <p:cNvPr id="20" name="TextBox 19"/>
          <p:cNvSpPr txBox="1"/>
          <p:nvPr/>
        </p:nvSpPr>
        <p:spPr>
          <a:xfrm>
            <a:off x="640080" y="3858768"/>
            <a:ext cx="10881360" cy="749808"/>
          </a:xfrm>
          <a:prstGeom prst="rect">
            <a:avLst/>
          </a:prstGeom>
          <a:noFill/>
        </p:spPr>
        <p:txBody>
          <a:bodyPr wrap="square">
            <a:spAutoFit/>
          </a:bodyPr>
          <a:lstStyle/>
          <a:p>
            <a:pPr algn="l"/>
            <a:r>
              <a:rPr sz="1250" b="0" i="0">
                <a:solidFill>
                  <a:srgbClr val="C0D4E8"/>
                </a:solidFill>
              </a:rPr>
              <a:t>2024年能登半島地震では地上回線が広範囲で断絶し、最長6日間の通信不通が発生。
警備の安否確認・指示系統が機能せず、不正侵入・盗難・火災の早期検知が困難になりました。</a:t>
            </a:r>
          </a:p>
        </p:txBody>
      </p:sp>
      <p:sp>
        <p:nvSpPr>
          <p:cNvPr id="21" name="Rectangle 20"/>
          <p:cNvSpPr/>
          <p:nvPr/>
        </p:nvSpPr>
        <p:spPr>
          <a:xfrm>
            <a:off x="457200" y="4828032"/>
            <a:ext cx="3566160" cy="141732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965192"/>
            <a:ext cx="3566160" cy="548640"/>
          </a:xfrm>
          <a:prstGeom prst="rect">
            <a:avLst/>
          </a:prstGeom>
          <a:noFill/>
        </p:spPr>
        <p:txBody>
          <a:bodyPr wrap="square">
            <a:spAutoFit/>
          </a:bodyPr>
          <a:lstStyle/>
          <a:p>
            <a:pPr algn="ctr"/>
            <a:r>
              <a:rPr sz="3200" b="1" i="0">
                <a:solidFill>
                  <a:srgbClr val="00A8FF"/>
                </a:solidFill>
              </a:rPr>
              <a:t>72時間</a:t>
            </a:r>
          </a:p>
        </p:txBody>
      </p:sp>
      <p:sp>
        <p:nvSpPr>
          <p:cNvPr id="23" name="TextBox 22"/>
          <p:cNvSpPr txBox="1"/>
          <p:nvPr/>
        </p:nvSpPr>
        <p:spPr>
          <a:xfrm>
            <a:off x="457200" y="5513832"/>
            <a:ext cx="3566160" cy="502920"/>
          </a:xfrm>
          <a:prstGeom prst="rect">
            <a:avLst/>
          </a:prstGeom>
          <a:noFill/>
        </p:spPr>
        <p:txBody>
          <a:bodyPr wrap="square">
            <a:spAutoFit/>
          </a:bodyPr>
          <a:lstStyle/>
          <a:p>
            <a:pPr algn="ctr"/>
            <a:r>
              <a:rPr sz="1150" b="0" i="0">
                <a:solidFill>
                  <a:srgbClr val="6A8AAA"/>
                </a:solidFill>
              </a:rPr>
              <a:t>大規模災害時の地上回線
平均復旧待機時間</a:t>
            </a:r>
          </a:p>
        </p:txBody>
      </p:sp>
      <p:sp>
        <p:nvSpPr>
          <p:cNvPr id="24" name="Rectangle 23"/>
          <p:cNvSpPr/>
          <p:nvPr/>
        </p:nvSpPr>
        <p:spPr>
          <a:xfrm>
            <a:off x="4251960" y="4828032"/>
            <a:ext cx="3566160" cy="141732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51960" y="4965192"/>
            <a:ext cx="3566160" cy="548640"/>
          </a:xfrm>
          <a:prstGeom prst="rect">
            <a:avLst/>
          </a:prstGeom>
          <a:noFill/>
        </p:spPr>
        <p:txBody>
          <a:bodyPr wrap="square">
            <a:spAutoFit/>
          </a:bodyPr>
          <a:lstStyle/>
          <a:p>
            <a:pPr algn="ctr"/>
            <a:r>
              <a:rPr sz="3200" b="1" i="0">
                <a:solidFill>
                  <a:srgbClr val="00A8FF"/>
                </a:solidFill>
              </a:rPr>
              <a:t>約3倍</a:t>
            </a:r>
          </a:p>
        </p:txBody>
      </p:sp>
      <p:sp>
        <p:nvSpPr>
          <p:cNvPr id="26" name="TextBox 25"/>
          <p:cNvSpPr txBox="1"/>
          <p:nvPr/>
        </p:nvSpPr>
        <p:spPr>
          <a:xfrm>
            <a:off x="4251960" y="5513832"/>
            <a:ext cx="3566160" cy="502920"/>
          </a:xfrm>
          <a:prstGeom prst="rect">
            <a:avLst/>
          </a:prstGeom>
          <a:noFill/>
        </p:spPr>
        <p:txBody>
          <a:bodyPr wrap="square">
            <a:spAutoFit/>
          </a:bodyPr>
          <a:lstStyle/>
          <a:p>
            <a:pPr algn="ctr"/>
            <a:r>
              <a:rPr sz="1150" b="0" i="0">
                <a:solidFill>
                  <a:srgbClr val="6A8AAA"/>
                </a:solidFill>
              </a:rPr>
              <a:t>通信断時の不正侵入
検知遅延リスク</a:t>
            </a:r>
          </a:p>
        </p:txBody>
      </p:sp>
      <p:sp>
        <p:nvSpPr>
          <p:cNvPr id="27" name="Rectangle 26"/>
          <p:cNvSpPr/>
          <p:nvPr/>
        </p:nvSpPr>
        <p:spPr>
          <a:xfrm>
            <a:off x="8046720" y="4828032"/>
            <a:ext cx="3566160" cy="141732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046720" y="4965192"/>
            <a:ext cx="3566160" cy="548640"/>
          </a:xfrm>
          <a:prstGeom prst="rect">
            <a:avLst/>
          </a:prstGeom>
          <a:noFill/>
        </p:spPr>
        <p:txBody>
          <a:bodyPr wrap="square">
            <a:spAutoFit/>
          </a:bodyPr>
          <a:lstStyle/>
          <a:p>
            <a:pPr algn="ctr"/>
            <a:r>
              <a:rPr sz="3200" b="1" i="0">
                <a:solidFill>
                  <a:srgbClr val="00A8FF"/>
                </a:solidFill>
              </a:rPr>
              <a:t>99.9%</a:t>
            </a:r>
          </a:p>
        </p:txBody>
      </p:sp>
      <p:sp>
        <p:nvSpPr>
          <p:cNvPr id="29" name="TextBox 28"/>
          <p:cNvSpPr txBox="1"/>
          <p:nvPr/>
        </p:nvSpPr>
        <p:spPr>
          <a:xfrm>
            <a:off x="8046720" y="5513832"/>
            <a:ext cx="3566160" cy="502920"/>
          </a:xfrm>
          <a:prstGeom prst="rect">
            <a:avLst/>
          </a:prstGeom>
          <a:noFill/>
        </p:spPr>
        <p:txBody>
          <a:bodyPr wrap="square">
            <a:spAutoFit/>
          </a:bodyPr>
          <a:lstStyle/>
          <a:p>
            <a:pPr algn="ctr"/>
            <a:r>
              <a:rPr sz="1150" b="0" i="0">
                <a:solidFill>
                  <a:srgbClr val="6A8AAA"/>
                </a:solidFill>
              </a:rPr>
              <a:t>顧客が求める警備システム
稼働率（SLA水準）</a:t>
            </a:r>
          </a:p>
        </p:txBody>
      </p:sp>
      <p:sp>
        <p:nvSpPr>
          <p:cNvPr id="30" name="TextBox 29"/>
          <p:cNvSpPr txBox="1"/>
          <p:nvPr/>
        </p:nvSpPr>
        <p:spPr>
          <a:xfrm>
            <a:off x="10817352" y="6446520"/>
            <a:ext cx="1188720" cy="274320"/>
          </a:xfrm>
          <a:prstGeom prst="rect">
            <a:avLst/>
          </a:prstGeom>
          <a:noFill/>
        </p:spPr>
        <p:txBody>
          <a:bodyPr wrap="square">
            <a:spAutoFit/>
          </a:bodyPr>
          <a:lstStyle/>
          <a:p>
            <a:pPr algn="r"/>
            <a:r>
              <a:rPr sz="1100" b="0" i="0">
                <a:solidFill>
                  <a:srgbClr val="6A8AAA"/>
                </a:solidFill>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234440"/>
            <a:ext cx="73152" cy="347472"/>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43000"/>
            <a:ext cx="10789920" cy="457200"/>
          </a:xfrm>
          <a:prstGeom prst="rect">
            <a:avLst/>
          </a:prstGeom>
          <a:noFill/>
        </p:spPr>
        <p:txBody>
          <a:bodyPr wrap="square">
            <a:spAutoFit/>
          </a:bodyPr>
          <a:lstStyle/>
          <a:p>
            <a:pPr algn="l"/>
            <a:r>
              <a:rPr sz="2200" b="1" i="0">
                <a:solidFill>
                  <a:srgbClr val="FFFFFF"/>
                </a:solidFill>
              </a:rPr>
              <a:t>au Starlink とは ― 低軌道衛星通信の新時代</a:t>
            </a:r>
          </a:p>
        </p:txBody>
      </p:sp>
      <p:sp>
        <p:nvSpPr>
          <p:cNvPr id="5" name="Rectangle 4"/>
          <p:cNvSpPr/>
          <p:nvPr/>
        </p:nvSpPr>
        <p:spPr>
          <a:xfrm>
            <a:off x="548640" y="1645920"/>
            <a:ext cx="11064240" cy="1905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5303520" cy="146304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1792" y="1993392"/>
            <a:ext cx="457200" cy="365760"/>
          </a:xfrm>
          <a:prstGeom prst="rect">
            <a:avLst/>
          </a:prstGeom>
          <a:noFill/>
        </p:spPr>
        <p:txBody>
          <a:bodyPr wrap="square">
            <a:spAutoFit/>
          </a:bodyPr>
          <a:lstStyle/>
          <a:p>
            <a:pPr algn="l"/>
            <a:r>
              <a:rPr sz="2000" b="0" i="0">
                <a:solidFill>
                  <a:srgbClr val="FFFFFF"/>
                </a:solidFill>
              </a:rPr>
              <a:t>🛰</a:t>
            </a:r>
          </a:p>
        </p:txBody>
      </p:sp>
      <p:sp>
        <p:nvSpPr>
          <p:cNvPr id="8" name="TextBox 7"/>
          <p:cNvSpPr txBox="1"/>
          <p:nvPr/>
        </p:nvSpPr>
        <p:spPr>
          <a:xfrm>
            <a:off x="1115568" y="1993392"/>
            <a:ext cx="4480560" cy="320040"/>
          </a:xfrm>
          <a:prstGeom prst="rect">
            <a:avLst/>
          </a:prstGeom>
          <a:noFill/>
        </p:spPr>
        <p:txBody>
          <a:bodyPr wrap="square">
            <a:spAutoFit/>
          </a:bodyPr>
          <a:lstStyle/>
          <a:p>
            <a:pPr algn="l"/>
            <a:r>
              <a:rPr sz="1400" b="1" i="0">
                <a:solidFill>
                  <a:srgbClr val="00A8FF"/>
                </a:solidFill>
              </a:rPr>
              <a:t>SpaceX Starlink × KDDI（au）</a:t>
            </a:r>
          </a:p>
        </p:txBody>
      </p:sp>
      <p:sp>
        <p:nvSpPr>
          <p:cNvPr id="9" name="TextBox 8"/>
          <p:cNvSpPr txBox="1"/>
          <p:nvPr/>
        </p:nvSpPr>
        <p:spPr>
          <a:xfrm>
            <a:off x="1115568" y="2340864"/>
            <a:ext cx="4480560" cy="822960"/>
          </a:xfrm>
          <a:prstGeom prst="rect">
            <a:avLst/>
          </a:prstGeom>
          <a:noFill/>
        </p:spPr>
        <p:txBody>
          <a:bodyPr wrap="square">
            <a:spAutoFit/>
          </a:bodyPr>
          <a:lstStyle/>
          <a:p>
            <a:pPr algn="l"/>
            <a:r>
              <a:rPr sz="1200" b="0" i="0">
                <a:solidFill>
                  <a:srgbClr val="C0D4E8"/>
                </a:solidFill>
              </a:rPr>
              <a:t>SpaceXが展開する低軌道（LEO）衛星（高度約550km）をKDDI（au）が日本向け法人サービスとして提供。地上インフラに依存しない独立した通信経路を実現します。</a:t>
            </a:r>
          </a:p>
        </p:txBody>
      </p:sp>
      <p:sp>
        <p:nvSpPr>
          <p:cNvPr id="10" name="Rectangle 9"/>
          <p:cNvSpPr/>
          <p:nvPr/>
        </p:nvSpPr>
        <p:spPr>
          <a:xfrm>
            <a:off x="457200" y="3429000"/>
            <a:ext cx="5303520" cy="169164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3593592"/>
            <a:ext cx="457200" cy="365760"/>
          </a:xfrm>
          <a:prstGeom prst="rect">
            <a:avLst/>
          </a:prstGeom>
          <a:noFill/>
        </p:spPr>
        <p:txBody>
          <a:bodyPr wrap="square">
            <a:spAutoFit/>
          </a:bodyPr>
          <a:lstStyle/>
          <a:p>
            <a:pPr algn="l"/>
            <a:r>
              <a:rPr sz="2000" b="0" i="0">
                <a:solidFill>
                  <a:srgbClr val="FFFFFF"/>
                </a:solidFill>
              </a:rPr>
              <a:t>📡</a:t>
            </a:r>
          </a:p>
        </p:txBody>
      </p:sp>
      <p:sp>
        <p:nvSpPr>
          <p:cNvPr id="12" name="TextBox 11"/>
          <p:cNvSpPr txBox="1"/>
          <p:nvPr/>
        </p:nvSpPr>
        <p:spPr>
          <a:xfrm>
            <a:off x="1115568" y="3593592"/>
            <a:ext cx="4480560" cy="320040"/>
          </a:xfrm>
          <a:prstGeom prst="rect">
            <a:avLst/>
          </a:prstGeom>
          <a:noFill/>
        </p:spPr>
        <p:txBody>
          <a:bodyPr wrap="square">
            <a:spAutoFit/>
          </a:bodyPr>
          <a:lstStyle/>
          <a:p>
            <a:pPr algn="l"/>
            <a:r>
              <a:rPr sz="1400" b="1" i="0">
                <a:solidFill>
                  <a:srgbClr val="00A8FF"/>
                </a:solidFill>
              </a:rPr>
              <a:t>法人向けサービスの特長</a:t>
            </a:r>
          </a:p>
        </p:txBody>
      </p:sp>
      <p:sp>
        <p:nvSpPr>
          <p:cNvPr id="13" name="TextBox 12"/>
          <p:cNvSpPr txBox="1"/>
          <p:nvPr/>
        </p:nvSpPr>
        <p:spPr>
          <a:xfrm>
            <a:off x="1115568" y="3941064"/>
            <a:ext cx="4480560" cy="1051560"/>
          </a:xfrm>
          <a:prstGeom prst="rect">
            <a:avLst/>
          </a:prstGeom>
          <a:noFill/>
        </p:spPr>
        <p:txBody>
          <a:bodyPr wrap="square">
            <a:spAutoFit/>
          </a:bodyPr>
          <a:lstStyle/>
          <a:p>
            <a:pPr algn="l"/>
            <a:r>
              <a:rPr sz="1200" b="0" i="0">
                <a:solidFill>
                  <a:srgbClr val="C0D4E8"/>
                </a:solidFill>
              </a:rPr>
              <a:t>・KDDIの法人サポート体制（SLA保証）
・既存auモバイル回線とのセット割
・導入・保守の一元窓口
・暗号化通信によるセキュリティ対応</a:t>
            </a:r>
          </a:p>
        </p:txBody>
      </p:sp>
      <p:sp>
        <p:nvSpPr>
          <p:cNvPr id="14" name="Rectangle 13"/>
          <p:cNvSpPr/>
          <p:nvPr/>
        </p:nvSpPr>
        <p:spPr>
          <a:xfrm>
            <a:off x="6035040" y="1828800"/>
            <a:ext cx="5669280" cy="466344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1920240"/>
            <a:ext cx="5303520" cy="274320"/>
          </a:xfrm>
          <a:prstGeom prst="rect">
            <a:avLst/>
          </a:prstGeom>
          <a:noFill/>
        </p:spPr>
        <p:txBody>
          <a:bodyPr wrap="square">
            <a:spAutoFit/>
          </a:bodyPr>
          <a:lstStyle/>
          <a:p>
            <a:pPr algn="ctr"/>
            <a:r>
              <a:rPr sz="1100" b="0" i="0">
                <a:solidFill>
                  <a:srgbClr val="6A8AAA"/>
                </a:solidFill>
              </a:rPr>
              <a:t>通信経路イメージ</a:t>
            </a:r>
          </a:p>
        </p:txBody>
      </p:sp>
      <p:sp>
        <p:nvSpPr>
          <p:cNvPr id="16" name="Rectangle 15"/>
          <p:cNvSpPr/>
          <p:nvPr/>
        </p:nvSpPr>
        <p:spPr>
          <a:xfrm>
            <a:off x="7818120" y="2286000"/>
            <a:ext cx="2103120" cy="365760"/>
          </a:xfrm>
          <a:prstGeom prst="rect">
            <a:avLst/>
          </a:prstGeom>
          <a:solidFill>
            <a:srgbClr val="0A1A2E"/>
          </a:solidFill>
          <a:ln w="1524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18120" y="2286000"/>
            <a:ext cx="2103120" cy="365760"/>
          </a:xfrm>
          <a:prstGeom prst="rect">
            <a:avLst/>
          </a:prstGeom>
          <a:noFill/>
        </p:spPr>
        <p:txBody>
          <a:bodyPr wrap="square">
            <a:spAutoFit/>
          </a:bodyPr>
          <a:lstStyle/>
          <a:p>
            <a:pPr algn="ctr"/>
            <a:r>
              <a:rPr sz="1200" b="1" i="0">
                <a:solidFill>
                  <a:srgbClr val="00A8FF"/>
                </a:solidFill>
              </a:rPr>
              <a:t>🏢 データセンター（警備LAN）</a:t>
            </a:r>
          </a:p>
        </p:txBody>
      </p:sp>
      <p:sp>
        <p:nvSpPr>
          <p:cNvPr id="18" name="TextBox 17"/>
          <p:cNvSpPr txBox="1"/>
          <p:nvPr/>
        </p:nvSpPr>
        <p:spPr>
          <a:xfrm>
            <a:off x="6035040" y="2624328"/>
            <a:ext cx="5669280" cy="182880"/>
          </a:xfrm>
          <a:prstGeom prst="rect">
            <a:avLst/>
          </a:prstGeom>
          <a:noFill/>
        </p:spPr>
        <p:txBody>
          <a:bodyPr wrap="square">
            <a:spAutoFit/>
          </a:bodyPr>
          <a:lstStyle/>
          <a:p>
            <a:pPr algn="ctr"/>
            <a:r>
              <a:rPr sz="1000" b="0" i="0">
                <a:solidFill>
                  <a:srgbClr val="6A8AAA"/>
                </a:solidFill>
              </a:rPr>
              <a:t>↕ 自動切替対応</a:t>
            </a:r>
          </a:p>
        </p:txBody>
      </p:sp>
      <p:sp>
        <p:nvSpPr>
          <p:cNvPr id="19" name="Rectangle 18"/>
          <p:cNvSpPr/>
          <p:nvPr/>
        </p:nvSpPr>
        <p:spPr>
          <a:xfrm>
            <a:off x="7818120" y="2761488"/>
            <a:ext cx="2103120" cy="365760"/>
          </a:xfrm>
          <a:prstGeom prst="rect">
            <a:avLst/>
          </a:prstGeom>
          <a:solidFill>
            <a:srgbClr val="0A1A2E"/>
          </a:solidFill>
          <a:ln w="1524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18120" y="2761488"/>
            <a:ext cx="2103120" cy="365760"/>
          </a:xfrm>
          <a:prstGeom prst="rect">
            <a:avLst/>
          </a:prstGeom>
          <a:noFill/>
        </p:spPr>
        <p:txBody>
          <a:bodyPr wrap="square">
            <a:spAutoFit/>
          </a:bodyPr>
          <a:lstStyle/>
          <a:p>
            <a:pPr algn="ctr"/>
            <a:r>
              <a:rPr sz="1200" b="1" i="0">
                <a:solidFill>
                  <a:srgbClr val="00A8FF"/>
                </a:solidFill>
              </a:rPr>
              <a:t>📡 Starlinkアンテナ（au提供）</a:t>
            </a:r>
          </a:p>
        </p:txBody>
      </p:sp>
      <p:sp>
        <p:nvSpPr>
          <p:cNvPr id="21" name="TextBox 20"/>
          <p:cNvSpPr txBox="1"/>
          <p:nvPr/>
        </p:nvSpPr>
        <p:spPr>
          <a:xfrm>
            <a:off x="6035040" y="3099816"/>
            <a:ext cx="5669280" cy="182880"/>
          </a:xfrm>
          <a:prstGeom prst="rect">
            <a:avLst/>
          </a:prstGeom>
          <a:noFill/>
        </p:spPr>
        <p:txBody>
          <a:bodyPr wrap="square">
            <a:spAutoFit/>
          </a:bodyPr>
          <a:lstStyle/>
          <a:p>
            <a:pPr algn="ctr"/>
            <a:r>
              <a:rPr sz="1000" b="0" i="0">
                <a:solidFill>
                  <a:srgbClr val="6A8AAA"/>
                </a:solidFill>
              </a:rPr>
              <a:t>↕ 自動切替対応</a:t>
            </a:r>
          </a:p>
        </p:txBody>
      </p:sp>
      <p:sp>
        <p:nvSpPr>
          <p:cNvPr id="22" name="Rectangle 21"/>
          <p:cNvSpPr/>
          <p:nvPr/>
        </p:nvSpPr>
        <p:spPr>
          <a:xfrm>
            <a:off x="7726680" y="3236976"/>
            <a:ext cx="2286000" cy="365760"/>
          </a:xfrm>
          <a:prstGeom prst="rect">
            <a:avLst/>
          </a:prstGeom>
          <a:solidFill>
            <a:srgbClr val="0A1A2E"/>
          </a:solidFill>
          <a:ln w="1524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26680" y="3236976"/>
            <a:ext cx="2286000" cy="365760"/>
          </a:xfrm>
          <a:prstGeom prst="rect">
            <a:avLst/>
          </a:prstGeom>
          <a:noFill/>
        </p:spPr>
        <p:txBody>
          <a:bodyPr wrap="square">
            <a:spAutoFit/>
          </a:bodyPr>
          <a:lstStyle/>
          <a:p>
            <a:pPr algn="ctr"/>
            <a:r>
              <a:rPr sz="1200" b="1" i="0">
                <a:solidFill>
                  <a:srgbClr val="00A8FF"/>
                </a:solidFill>
              </a:rPr>
              <a:t>🛰  Starlink衛星群（高度550km LEO）</a:t>
            </a:r>
          </a:p>
        </p:txBody>
      </p:sp>
      <p:sp>
        <p:nvSpPr>
          <p:cNvPr id="24" name="TextBox 23"/>
          <p:cNvSpPr txBox="1"/>
          <p:nvPr/>
        </p:nvSpPr>
        <p:spPr>
          <a:xfrm>
            <a:off x="6035040" y="3575304"/>
            <a:ext cx="5669280" cy="182880"/>
          </a:xfrm>
          <a:prstGeom prst="rect">
            <a:avLst/>
          </a:prstGeom>
          <a:noFill/>
        </p:spPr>
        <p:txBody>
          <a:bodyPr wrap="square">
            <a:spAutoFit/>
          </a:bodyPr>
          <a:lstStyle/>
          <a:p>
            <a:pPr algn="ctr"/>
            <a:r>
              <a:rPr sz="1000" b="0" i="0">
                <a:solidFill>
                  <a:srgbClr val="6A8AAA"/>
                </a:solidFill>
              </a:rPr>
              <a:t>↕ 自動切替対応</a:t>
            </a:r>
          </a:p>
        </p:txBody>
      </p:sp>
      <p:sp>
        <p:nvSpPr>
          <p:cNvPr id="25" name="Rectangle 24"/>
          <p:cNvSpPr/>
          <p:nvPr/>
        </p:nvSpPr>
        <p:spPr>
          <a:xfrm>
            <a:off x="7726680" y="3712464"/>
            <a:ext cx="2286000" cy="365760"/>
          </a:xfrm>
          <a:prstGeom prst="rect">
            <a:avLst/>
          </a:prstGeom>
          <a:solidFill>
            <a:srgbClr val="0A1A2E"/>
          </a:solidFill>
          <a:ln w="1524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26680" y="3712464"/>
            <a:ext cx="2286000" cy="365760"/>
          </a:xfrm>
          <a:prstGeom prst="rect">
            <a:avLst/>
          </a:prstGeom>
          <a:noFill/>
        </p:spPr>
        <p:txBody>
          <a:bodyPr wrap="square">
            <a:spAutoFit/>
          </a:bodyPr>
          <a:lstStyle/>
          <a:p>
            <a:pPr algn="ctr"/>
            <a:r>
              <a:rPr sz="1200" b="1" i="0">
                <a:solidFill>
                  <a:srgbClr val="00D4AA"/>
                </a:solidFill>
              </a:rPr>
              <a:t>🖥  auゲートウェイ（KDDI地上局）</a:t>
            </a:r>
          </a:p>
        </p:txBody>
      </p:sp>
      <p:sp>
        <p:nvSpPr>
          <p:cNvPr id="27" name="TextBox 26"/>
          <p:cNvSpPr txBox="1"/>
          <p:nvPr/>
        </p:nvSpPr>
        <p:spPr>
          <a:xfrm>
            <a:off x="6035040" y="4050792"/>
            <a:ext cx="5669280" cy="182880"/>
          </a:xfrm>
          <a:prstGeom prst="rect">
            <a:avLst/>
          </a:prstGeom>
          <a:noFill/>
        </p:spPr>
        <p:txBody>
          <a:bodyPr wrap="square">
            <a:spAutoFit/>
          </a:bodyPr>
          <a:lstStyle/>
          <a:p>
            <a:pPr algn="ctr"/>
            <a:r>
              <a:rPr sz="1000" b="0" i="0">
                <a:solidFill>
                  <a:srgbClr val="6A8AAA"/>
                </a:solidFill>
              </a:rPr>
              <a:t>↕ 自動切替対応</a:t>
            </a:r>
          </a:p>
        </p:txBody>
      </p:sp>
      <p:sp>
        <p:nvSpPr>
          <p:cNvPr id="28" name="Rectangle 27"/>
          <p:cNvSpPr/>
          <p:nvPr/>
        </p:nvSpPr>
        <p:spPr>
          <a:xfrm>
            <a:off x="7818120" y="4187952"/>
            <a:ext cx="2103120" cy="365760"/>
          </a:xfrm>
          <a:prstGeom prst="rect">
            <a:avLst/>
          </a:prstGeom>
          <a:solidFill>
            <a:srgbClr val="0A1A2E"/>
          </a:solidFill>
          <a:ln w="1524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18120" y="4187952"/>
            <a:ext cx="2103120" cy="365760"/>
          </a:xfrm>
          <a:prstGeom prst="rect">
            <a:avLst/>
          </a:prstGeom>
          <a:noFill/>
        </p:spPr>
        <p:txBody>
          <a:bodyPr wrap="square">
            <a:spAutoFit/>
          </a:bodyPr>
          <a:lstStyle/>
          <a:p>
            <a:pPr algn="ctr"/>
            <a:r>
              <a:rPr sz="1200" b="1" i="0">
                <a:solidFill>
                  <a:srgbClr val="00D4AA"/>
                </a:solidFill>
              </a:rPr>
              <a:t>🔒 警備センター（24H監視）</a:t>
            </a:r>
          </a:p>
        </p:txBody>
      </p:sp>
      <p:sp>
        <p:nvSpPr>
          <p:cNvPr id="30" name="TextBox 29"/>
          <p:cNvSpPr txBox="1"/>
          <p:nvPr/>
        </p:nvSpPr>
        <p:spPr>
          <a:xfrm>
            <a:off x="6035040" y="4526280"/>
            <a:ext cx="5669280" cy="182880"/>
          </a:xfrm>
          <a:prstGeom prst="rect">
            <a:avLst/>
          </a:prstGeom>
          <a:noFill/>
        </p:spPr>
        <p:txBody>
          <a:bodyPr wrap="square">
            <a:spAutoFit/>
          </a:bodyPr>
          <a:lstStyle/>
          <a:p>
            <a:pPr algn="ctr"/>
            <a:r>
              <a:rPr sz="1000" b="0" i="0">
                <a:solidFill>
                  <a:srgbClr val="6A8AAA"/>
                </a:solidFill>
              </a:rPr>
              <a:t>↕ 自動切替対応</a:t>
            </a:r>
          </a:p>
        </p:txBody>
      </p:sp>
      <p:sp>
        <p:nvSpPr>
          <p:cNvPr id="31" name="Rectangle 30"/>
          <p:cNvSpPr/>
          <p:nvPr/>
        </p:nvSpPr>
        <p:spPr>
          <a:xfrm>
            <a:off x="457200" y="5212080"/>
            <a:ext cx="1737360" cy="100584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349240"/>
            <a:ext cx="1737360" cy="548640"/>
          </a:xfrm>
          <a:prstGeom prst="rect">
            <a:avLst/>
          </a:prstGeom>
          <a:noFill/>
        </p:spPr>
        <p:txBody>
          <a:bodyPr wrap="square">
            <a:spAutoFit/>
          </a:bodyPr>
          <a:lstStyle/>
          <a:p>
            <a:pPr algn="ctr"/>
            <a:r>
              <a:rPr sz="3200" b="1" i="0">
                <a:solidFill>
                  <a:srgbClr val="00A8FF"/>
                </a:solidFill>
              </a:rPr>
              <a:t>20〜100 Mbps</a:t>
            </a:r>
          </a:p>
        </p:txBody>
      </p:sp>
      <p:sp>
        <p:nvSpPr>
          <p:cNvPr id="33" name="TextBox 32"/>
          <p:cNvSpPr txBox="1"/>
          <p:nvPr/>
        </p:nvSpPr>
        <p:spPr>
          <a:xfrm>
            <a:off x="457200" y="5897880"/>
            <a:ext cx="1737360" cy="502920"/>
          </a:xfrm>
          <a:prstGeom prst="rect">
            <a:avLst/>
          </a:prstGeom>
          <a:noFill/>
        </p:spPr>
        <p:txBody>
          <a:bodyPr wrap="square">
            <a:spAutoFit/>
          </a:bodyPr>
          <a:lstStyle/>
          <a:p>
            <a:pPr algn="ctr"/>
            <a:r>
              <a:rPr sz="1150" b="0" i="0">
                <a:solidFill>
                  <a:srgbClr val="6A8AAA"/>
                </a:solidFill>
              </a:rPr>
              <a:t>下り通信速度</a:t>
            </a:r>
          </a:p>
        </p:txBody>
      </p:sp>
      <p:sp>
        <p:nvSpPr>
          <p:cNvPr id="34" name="Rectangle 33"/>
          <p:cNvSpPr/>
          <p:nvPr/>
        </p:nvSpPr>
        <p:spPr>
          <a:xfrm>
            <a:off x="2331719" y="5212080"/>
            <a:ext cx="1737360" cy="100584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31719" y="5349240"/>
            <a:ext cx="1737360" cy="548640"/>
          </a:xfrm>
          <a:prstGeom prst="rect">
            <a:avLst/>
          </a:prstGeom>
          <a:noFill/>
        </p:spPr>
        <p:txBody>
          <a:bodyPr wrap="square">
            <a:spAutoFit/>
          </a:bodyPr>
          <a:lstStyle/>
          <a:p>
            <a:pPr algn="ctr"/>
            <a:r>
              <a:rPr sz="3200" b="1" i="0">
                <a:solidFill>
                  <a:srgbClr val="00A8FF"/>
                </a:solidFill>
              </a:rPr>
              <a:t>20〜40 ms</a:t>
            </a:r>
          </a:p>
        </p:txBody>
      </p:sp>
      <p:sp>
        <p:nvSpPr>
          <p:cNvPr id="36" name="TextBox 35"/>
          <p:cNvSpPr txBox="1"/>
          <p:nvPr/>
        </p:nvSpPr>
        <p:spPr>
          <a:xfrm>
            <a:off x="2331719" y="5897880"/>
            <a:ext cx="1737360" cy="502920"/>
          </a:xfrm>
          <a:prstGeom prst="rect">
            <a:avLst/>
          </a:prstGeom>
          <a:noFill/>
        </p:spPr>
        <p:txBody>
          <a:bodyPr wrap="square">
            <a:spAutoFit/>
          </a:bodyPr>
          <a:lstStyle/>
          <a:p>
            <a:pPr algn="ctr"/>
            <a:r>
              <a:rPr sz="1150" b="0" i="0">
                <a:solidFill>
                  <a:srgbClr val="6A8AAA"/>
                </a:solidFill>
              </a:rPr>
              <a:t>低遅延（LEO）</a:t>
            </a:r>
          </a:p>
        </p:txBody>
      </p:sp>
      <p:sp>
        <p:nvSpPr>
          <p:cNvPr id="37" name="Rectangle 36"/>
          <p:cNvSpPr/>
          <p:nvPr/>
        </p:nvSpPr>
        <p:spPr>
          <a:xfrm>
            <a:off x="4206238" y="5212080"/>
            <a:ext cx="1737360" cy="100584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06238" y="5349240"/>
            <a:ext cx="1737360" cy="548640"/>
          </a:xfrm>
          <a:prstGeom prst="rect">
            <a:avLst/>
          </a:prstGeom>
          <a:noFill/>
        </p:spPr>
        <p:txBody>
          <a:bodyPr wrap="square">
            <a:spAutoFit/>
          </a:bodyPr>
          <a:lstStyle/>
          <a:p>
            <a:pPr algn="ctr"/>
            <a:r>
              <a:rPr sz="3200" b="1" i="0">
                <a:solidFill>
                  <a:srgbClr val="00A8FF"/>
                </a:solidFill>
              </a:rPr>
              <a:t>99%+</a:t>
            </a:r>
          </a:p>
        </p:txBody>
      </p:sp>
      <p:sp>
        <p:nvSpPr>
          <p:cNvPr id="39" name="TextBox 38"/>
          <p:cNvSpPr txBox="1"/>
          <p:nvPr/>
        </p:nvSpPr>
        <p:spPr>
          <a:xfrm>
            <a:off x="4206238" y="5897880"/>
            <a:ext cx="1737360" cy="502920"/>
          </a:xfrm>
          <a:prstGeom prst="rect">
            <a:avLst/>
          </a:prstGeom>
          <a:noFill/>
        </p:spPr>
        <p:txBody>
          <a:bodyPr wrap="square">
            <a:spAutoFit/>
          </a:bodyPr>
          <a:lstStyle/>
          <a:p>
            <a:pPr algn="ctr"/>
            <a:r>
              <a:rPr sz="1150" b="0" i="0">
                <a:solidFill>
                  <a:srgbClr val="6A8AAA"/>
                </a:solidFill>
              </a:rPr>
              <a:t>au法人SLA可用性</a:t>
            </a:r>
          </a:p>
        </p:txBody>
      </p:sp>
      <p:sp>
        <p:nvSpPr>
          <p:cNvPr id="40" name="TextBox 39"/>
          <p:cNvSpPr txBox="1"/>
          <p:nvPr/>
        </p:nvSpPr>
        <p:spPr>
          <a:xfrm>
            <a:off x="10817352" y="6446520"/>
            <a:ext cx="1188720" cy="274320"/>
          </a:xfrm>
          <a:prstGeom prst="rect">
            <a:avLst/>
          </a:prstGeom>
          <a:noFill/>
        </p:spPr>
        <p:txBody>
          <a:bodyPr wrap="square">
            <a:spAutoFit/>
          </a:bodyPr>
          <a:lstStyle/>
          <a:p>
            <a:pPr algn="r"/>
            <a:r>
              <a:rPr sz="1100" b="0" i="0">
                <a:solidFill>
                  <a:srgbClr val="6A8AAA"/>
                </a:solidFill>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234440"/>
            <a:ext cx="73152" cy="347472"/>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43000"/>
            <a:ext cx="10789920" cy="457200"/>
          </a:xfrm>
          <a:prstGeom prst="rect">
            <a:avLst/>
          </a:prstGeom>
          <a:noFill/>
        </p:spPr>
        <p:txBody>
          <a:bodyPr wrap="square">
            <a:spAutoFit/>
          </a:bodyPr>
          <a:lstStyle/>
          <a:p>
            <a:pPr algn="l"/>
            <a:r>
              <a:rPr sz="2200" b="1" i="0">
                <a:solidFill>
                  <a:srgbClr val="FFFFFF"/>
                </a:solidFill>
              </a:rPr>
              <a:t>通信手段の比較 ― なぜ au Starlink が最適解か</a:t>
            </a:r>
          </a:p>
        </p:txBody>
      </p:sp>
      <p:sp>
        <p:nvSpPr>
          <p:cNvPr id="5" name="Rectangle 4"/>
          <p:cNvSpPr/>
          <p:nvPr/>
        </p:nvSpPr>
        <p:spPr>
          <a:xfrm>
            <a:off x="548640" y="1645920"/>
            <a:ext cx="11064240" cy="1905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828800"/>
            <a:ext cx="2560320" cy="475488"/>
          </a:xfrm>
          <a:prstGeom prst="rect">
            <a:avLst/>
          </a:prstGeom>
          <a:solidFill>
            <a:srgbClr val="05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883664"/>
            <a:ext cx="2468880" cy="384048"/>
          </a:xfrm>
          <a:prstGeom prst="rect">
            <a:avLst/>
          </a:prstGeom>
          <a:noFill/>
        </p:spPr>
        <p:txBody>
          <a:bodyPr wrap="square">
            <a:spAutoFit/>
          </a:bodyPr>
          <a:lstStyle/>
          <a:p>
            <a:pPr algn="ctr"/>
            <a:r>
              <a:rPr sz="1150" b="1" i="0">
                <a:solidFill>
                  <a:srgbClr val="00A8FF"/>
                </a:solidFill>
              </a:rPr>
              <a:t>比較項目</a:t>
            </a:r>
          </a:p>
        </p:txBody>
      </p:sp>
      <p:sp>
        <p:nvSpPr>
          <p:cNvPr id="8" name="Rectangle 7"/>
          <p:cNvSpPr/>
          <p:nvPr/>
        </p:nvSpPr>
        <p:spPr>
          <a:xfrm>
            <a:off x="2926080" y="1828800"/>
            <a:ext cx="2011680" cy="475488"/>
          </a:xfrm>
          <a:prstGeom prst="rect">
            <a:avLst/>
          </a:prstGeom>
          <a:solidFill>
            <a:srgbClr val="05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1800" y="1883664"/>
            <a:ext cx="1920240" cy="384048"/>
          </a:xfrm>
          <a:prstGeom prst="rect">
            <a:avLst/>
          </a:prstGeom>
          <a:noFill/>
        </p:spPr>
        <p:txBody>
          <a:bodyPr wrap="square">
            <a:spAutoFit/>
          </a:bodyPr>
          <a:lstStyle/>
          <a:p>
            <a:pPr algn="ctr"/>
            <a:r>
              <a:rPr sz="1150" b="1" i="0">
                <a:solidFill>
                  <a:srgbClr val="00A8FF"/>
                </a:solidFill>
              </a:rPr>
              <a:t>地上光回線
（現状）</a:t>
            </a:r>
          </a:p>
        </p:txBody>
      </p:sp>
      <p:sp>
        <p:nvSpPr>
          <p:cNvPr id="10" name="Rectangle 9"/>
          <p:cNvSpPr/>
          <p:nvPr/>
        </p:nvSpPr>
        <p:spPr>
          <a:xfrm>
            <a:off x="4937760" y="1828800"/>
            <a:ext cx="2011680" cy="475488"/>
          </a:xfrm>
          <a:prstGeom prst="rect">
            <a:avLst/>
          </a:prstGeom>
          <a:solidFill>
            <a:srgbClr val="05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1883664"/>
            <a:ext cx="1920240" cy="384048"/>
          </a:xfrm>
          <a:prstGeom prst="rect">
            <a:avLst/>
          </a:prstGeom>
          <a:noFill/>
        </p:spPr>
        <p:txBody>
          <a:bodyPr wrap="square">
            <a:spAutoFit/>
          </a:bodyPr>
          <a:lstStyle/>
          <a:p>
            <a:pPr algn="ctr"/>
            <a:r>
              <a:rPr sz="1150" b="1" i="0">
                <a:solidFill>
                  <a:srgbClr val="00A8FF"/>
                </a:solidFill>
              </a:rPr>
              <a:t>携帯LTE/5G
（モバイル）</a:t>
            </a:r>
          </a:p>
        </p:txBody>
      </p:sp>
      <p:sp>
        <p:nvSpPr>
          <p:cNvPr id="12" name="Rectangle 11"/>
          <p:cNvSpPr/>
          <p:nvPr/>
        </p:nvSpPr>
        <p:spPr>
          <a:xfrm>
            <a:off x="6949440" y="1828800"/>
            <a:ext cx="2011680" cy="475488"/>
          </a:xfrm>
          <a:prstGeom prst="rect">
            <a:avLst/>
          </a:prstGeom>
          <a:solidFill>
            <a:srgbClr val="05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1883664"/>
            <a:ext cx="1920240" cy="384048"/>
          </a:xfrm>
          <a:prstGeom prst="rect">
            <a:avLst/>
          </a:prstGeom>
          <a:noFill/>
        </p:spPr>
        <p:txBody>
          <a:bodyPr wrap="square">
            <a:spAutoFit/>
          </a:bodyPr>
          <a:lstStyle/>
          <a:p>
            <a:pPr algn="ctr"/>
            <a:r>
              <a:rPr sz="1150" b="1" i="0">
                <a:solidFill>
                  <a:srgbClr val="00A8FF"/>
                </a:solidFill>
              </a:rPr>
              <a:t>従来衛星通信
（静止軌道）</a:t>
            </a:r>
          </a:p>
        </p:txBody>
      </p:sp>
      <p:sp>
        <p:nvSpPr>
          <p:cNvPr id="14" name="Rectangle 13"/>
          <p:cNvSpPr/>
          <p:nvPr/>
        </p:nvSpPr>
        <p:spPr>
          <a:xfrm>
            <a:off x="8961120" y="1828800"/>
            <a:ext cx="2011680" cy="475488"/>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06840" y="1883664"/>
            <a:ext cx="1920240" cy="384048"/>
          </a:xfrm>
          <a:prstGeom prst="rect">
            <a:avLst/>
          </a:prstGeom>
          <a:noFill/>
        </p:spPr>
        <p:txBody>
          <a:bodyPr wrap="square">
            <a:spAutoFit/>
          </a:bodyPr>
          <a:lstStyle/>
          <a:p>
            <a:pPr algn="ctr"/>
            <a:r>
              <a:rPr sz="1150" b="1" i="0">
                <a:solidFill>
                  <a:srgbClr val="0A0E1A"/>
                </a:solidFill>
              </a:rPr>
              <a:t>au Starlink
（提案）</a:t>
            </a:r>
          </a:p>
        </p:txBody>
      </p:sp>
      <p:sp>
        <p:nvSpPr>
          <p:cNvPr id="16" name="Rectangle 15"/>
          <p:cNvSpPr/>
          <p:nvPr/>
        </p:nvSpPr>
        <p:spPr>
          <a:xfrm>
            <a:off x="365760" y="2304288"/>
            <a:ext cx="2560320" cy="475488"/>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2377440"/>
            <a:ext cx="2468880" cy="347472"/>
          </a:xfrm>
          <a:prstGeom prst="rect">
            <a:avLst/>
          </a:prstGeom>
          <a:noFill/>
        </p:spPr>
        <p:txBody>
          <a:bodyPr wrap="square">
            <a:spAutoFit/>
          </a:bodyPr>
          <a:lstStyle/>
          <a:p>
            <a:pPr algn="ctr"/>
            <a:r>
              <a:rPr sz="1100" b="0" i="0">
                <a:solidFill>
                  <a:srgbClr val="FFFFFF"/>
                </a:solidFill>
              </a:rPr>
              <a:t>地震・台風時の耐障害性</a:t>
            </a:r>
          </a:p>
        </p:txBody>
      </p:sp>
      <p:sp>
        <p:nvSpPr>
          <p:cNvPr id="18" name="Rectangle 17"/>
          <p:cNvSpPr/>
          <p:nvPr/>
        </p:nvSpPr>
        <p:spPr>
          <a:xfrm>
            <a:off x="2926080" y="2304288"/>
            <a:ext cx="2011680" cy="475488"/>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71800" y="2377440"/>
            <a:ext cx="1920240" cy="347472"/>
          </a:xfrm>
          <a:prstGeom prst="rect">
            <a:avLst/>
          </a:prstGeom>
          <a:noFill/>
        </p:spPr>
        <p:txBody>
          <a:bodyPr wrap="square">
            <a:spAutoFit/>
          </a:bodyPr>
          <a:lstStyle/>
          <a:p>
            <a:pPr algn="ctr"/>
            <a:r>
              <a:rPr sz="1100" b="0" i="0">
                <a:solidFill>
                  <a:srgbClr val="FF6060"/>
                </a:solidFill>
              </a:rPr>
              <a:t>× ケーブル切断</a:t>
            </a:r>
          </a:p>
        </p:txBody>
      </p:sp>
      <p:sp>
        <p:nvSpPr>
          <p:cNvPr id="20" name="Rectangle 19"/>
          <p:cNvSpPr/>
          <p:nvPr/>
        </p:nvSpPr>
        <p:spPr>
          <a:xfrm>
            <a:off x="4937760" y="2304288"/>
            <a:ext cx="2011680" cy="475488"/>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83480" y="2377440"/>
            <a:ext cx="1920240" cy="347472"/>
          </a:xfrm>
          <a:prstGeom prst="rect">
            <a:avLst/>
          </a:prstGeom>
          <a:noFill/>
        </p:spPr>
        <p:txBody>
          <a:bodyPr wrap="square">
            <a:spAutoFit/>
          </a:bodyPr>
          <a:lstStyle/>
          <a:p>
            <a:pPr algn="ctr"/>
            <a:r>
              <a:rPr sz="1100" b="0" i="0">
                <a:solidFill>
                  <a:srgbClr val="FFAA44"/>
                </a:solidFill>
              </a:rPr>
              <a:t>△ 基地局被災リスク</a:t>
            </a:r>
          </a:p>
        </p:txBody>
      </p:sp>
      <p:sp>
        <p:nvSpPr>
          <p:cNvPr id="22" name="Rectangle 21"/>
          <p:cNvSpPr/>
          <p:nvPr/>
        </p:nvSpPr>
        <p:spPr>
          <a:xfrm>
            <a:off x="6949440" y="2304288"/>
            <a:ext cx="2011680" cy="475488"/>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95160" y="2377440"/>
            <a:ext cx="1920240" cy="347472"/>
          </a:xfrm>
          <a:prstGeom prst="rect">
            <a:avLst/>
          </a:prstGeom>
          <a:noFill/>
        </p:spPr>
        <p:txBody>
          <a:bodyPr wrap="square">
            <a:spAutoFit/>
          </a:bodyPr>
          <a:lstStyle/>
          <a:p>
            <a:pPr algn="ctr"/>
            <a:r>
              <a:rPr sz="1100" b="0" i="0">
                <a:solidFill>
                  <a:srgbClr val="00A8FF"/>
                </a:solidFill>
              </a:rPr>
              <a:t>○ 地上非依存</a:t>
            </a:r>
          </a:p>
        </p:txBody>
      </p:sp>
      <p:sp>
        <p:nvSpPr>
          <p:cNvPr id="24" name="Rectangle 23"/>
          <p:cNvSpPr/>
          <p:nvPr/>
        </p:nvSpPr>
        <p:spPr>
          <a:xfrm>
            <a:off x="8961120" y="2304288"/>
            <a:ext cx="2011680" cy="475488"/>
          </a:xfrm>
          <a:prstGeom prst="rect">
            <a:avLst/>
          </a:prstGeom>
          <a:solidFill>
            <a:srgbClr val="08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6840" y="2377440"/>
            <a:ext cx="1920240" cy="347472"/>
          </a:xfrm>
          <a:prstGeom prst="rect">
            <a:avLst/>
          </a:prstGeom>
          <a:noFill/>
        </p:spPr>
        <p:txBody>
          <a:bodyPr wrap="square">
            <a:spAutoFit/>
          </a:bodyPr>
          <a:lstStyle/>
          <a:p>
            <a:pPr algn="ctr"/>
            <a:r>
              <a:rPr sz="1100" b="0" i="0">
                <a:solidFill>
                  <a:srgbClr val="00D4AA"/>
                </a:solidFill>
              </a:rPr>
              <a:t>◎ 最強の独立経路</a:t>
            </a:r>
          </a:p>
        </p:txBody>
      </p:sp>
      <p:sp>
        <p:nvSpPr>
          <p:cNvPr id="26" name="Rectangle 25"/>
          <p:cNvSpPr/>
          <p:nvPr/>
        </p:nvSpPr>
        <p:spPr>
          <a:xfrm>
            <a:off x="365760" y="2779776"/>
            <a:ext cx="2560320" cy="475488"/>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2852928"/>
            <a:ext cx="2468880" cy="347472"/>
          </a:xfrm>
          <a:prstGeom prst="rect">
            <a:avLst/>
          </a:prstGeom>
          <a:noFill/>
        </p:spPr>
        <p:txBody>
          <a:bodyPr wrap="square">
            <a:spAutoFit/>
          </a:bodyPr>
          <a:lstStyle/>
          <a:p>
            <a:pPr algn="ctr"/>
            <a:r>
              <a:rPr sz="1100" b="0" i="0">
                <a:solidFill>
                  <a:srgbClr val="FFFFFF"/>
                </a:solidFill>
              </a:rPr>
              <a:t>通信速度</a:t>
            </a:r>
          </a:p>
        </p:txBody>
      </p:sp>
      <p:sp>
        <p:nvSpPr>
          <p:cNvPr id="28" name="Rectangle 27"/>
          <p:cNvSpPr/>
          <p:nvPr/>
        </p:nvSpPr>
        <p:spPr>
          <a:xfrm>
            <a:off x="2926080" y="2779776"/>
            <a:ext cx="2011680" cy="475488"/>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71800" y="2852928"/>
            <a:ext cx="1920240" cy="347472"/>
          </a:xfrm>
          <a:prstGeom prst="rect">
            <a:avLst/>
          </a:prstGeom>
          <a:noFill/>
        </p:spPr>
        <p:txBody>
          <a:bodyPr wrap="square">
            <a:spAutoFit/>
          </a:bodyPr>
          <a:lstStyle/>
          <a:p>
            <a:pPr algn="ctr"/>
            <a:r>
              <a:rPr sz="1100" b="0" i="0">
                <a:solidFill>
                  <a:srgbClr val="00D4AA"/>
                </a:solidFill>
              </a:rPr>
              <a:t>◎ 1Gbps+</a:t>
            </a:r>
          </a:p>
        </p:txBody>
      </p:sp>
      <p:sp>
        <p:nvSpPr>
          <p:cNvPr id="30" name="Rectangle 29"/>
          <p:cNvSpPr/>
          <p:nvPr/>
        </p:nvSpPr>
        <p:spPr>
          <a:xfrm>
            <a:off x="4937760" y="2779776"/>
            <a:ext cx="2011680" cy="475488"/>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83480" y="2852928"/>
            <a:ext cx="1920240" cy="347472"/>
          </a:xfrm>
          <a:prstGeom prst="rect">
            <a:avLst/>
          </a:prstGeom>
          <a:noFill/>
        </p:spPr>
        <p:txBody>
          <a:bodyPr wrap="square">
            <a:spAutoFit/>
          </a:bodyPr>
          <a:lstStyle/>
          <a:p>
            <a:pPr algn="ctr"/>
            <a:r>
              <a:rPr sz="1100" b="0" i="0">
                <a:solidFill>
                  <a:srgbClr val="00A8FF"/>
                </a:solidFill>
              </a:rPr>
              <a:t>○ 50〜200Mbps</a:t>
            </a:r>
          </a:p>
        </p:txBody>
      </p:sp>
      <p:sp>
        <p:nvSpPr>
          <p:cNvPr id="32" name="Rectangle 31"/>
          <p:cNvSpPr/>
          <p:nvPr/>
        </p:nvSpPr>
        <p:spPr>
          <a:xfrm>
            <a:off x="6949440" y="2779776"/>
            <a:ext cx="2011680" cy="475488"/>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95160" y="2852928"/>
            <a:ext cx="1920240" cy="347472"/>
          </a:xfrm>
          <a:prstGeom prst="rect">
            <a:avLst/>
          </a:prstGeom>
          <a:noFill/>
        </p:spPr>
        <p:txBody>
          <a:bodyPr wrap="square">
            <a:spAutoFit/>
          </a:bodyPr>
          <a:lstStyle/>
          <a:p>
            <a:pPr algn="ctr"/>
            <a:r>
              <a:rPr sz="1100" b="0" i="0">
                <a:solidFill>
                  <a:srgbClr val="FF6060"/>
                </a:solidFill>
              </a:rPr>
              <a:t>× 1〜5Mbps</a:t>
            </a:r>
          </a:p>
        </p:txBody>
      </p:sp>
      <p:sp>
        <p:nvSpPr>
          <p:cNvPr id="34" name="Rectangle 33"/>
          <p:cNvSpPr/>
          <p:nvPr/>
        </p:nvSpPr>
        <p:spPr>
          <a:xfrm>
            <a:off x="8961120" y="2779776"/>
            <a:ext cx="2011680" cy="475488"/>
          </a:xfrm>
          <a:prstGeom prst="rect">
            <a:avLst/>
          </a:prstGeom>
          <a:solidFill>
            <a:srgbClr val="08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06840" y="2852928"/>
            <a:ext cx="1920240" cy="347472"/>
          </a:xfrm>
          <a:prstGeom prst="rect">
            <a:avLst/>
          </a:prstGeom>
          <a:noFill/>
        </p:spPr>
        <p:txBody>
          <a:bodyPr wrap="square">
            <a:spAutoFit/>
          </a:bodyPr>
          <a:lstStyle/>
          <a:p>
            <a:pPr algn="ctr"/>
            <a:r>
              <a:rPr sz="1100" b="0" i="0">
                <a:solidFill>
                  <a:srgbClr val="00D4AA"/>
                </a:solidFill>
              </a:rPr>
              <a:t>◎ 20〜100Mbps</a:t>
            </a:r>
          </a:p>
        </p:txBody>
      </p:sp>
      <p:sp>
        <p:nvSpPr>
          <p:cNvPr id="36" name="Rectangle 35"/>
          <p:cNvSpPr/>
          <p:nvPr/>
        </p:nvSpPr>
        <p:spPr>
          <a:xfrm>
            <a:off x="365760" y="3255264"/>
            <a:ext cx="2560320" cy="475488"/>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3328416"/>
            <a:ext cx="2468880" cy="347472"/>
          </a:xfrm>
          <a:prstGeom prst="rect">
            <a:avLst/>
          </a:prstGeom>
          <a:noFill/>
        </p:spPr>
        <p:txBody>
          <a:bodyPr wrap="square">
            <a:spAutoFit/>
          </a:bodyPr>
          <a:lstStyle/>
          <a:p>
            <a:pPr algn="ctr"/>
            <a:r>
              <a:rPr sz="1100" b="0" i="0">
                <a:solidFill>
                  <a:srgbClr val="FFFFFF"/>
                </a:solidFill>
              </a:rPr>
              <a:t>遅延</a:t>
            </a:r>
          </a:p>
        </p:txBody>
      </p:sp>
      <p:sp>
        <p:nvSpPr>
          <p:cNvPr id="38" name="Rectangle 37"/>
          <p:cNvSpPr/>
          <p:nvPr/>
        </p:nvSpPr>
        <p:spPr>
          <a:xfrm>
            <a:off x="2926080" y="3255264"/>
            <a:ext cx="2011680" cy="475488"/>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971800" y="3328416"/>
            <a:ext cx="1920240" cy="347472"/>
          </a:xfrm>
          <a:prstGeom prst="rect">
            <a:avLst/>
          </a:prstGeom>
          <a:noFill/>
        </p:spPr>
        <p:txBody>
          <a:bodyPr wrap="square">
            <a:spAutoFit/>
          </a:bodyPr>
          <a:lstStyle/>
          <a:p>
            <a:pPr algn="ctr"/>
            <a:r>
              <a:rPr sz="1100" b="0" i="0">
                <a:solidFill>
                  <a:srgbClr val="00D4AA"/>
                </a:solidFill>
              </a:rPr>
              <a:t>◎ 1〜5ms</a:t>
            </a:r>
          </a:p>
        </p:txBody>
      </p:sp>
      <p:sp>
        <p:nvSpPr>
          <p:cNvPr id="40" name="Rectangle 39"/>
          <p:cNvSpPr/>
          <p:nvPr/>
        </p:nvSpPr>
        <p:spPr>
          <a:xfrm>
            <a:off x="4937760" y="3255264"/>
            <a:ext cx="2011680" cy="475488"/>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83480" y="3328416"/>
            <a:ext cx="1920240" cy="347472"/>
          </a:xfrm>
          <a:prstGeom prst="rect">
            <a:avLst/>
          </a:prstGeom>
          <a:noFill/>
        </p:spPr>
        <p:txBody>
          <a:bodyPr wrap="square">
            <a:spAutoFit/>
          </a:bodyPr>
          <a:lstStyle/>
          <a:p>
            <a:pPr algn="ctr"/>
            <a:r>
              <a:rPr sz="1100" b="0" i="0">
                <a:solidFill>
                  <a:srgbClr val="00A8FF"/>
                </a:solidFill>
              </a:rPr>
              <a:t>○ 10〜40ms</a:t>
            </a:r>
          </a:p>
        </p:txBody>
      </p:sp>
      <p:sp>
        <p:nvSpPr>
          <p:cNvPr id="42" name="Rectangle 41"/>
          <p:cNvSpPr/>
          <p:nvPr/>
        </p:nvSpPr>
        <p:spPr>
          <a:xfrm>
            <a:off x="6949440" y="3255264"/>
            <a:ext cx="2011680" cy="475488"/>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5160" y="3328416"/>
            <a:ext cx="1920240" cy="347472"/>
          </a:xfrm>
          <a:prstGeom prst="rect">
            <a:avLst/>
          </a:prstGeom>
          <a:noFill/>
        </p:spPr>
        <p:txBody>
          <a:bodyPr wrap="square">
            <a:spAutoFit/>
          </a:bodyPr>
          <a:lstStyle/>
          <a:p>
            <a:pPr algn="ctr"/>
            <a:r>
              <a:rPr sz="1100" b="0" i="0">
                <a:solidFill>
                  <a:srgbClr val="FF6060"/>
                </a:solidFill>
              </a:rPr>
              <a:t>× 500〜700ms</a:t>
            </a:r>
          </a:p>
        </p:txBody>
      </p:sp>
      <p:sp>
        <p:nvSpPr>
          <p:cNvPr id="44" name="Rectangle 43"/>
          <p:cNvSpPr/>
          <p:nvPr/>
        </p:nvSpPr>
        <p:spPr>
          <a:xfrm>
            <a:off x="8961120" y="3255264"/>
            <a:ext cx="2011680" cy="475488"/>
          </a:xfrm>
          <a:prstGeom prst="rect">
            <a:avLst/>
          </a:prstGeom>
          <a:solidFill>
            <a:srgbClr val="08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06840" y="3328416"/>
            <a:ext cx="1920240" cy="347472"/>
          </a:xfrm>
          <a:prstGeom prst="rect">
            <a:avLst/>
          </a:prstGeom>
          <a:noFill/>
        </p:spPr>
        <p:txBody>
          <a:bodyPr wrap="square">
            <a:spAutoFit/>
          </a:bodyPr>
          <a:lstStyle/>
          <a:p>
            <a:pPr algn="ctr"/>
            <a:r>
              <a:rPr sz="1100" b="0" i="0">
                <a:solidFill>
                  <a:srgbClr val="00D4AA"/>
                </a:solidFill>
              </a:rPr>
              <a:t>◎ 20〜40ms</a:t>
            </a:r>
          </a:p>
        </p:txBody>
      </p:sp>
      <p:sp>
        <p:nvSpPr>
          <p:cNvPr id="46" name="Rectangle 45"/>
          <p:cNvSpPr/>
          <p:nvPr/>
        </p:nvSpPr>
        <p:spPr>
          <a:xfrm>
            <a:off x="365760" y="3730752"/>
            <a:ext cx="2560320" cy="475488"/>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11480" y="3803904"/>
            <a:ext cx="2468880" cy="347472"/>
          </a:xfrm>
          <a:prstGeom prst="rect">
            <a:avLst/>
          </a:prstGeom>
          <a:noFill/>
        </p:spPr>
        <p:txBody>
          <a:bodyPr wrap="square">
            <a:spAutoFit/>
          </a:bodyPr>
          <a:lstStyle/>
          <a:p>
            <a:pPr algn="ctr"/>
            <a:r>
              <a:rPr sz="1100" b="0" i="0">
                <a:solidFill>
                  <a:srgbClr val="FFFFFF"/>
                </a:solidFill>
              </a:rPr>
              <a:t>HD映像監視</a:t>
            </a:r>
          </a:p>
        </p:txBody>
      </p:sp>
      <p:sp>
        <p:nvSpPr>
          <p:cNvPr id="48" name="Rectangle 47"/>
          <p:cNvSpPr/>
          <p:nvPr/>
        </p:nvSpPr>
        <p:spPr>
          <a:xfrm>
            <a:off x="2926080" y="3730752"/>
            <a:ext cx="2011680" cy="475488"/>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71800" y="3803904"/>
            <a:ext cx="1920240" cy="347472"/>
          </a:xfrm>
          <a:prstGeom prst="rect">
            <a:avLst/>
          </a:prstGeom>
          <a:noFill/>
        </p:spPr>
        <p:txBody>
          <a:bodyPr wrap="square">
            <a:spAutoFit/>
          </a:bodyPr>
          <a:lstStyle/>
          <a:p>
            <a:pPr algn="ctr"/>
            <a:r>
              <a:rPr sz="1100" b="0" i="0">
                <a:solidFill>
                  <a:srgbClr val="00D4AA"/>
                </a:solidFill>
              </a:rPr>
              <a:t>◎ 対応</a:t>
            </a:r>
          </a:p>
        </p:txBody>
      </p:sp>
      <p:sp>
        <p:nvSpPr>
          <p:cNvPr id="50" name="Rectangle 49"/>
          <p:cNvSpPr/>
          <p:nvPr/>
        </p:nvSpPr>
        <p:spPr>
          <a:xfrm>
            <a:off x="4937760" y="3730752"/>
            <a:ext cx="2011680" cy="475488"/>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983480" y="3803904"/>
            <a:ext cx="1920240" cy="347472"/>
          </a:xfrm>
          <a:prstGeom prst="rect">
            <a:avLst/>
          </a:prstGeom>
          <a:noFill/>
        </p:spPr>
        <p:txBody>
          <a:bodyPr wrap="square">
            <a:spAutoFit/>
          </a:bodyPr>
          <a:lstStyle/>
          <a:p>
            <a:pPr algn="ctr"/>
            <a:r>
              <a:rPr sz="1100" b="0" i="0">
                <a:solidFill>
                  <a:srgbClr val="00A8FF"/>
                </a:solidFill>
              </a:rPr>
              <a:t>○ 対応</a:t>
            </a:r>
          </a:p>
        </p:txBody>
      </p:sp>
      <p:sp>
        <p:nvSpPr>
          <p:cNvPr id="52" name="Rectangle 51"/>
          <p:cNvSpPr/>
          <p:nvPr/>
        </p:nvSpPr>
        <p:spPr>
          <a:xfrm>
            <a:off x="6949440" y="3730752"/>
            <a:ext cx="2011680" cy="475488"/>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995160" y="3803904"/>
            <a:ext cx="1920240" cy="347472"/>
          </a:xfrm>
          <a:prstGeom prst="rect">
            <a:avLst/>
          </a:prstGeom>
          <a:noFill/>
        </p:spPr>
        <p:txBody>
          <a:bodyPr wrap="square">
            <a:spAutoFit/>
          </a:bodyPr>
          <a:lstStyle/>
          <a:p>
            <a:pPr algn="ctr"/>
            <a:r>
              <a:rPr sz="1100" b="0" i="0">
                <a:solidFill>
                  <a:srgbClr val="FF6060"/>
                </a:solidFill>
              </a:rPr>
              <a:t>× 遅延で不可</a:t>
            </a:r>
          </a:p>
        </p:txBody>
      </p:sp>
      <p:sp>
        <p:nvSpPr>
          <p:cNvPr id="54" name="Rectangle 53"/>
          <p:cNvSpPr/>
          <p:nvPr/>
        </p:nvSpPr>
        <p:spPr>
          <a:xfrm>
            <a:off x="8961120" y="3730752"/>
            <a:ext cx="2011680" cy="475488"/>
          </a:xfrm>
          <a:prstGeom prst="rect">
            <a:avLst/>
          </a:prstGeom>
          <a:solidFill>
            <a:srgbClr val="08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06840" y="3803904"/>
            <a:ext cx="1920240" cy="347472"/>
          </a:xfrm>
          <a:prstGeom prst="rect">
            <a:avLst/>
          </a:prstGeom>
          <a:noFill/>
        </p:spPr>
        <p:txBody>
          <a:bodyPr wrap="square">
            <a:spAutoFit/>
          </a:bodyPr>
          <a:lstStyle/>
          <a:p>
            <a:pPr algn="ctr"/>
            <a:r>
              <a:rPr sz="1100" b="0" i="0">
                <a:solidFill>
                  <a:srgbClr val="00D4AA"/>
                </a:solidFill>
              </a:rPr>
              <a:t>◎ リアルタイム</a:t>
            </a:r>
          </a:p>
        </p:txBody>
      </p:sp>
      <p:sp>
        <p:nvSpPr>
          <p:cNvPr id="56" name="Rectangle 55"/>
          <p:cNvSpPr/>
          <p:nvPr/>
        </p:nvSpPr>
        <p:spPr>
          <a:xfrm>
            <a:off x="365760" y="4206240"/>
            <a:ext cx="2560320" cy="475488"/>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11480" y="4279392"/>
            <a:ext cx="2468880" cy="347472"/>
          </a:xfrm>
          <a:prstGeom prst="rect">
            <a:avLst/>
          </a:prstGeom>
          <a:noFill/>
        </p:spPr>
        <p:txBody>
          <a:bodyPr wrap="square">
            <a:spAutoFit/>
          </a:bodyPr>
          <a:lstStyle/>
          <a:p>
            <a:pPr algn="ctr"/>
            <a:r>
              <a:rPr sz="1100" b="0" i="0">
                <a:solidFill>
                  <a:srgbClr val="FFFFFF"/>
                </a:solidFill>
              </a:rPr>
              <a:t>法人サポート</a:t>
            </a:r>
          </a:p>
        </p:txBody>
      </p:sp>
      <p:sp>
        <p:nvSpPr>
          <p:cNvPr id="58" name="Rectangle 57"/>
          <p:cNvSpPr/>
          <p:nvPr/>
        </p:nvSpPr>
        <p:spPr>
          <a:xfrm>
            <a:off x="2926080" y="4206240"/>
            <a:ext cx="2011680" cy="475488"/>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71800" y="4279392"/>
            <a:ext cx="1920240" cy="347472"/>
          </a:xfrm>
          <a:prstGeom prst="rect">
            <a:avLst/>
          </a:prstGeom>
          <a:noFill/>
        </p:spPr>
        <p:txBody>
          <a:bodyPr wrap="square">
            <a:spAutoFit/>
          </a:bodyPr>
          <a:lstStyle/>
          <a:p>
            <a:pPr algn="ctr"/>
            <a:r>
              <a:rPr sz="1100" b="0" i="0">
                <a:solidFill>
                  <a:srgbClr val="00A8FF"/>
                </a:solidFill>
              </a:rPr>
              <a:t>○ あり</a:t>
            </a:r>
          </a:p>
        </p:txBody>
      </p:sp>
      <p:sp>
        <p:nvSpPr>
          <p:cNvPr id="60" name="Rectangle 59"/>
          <p:cNvSpPr/>
          <p:nvPr/>
        </p:nvSpPr>
        <p:spPr>
          <a:xfrm>
            <a:off x="4937760" y="4206240"/>
            <a:ext cx="2011680" cy="475488"/>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983480" y="4279392"/>
            <a:ext cx="1920240" cy="347472"/>
          </a:xfrm>
          <a:prstGeom prst="rect">
            <a:avLst/>
          </a:prstGeom>
          <a:noFill/>
        </p:spPr>
        <p:txBody>
          <a:bodyPr wrap="square">
            <a:spAutoFit/>
          </a:bodyPr>
          <a:lstStyle/>
          <a:p>
            <a:pPr algn="ctr"/>
            <a:r>
              <a:rPr sz="1100" b="0" i="0">
                <a:solidFill>
                  <a:srgbClr val="FFAA44"/>
                </a:solidFill>
              </a:rPr>
              <a:t>△ キャリア依存</a:t>
            </a:r>
          </a:p>
        </p:txBody>
      </p:sp>
      <p:sp>
        <p:nvSpPr>
          <p:cNvPr id="62" name="Rectangle 61"/>
          <p:cNvSpPr/>
          <p:nvPr/>
        </p:nvSpPr>
        <p:spPr>
          <a:xfrm>
            <a:off x="6949440" y="4206240"/>
            <a:ext cx="2011680" cy="475488"/>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995160" y="4279392"/>
            <a:ext cx="1920240" cy="347472"/>
          </a:xfrm>
          <a:prstGeom prst="rect">
            <a:avLst/>
          </a:prstGeom>
          <a:noFill/>
        </p:spPr>
        <p:txBody>
          <a:bodyPr wrap="square">
            <a:spAutoFit/>
          </a:bodyPr>
          <a:lstStyle/>
          <a:p>
            <a:pPr algn="ctr"/>
            <a:r>
              <a:rPr sz="1100" b="0" i="0">
                <a:solidFill>
                  <a:srgbClr val="FFAA44"/>
                </a:solidFill>
              </a:rPr>
              <a:t>△ 専門業者</a:t>
            </a:r>
          </a:p>
        </p:txBody>
      </p:sp>
      <p:sp>
        <p:nvSpPr>
          <p:cNvPr id="64" name="Rectangle 63"/>
          <p:cNvSpPr/>
          <p:nvPr/>
        </p:nvSpPr>
        <p:spPr>
          <a:xfrm>
            <a:off x="8961120" y="4206240"/>
            <a:ext cx="2011680" cy="475488"/>
          </a:xfrm>
          <a:prstGeom prst="rect">
            <a:avLst/>
          </a:prstGeom>
          <a:solidFill>
            <a:srgbClr val="08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06840" y="4279392"/>
            <a:ext cx="1920240" cy="347472"/>
          </a:xfrm>
          <a:prstGeom prst="rect">
            <a:avLst/>
          </a:prstGeom>
          <a:noFill/>
        </p:spPr>
        <p:txBody>
          <a:bodyPr wrap="square">
            <a:spAutoFit/>
          </a:bodyPr>
          <a:lstStyle/>
          <a:p>
            <a:pPr algn="ctr"/>
            <a:r>
              <a:rPr sz="1100" b="0" i="0">
                <a:solidFill>
                  <a:srgbClr val="00D4AA"/>
                </a:solidFill>
              </a:rPr>
              <a:t>◎ KDDI一元化</a:t>
            </a:r>
          </a:p>
        </p:txBody>
      </p:sp>
      <p:sp>
        <p:nvSpPr>
          <p:cNvPr id="66" name="Rectangle 65"/>
          <p:cNvSpPr/>
          <p:nvPr/>
        </p:nvSpPr>
        <p:spPr>
          <a:xfrm>
            <a:off x="365760" y="4681728"/>
            <a:ext cx="2560320" cy="475488"/>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11480" y="4754880"/>
            <a:ext cx="2468880" cy="347472"/>
          </a:xfrm>
          <a:prstGeom prst="rect">
            <a:avLst/>
          </a:prstGeom>
          <a:noFill/>
        </p:spPr>
        <p:txBody>
          <a:bodyPr wrap="square">
            <a:spAutoFit/>
          </a:bodyPr>
          <a:lstStyle/>
          <a:p>
            <a:pPr algn="ctr"/>
            <a:r>
              <a:rPr sz="1100" b="0" i="0">
                <a:solidFill>
                  <a:srgbClr val="FFFFFF"/>
                </a:solidFill>
              </a:rPr>
              <a:t>冗長バックアップ適性</a:t>
            </a:r>
          </a:p>
        </p:txBody>
      </p:sp>
      <p:sp>
        <p:nvSpPr>
          <p:cNvPr id="68" name="Rectangle 67"/>
          <p:cNvSpPr/>
          <p:nvPr/>
        </p:nvSpPr>
        <p:spPr>
          <a:xfrm>
            <a:off x="2926080" y="4681728"/>
            <a:ext cx="2011680" cy="475488"/>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971800" y="4754880"/>
            <a:ext cx="1920240" cy="347472"/>
          </a:xfrm>
          <a:prstGeom prst="rect">
            <a:avLst/>
          </a:prstGeom>
          <a:noFill/>
        </p:spPr>
        <p:txBody>
          <a:bodyPr wrap="square">
            <a:spAutoFit/>
          </a:bodyPr>
          <a:lstStyle/>
          <a:p>
            <a:pPr algn="ctr"/>
            <a:r>
              <a:rPr sz="1100" b="0" i="0">
                <a:solidFill>
                  <a:srgbClr val="FF6060"/>
                </a:solidFill>
              </a:rPr>
              <a:t>× 同経路リスク</a:t>
            </a:r>
          </a:p>
        </p:txBody>
      </p:sp>
      <p:sp>
        <p:nvSpPr>
          <p:cNvPr id="70" name="Rectangle 69"/>
          <p:cNvSpPr/>
          <p:nvPr/>
        </p:nvSpPr>
        <p:spPr>
          <a:xfrm>
            <a:off x="4937760" y="4681728"/>
            <a:ext cx="2011680" cy="475488"/>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983480" y="4754880"/>
            <a:ext cx="1920240" cy="347472"/>
          </a:xfrm>
          <a:prstGeom prst="rect">
            <a:avLst/>
          </a:prstGeom>
          <a:noFill/>
        </p:spPr>
        <p:txBody>
          <a:bodyPr wrap="square">
            <a:spAutoFit/>
          </a:bodyPr>
          <a:lstStyle/>
          <a:p>
            <a:pPr algn="ctr"/>
            <a:r>
              <a:rPr sz="1100" b="0" i="0">
                <a:solidFill>
                  <a:srgbClr val="FFAA44"/>
                </a:solidFill>
              </a:rPr>
              <a:t>△ 集中障害リスク</a:t>
            </a:r>
          </a:p>
        </p:txBody>
      </p:sp>
      <p:sp>
        <p:nvSpPr>
          <p:cNvPr id="72" name="Rectangle 71"/>
          <p:cNvSpPr/>
          <p:nvPr/>
        </p:nvSpPr>
        <p:spPr>
          <a:xfrm>
            <a:off x="6949440" y="4681728"/>
            <a:ext cx="2011680" cy="475488"/>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995160" y="4754880"/>
            <a:ext cx="1920240" cy="347472"/>
          </a:xfrm>
          <a:prstGeom prst="rect">
            <a:avLst/>
          </a:prstGeom>
          <a:noFill/>
        </p:spPr>
        <p:txBody>
          <a:bodyPr wrap="square">
            <a:spAutoFit/>
          </a:bodyPr>
          <a:lstStyle/>
          <a:p>
            <a:pPr algn="ctr"/>
            <a:r>
              <a:rPr sz="1100" b="0" i="0">
                <a:solidFill>
                  <a:srgbClr val="00A8FF"/>
                </a:solidFill>
              </a:rPr>
              <a:t>○ 適合</a:t>
            </a:r>
          </a:p>
        </p:txBody>
      </p:sp>
      <p:sp>
        <p:nvSpPr>
          <p:cNvPr id="74" name="Rectangle 73"/>
          <p:cNvSpPr/>
          <p:nvPr/>
        </p:nvSpPr>
        <p:spPr>
          <a:xfrm>
            <a:off x="8961120" y="4681728"/>
            <a:ext cx="2011680" cy="475488"/>
          </a:xfrm>
          <a:prstGeom prst="rect">
            <a:avLst/>
          </a:prstGeom>
          <a:solidFill>
            <a:srgbClr val="08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006840" y="4754880"/>
            <a:ext cx="1920240" cy="347472"/>
          </a:xfrm>
          <a:prstGeom prst="rect">
            <a:avLst/>
          </a:prstGeom>
          <a:noFill/>
        </p:spPr>
        <p:txBody>
          <a:bodyPr wrap="square">
            <a:spAutoFit/>
          </a:bodyPr>
          <a:lstStyle/>
          <a:p>
            <a:pPr algn="ctr"/>
            <a:r>
              <a:rPr sz="1100" b="0" i="0">
                <a:solidFill>
                  <a:srgbClr val="00D4AA"/>
                </a:solidFill>
              </a:rPr>
              <a:t>◎ 最適（異経路）</a:t>
            </a:r>
          </a:p>
        </p:txBody>
      </p:sp>
      <p:sp>
        <p:nvSpPr>
          <p:cNvPr id="76" name="Rectangle 75"/>
          <p:cNvSpPr/>
          <p:nvPr/>
        </p:nvSpPr>
        <p:spPr>
          <a:xfrm>
            <a:off x="365760" y="5852160"/>
            <a:ext cx="11430000" cy="713232"/>
          </a:xfrm>
          <a:prstGeom prst="rect">
            <a:avLst/>
          </a:prstGeom>
          <a:solidFill>
            <a:srgbClr val="0A1E32"/>
          </a:solidFill>
          <a:ln w="1905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48640" y="5989320"/>
            <a:ext cx="11064240" cy="320040"/>
          </a:xfrm>
          <a:prstGeom prst="rect">
            <a:avLst/>
          </a:prstGeom>
          <a:noFill/>
        </p:spPr>
        <p:txBody>
          <a:bodyPr wrap="square">
            <a:spAutoFit/>
          </a:bodyPr>
          <a:lstStyle/>
          <a:p>
            <a:pPr algn="l"/>
            <a:r>
              <a:rPr sz="1400" b="1" i="0">
                <a:solidFill>
                  <a:srgbClr val="00A8FF"/>
                </a:solidFill>
              </a:rPr>
              <a:t>結論</a:t>
            </a:r>
          </a:p>
        </p:txBody>
      </p:sp>
      <p:sp>
        <p:nvSpPr>
          <p:cNvPr id="78" name="TextBox 77"/>
          <p:cNvSpPr txBox="1"/>
          <p:nvPr/>
        </p:nvSpPr>
        <p:spPr>
          <a:xfrm>
            <a:off x="548640" y="6309360"/>
            <a:ext cx="11064240" cy="164592"/>
          </a:xfrm>
          <a:prstGeom prst="rect">
            <a:avLst/>
          </a:prstGeom>
          <a:noFill/>
        </p:spPr>
        <p:txBody>
          <a:bodyPr wrap="square">
            <a:spAutoFit/>
          </a:bodyPr>
          <a:lstStyle/>
          <a:p>
            <a:pPr algn="l"/>
            <a:r>
              <a:rPr sz="1250" b="0" i="0">
                <a:solidFill>
                  <a:srgbClr val="C0D4E8"/>
                </a:solidFill>
              </a:rPr>
              <a:t>au Starlink は「地上インフラに依存しない独立経路」と「HD映像転送に耐える速度・低遅延」を両立する、警備バックアップ通信として現時点で最も実用的な選択肢です。</a:t>
            </a:r>
          </a:p>
        </p:txBody>
      </p:sp>
      <p:sp>
        <p:nvSpPr>
          <p:cNvPr id="79" name="TextBox 78"/>
          <p:cNvSpPr txBox="1"/>
          <p:nvPr/>
        </p:nvSpPr>
        <p:spPr>
          <a:xfrm>
            <a:off x="10817352" y="6446520"/>
            <a:ext cx="1188720" cy="274320"/>
          </a:xfrm>
          <a:prstGeom prst="rect">
            <a:avLst/>
          </a:prstGeom>
          <a:noFill/>
        </p:spPr>
        <p:txBody>
          <a:bodyPr wrap="square">
            <a:spAutoFit/>
          </a:bodyPr>
          <a:lstStyle/>
          <a:p>
            <a:pPr algn="r"/>
            <a:r>
              <a:rPr sz="1100" b="0" i="0">
                <a:solidFill>
                  <a:srgbClr val="6A8AAA"/>
                </a:solidFill>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234440"/>
            <a:ext cx="73152" cy="347472"/>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43000"/>
            <a:ext cx="10789920" cy="457200"/>
          </a:xfrm>
          <a:prstGeom prst="rect">
            <a:avLst/>
          </a:prstGeom>
          <a:noFill/>
        </p:spPr>
        <p:txBody>
          <a:bodyPr wrap="square">
            <a:spAutoFit/>
          </a:bodyPr>
          <a:lstStyle/>
          <a:p>
            <a:pPr algn="l"/>
            <a:r>
              <a:rPr sz="2200" b="1" i="0">
                <a:solidFill>
                  <a:srgbClr val="FFFFFF"/>
                </a:solidFill>
              </a:rPr>
              <a:t>具体的な活用シナリオ ― 災害発生時の通信フロー</a:t>
            </a:r>
          </a:p>
        </p:txBody>
      </p:sp>
      <p:sp>
        <p:nvSpPr>
          <p:cNvPr id="5" name="Rectangle 4"/>
          <p:cNvSpPr/>
          <p:nvPr/>
        </p:nvSpPr>
        <p:spPr>
          <a:xfrm>
            <a:off x="548640" y="1645920"/>
            <a:ext cx="11064240" cy="1905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828800"/>
            <a:ext cx="5303520" cy="320040"/>
          </a:xfrm>
          <a:prstGeom prst="rect">
            <a:avLst/>
          </a:prstGeom>
          <a:noFill/>
        </p:spPr>
        <p:txBody>
          <a:bodyPr wrap="square">
            <a:spAutoFit/>
          </a:bodyPr>
          <a:lstStyle/>
          <a:p>
            <a:pPr algn="l"/>
            <a:r>
              <a:rPr sz="1400" b="1" i="0">
                <a:solidFill>
                  <a:srgbClr val="FF6060"/>
                </a:solidFill>
              </a:rPr>
              <a:t>【現状】地上回線のみ ― 災害時</a:t>
            </a:r>
          </a:p>
        </p:txBody>
      </p:sp>
      <p:sp>
        <p:nvSpPr>
          <p:cNvPr id="7" name="Rectangle 6"/>
          <p:cNvSpPr/>
          <p:nvPr/>
        </p:nvSpPr>
        <p:spPr>
          <a:xfrm>
            <a:off x="457200" y="2212848"/>
            <a:ext cx="457200" cy="457200"/>
          </a:xfrm>
          <a:prstGeom prst="rect">
            <a:avLst/>
          </a:prstGeom>
          <a:solidFill>
            <a:srgbClr val="FF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212848"/>
            <a:ext cx="457200" cy="457200"/>
          </a:xfrm>
          <a:prstGeom prst="rect">
            <a:avLst/>
          </a:prstGeom>
          <a:noFill/>
        </p:spPr>
        <p:txBody>
          <a:bodyPr wrap="square">
            <a:spAutoFit/>
          </a:bodyPr>
          <a:lstStyle/>
          <a:p>
            <a:pPr algn="ctr"/>
            <a:r>
              <a:rPr sz="1800" b="0" i="0">
                <a:solidFill>
                  <a:srgbClr val="FFFFFF"/>
                </a:solidFill>
              </a:rPr>
              <a:t>🌀</a:t>
            </a:r>
          </a:p>
        </p:txBody>
      </p:sp>
      <p:sp>
        <p:nvSpPr>
          <p:cNvPr id="9" name="TextBox 8"/>
          <p:cNvSpPr txBox="1"/>
          <p:nvPr/>
        </p:nvSpPr>
        <p:spPr>
          <a:xfrm>
            <a:off x="987552" y="2212848"/>
            <a:ext cx="4663440" cy="182880"/>
          </a:xfrm>
          <a:prstGeom prst="rect">
            <a:avLst/>
          </a:prstGeom>
          <a:noFill/>
        </p:spPr>
        <p:txBody>
          <a:bodyPr wrap="square">
            <a:spAutoFit/>
          </a:bodyPr>
          <a:lstStyle/>
          <a:p>
            <a:pPr algn="l"/>
            <a:r>
              <a:rPr sz="1000" b="0" i="0">
                <a:solidFill>
                  <a:srgbClr val="6A8AAA"/>
                </a:solidFill>
              </a:rPr>
              <a:t>発災</a:t>
            </a:r>
          </a:p>
        </p:txBody>
      </p:sp>
      <p:sp>
        <p:nvSpPr>
          <p:cNvPr id="10" name="TextBox 9"/>
          <p:cNvSpPr txBox="1"/>
          <p:nvPr/>
        </p:nvSpPr>
        <p:spPr>
          <a:xfrm>
            <a:off x="987552" y="2377440"/>
            <a:ext cx="4663440" cy="274320"/>
          </a:xfrm>
          <a:prstGeom prst="rect">
            <a:avLst/>
          </a:prstGeom>
          <a:noFill/>
        </p:spPr>
        <p:txBody>
          <a:bodyPr wrap="square">
            <a:spAutoFit/>
          </a:bodyPr>
          <a:lstStyle/>
          <a:p>
            <a:pPr algn="l"/>
            <a:r>
              <a:rPr sz="1300" b="1" i="0">
                <a:solidFill>
                  <a:srgbClr val="FFFFFF"/>
                </a:solidFill>
              </a:rPr>
              <a:t>地震・台風発生</a:t>
            </a:r>
          </a:p>
        </p:txBody>
      </p:sp>
      <p:sp>
        <p:nvSpPr>
          <p:cNvPr id="11" name="TextBox 10"/>
          <p:cNvSpPr txBox="1"/>
          <p:nvPr/>
        </p:nvSpPr>
        <p:spPr>
          <a:xfrm>
            <a:off x="987552" y="2633472"/>
            <a:ext cx="4663440" cy="411480"/>
          </a:xfrm>
          <a:prstGeom prst="rect">
            <a:avLst/>
          </a:prstGeom>
          <a:noFill/>
        </p:spPr>
        <p:txBody>
          <a:bodyPr wrap="square">
            <a:spAutoFit/>
          </a:bodyPr>
          <a:lstStyle/>
          <a:p>
            <a:pPr algn="l"/>
            <a:r>
              <a:rPr sz="1150" b="0" i="0">
                <a:solidFill>
                  <a:srgbClr val="C0D4E8"/>
                </a:solidFill>
              </a:rPr>
              <a:t>地上ケーブル切断・通信局舎損傷</a:t>
            </a:r>
          </a:p>
        </p:txBody>
      </p:sp>
      <p:sp>
        <p:nvSpPr>
          <p:cNvPr id="12" name="Rectangle 11"/>
          <p:cNvSpPr/>
          <p:nvPr/>
        </p:nvSpPr>
        <p:spPr>
          <a:xfrm>
            <a:off x="457200" y="3127248"/>
            <a:ext cx="457200" cy="457200"/>
          </a:xfrm>
          <a:prstGeom prst="rect">
            <a:avLst/>
          </a:prstGeom>
          <a:solidFill>
            <a:srgbClr val="FF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127248"/>
            <a:ext cx="457200" cy="457200"/>
          </a:xfrm>
          <a:prstGeom prst="rect">
            <a:avLst/>
          </a:prstGeom>
          <a:noFill/>
        </p:spPr>
        <p:txBody>
          <a:bodyPr wrap="square">
            <a:spAutoFit/>
          </a:bodyPr>
          <a:lstStyle/>
          <a:p>
            <a:pPr algn="ctr"/>
            <a:r>
              <a:rPr sz="1800" b="0" i="0">
                <a:solidFill>
                  <a:srgbClr val="FFFFFF"/>
                </a:solidFill>
              </a:rPr>
              <a:t>📵</a:t>
            </a:r>
          </a:p>
        </p:txBody>
      </p:sp>
      <p:sp>
        <p:nvSpPr>
          <p:cNvPr id="14" name="TextBox 13"/>
          <p:cNvSpPr txBox="1"/>
          <p:nvPr/>
        </p:nvSpPr>
        <p:spPr>
          <a:xfrm>
            <a:off x="987552" y="3127248"/>
            <a:ext cx="4663440" cy="182880"/>
          </a:xfrm>
          <a:prstGeom prst="rect">
            <a:avLst/>
          </a:prstGeom>
          <a:noFill/>
        </p:spPr>
        <p:txBody>
          <a:bodyPr wrap="square">
            <a:spAutoFit/>
          </a:bodyPr>
          <a:lstStyle/>
          <a:p>
            <a:pPr algn="l"/>
            <a:r>
              <a:rPr sz="1000" b="0" i="0">
                <a:solidFill>
                  <a:srgbClr val="6A8AAA"/>
                </a:solidFill>
              </a:rPr>
              <a:t>数分後</a:t>
            </a:r>
          </a:p>
        </p:txBody>
      </p:sp>
      <p:sp>
        <p:nvSpPr>
          <p:cNvPr id="15" name="TextBox 14"/>
          <p:cNvSpPr txBox="1"/>
          <p:nvPr/>
        </p:nvSpPr>
        <p:spPr>
          <a:xfrm>
            <a:off x="987552" y="3291840"/>
            <a:ext cx="4663440" cy="274320"/>
          </a:xfrm>
          <a:prstGeom prst="rect">
            <a:avLst/>
          </a:prstGeom>
          <a:noFill/>
        </p:spPr>
        <p:txBody>
          <a:bodyPr wrap="square">
            <a:spAutoFit/>
          </a:bodyPr>
          <a:lstStyle/>
          <a:p>
            <a:pPr algn="l"/>
            <a:r>
              <a:rPr sz="1300" b="1" i="0">
                <a:solidFill>
                  <a:srgbClr val="FFFFFF"/>
                </a:solidFill>
              </a:rPr>
              <a:t>通信完全断</a:t>
            </a:r>
          </a:p>
        </p:txBody>
      </p:sp>
      <p:sp>
        <p:nvSpPr>
          <p:cNvPr id="16" name="TextBox 15"/>
          <p:cNvSpPr txBox="1"/>
          <p:nvPr/>
        </p:nvSpPr>
        <p:spPr>
          <a:xfrm>
            <a:off x="987552" y="3547872"/>
            <a:ext cx="4663440" cy="411480"/>
          </a:xfrm>
          <a:prstGeom prst="rect">
            <a:avLst/>
          </a:prstGeom>
          <a:noFill/>
        </p:spPr>
        <p:txBody>
          <a:bodyPr wrap="square">
            <a:spAutoFit/>
          </a:bodyPr>
          <a:lstStyle/>
          <a:p>
            <a:pPr algn="l"/>
            <a:r>
              <a:rPr sz="1150" b="0" i="0">
                <a:solidFill>
                  <a:srgbClr val="C0D4E8"/>
                </a:solidFill>
              </a:rPr>
              <a:t>カメラ映像・センサー情報が届かない</a:t>
            </a:r>
          </a:p>
        </p:txBody>
      </p:sp>
      <p:sp>
        <p:nvSpPr>
          <p:cNvPr id="17" name="Rectangle 16"/>
          <p:cNvSpPr/>
          <p:nvPr/>
        </p:nvSpPr>
        <p:spPr>
          <a:xfrm>
            <a:off x="457200" y="4041648"/>
            <a:ext cx="457200" cy="457200"/>
          </a:xfrm>
          <a:prstGeom prst="rect">
            <a:avLst/>
          </a:prstGeom>
          <a:solidFill>
            <a:srgbClr val="FF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041648"/>
            <a:ext cx="457200" cy="457200"/>
          </a:xfrm>
          <a:prstGeom prst="rect">
            <a:avLst/>
          </a:prstGeom>
          <a:noFill/>
        </p:spPr>
        <p:txBody>
          <a:bodyPr wrap="square">
            <a:spAutoFit/>
          </a:bodyPr>
          <a:lstStyle/>
          <a:p>
            <a:pPr algn="ctr"/>
            <a:r>
              <a:rPr sz="1800" b="0" i="0">
                <a:solidFill>
                  <a:srgbClr val="FFFFFF"/>
                </a:solidFill>
              </a:rPr>
              <a:t>⚠</a:t>
            </a:r>
          </a:p>
        </p:txBody>
      </p:sp>
      <p:sp>
        <p:nvSpPr>
          <p:cNvPr id="19" name="TextBox 18"/>
          <p:cNvSpPr txBox="1"/>
          <p:nvPr/>
        </p:nvSpPr>
        <p:spPr>
          <a:xfrm>
            <a:off x="987552" y="4041648"/>
            <a:ext cx="4663440" cy="182880"/>
          </a:xfrm>
          <a:prstGeom prst="rect">
            <a:avLst/>
          </a:prstGeom>
          <a:noFill/>
        </p:spPr>
        <p:txBody>
          <a:bodyPr wrap="square">
            <a:spAutoFit/>
          </a:bodyPr>
          <a:lstStyle/>
          <a:p>
            <a:pPr algn="l"/>
            <a:r>
              <a:rPr sz="1000" b="0" i="0">
                <a:solidFill>
                  <a:srgbClr val="6A8AAA"/>
                </a:solidFill>
              </a:rPr>
              <a:t>数日後</a:t>
            </a:r>
          </a:p>
        </p:txBody>
      </p:sp>
      <p:sp>
        <p:nvSpPr>
          <p:cNvPr id="20" name="TextBox 19"/>
          <p:cNvSpPr txBox="1"/>
          <p:nvPr/>
        </p:nvSpPr>
        <p:spPr>
          <a:xfrm>
            <a:off x="987552" y="4206240"/>
            <a:ext cx="4663440" cy="274320"/>
          </a:xfrm>
          <a:prstGeom prst="rect">
            <a:avLst/>
          </a:prstGeom>
          <a:noFill/>
        </p:spPr>
        <p:txBody>
          <a:bodyPr wrap="square">
            <a:spAutoFit/>
          </a:bodyPr>
          <a:lstStyle/>
          <a:p>
            <a:pPr algn="l"/>
            <a:r>
              <a:rPr sz="1300" b="1" i="0">
                <a:solidFill>
                  <a:srgbClr val="FFFFFF"/>
                </a:solidFill>
              </a:rPr>
              <a:t>施設の「監視空白」継続</a:t>
            </a:r>
          </a:p>
        </p:txBody>
      </p:sp>
      <p:sp>
        <p:nvSpPr>
          <p:cNvPr id="21" name="TextBox 20"/>
          <p:cNvSpPr txBox="1"/>
          <p:nvPr/>
        </p:nvSpPr>
        <p:spPr>
          <a:xfrm>
            <a:off x="987552" y="4462272"/>
            <a:ext cx="4663440" cy="411480"/>
          </a:xfrm>
          <a:prstGeom prst="rect">
            <a:avLst/>
          </a:prstGeom>
          <a:noFill/>
        </p:spPr>
        <p:txBody>
          <a:bodyPr wrap="square">
            <a:spAutoFit/>
          </a:bodyPr>
          <a:lstStyle/>
          <a:p>
            <a:pPr algn="l"/>
            <a:r>
              <a:rPr sz="1150" b="0" i="0">
                <a:solidFill>
                  <a:srgbClr val="C0D4E8"/>
                </a:solidFill>
              </a:rPr>
              <a:t>不正侵入・火災の検知不能。顧客報告が困難に</a:t>
            </a:r>
          </a:p>
        </p:txBody>
      </p:sp>
      <p:sp>
        <p:nvSpPr>
          <p:cNvPr id="22" name="TextBox 21"/>
          <p:cNvSpPr txBox="1"/>
          <p:nvPr/>
        </p:nvSpPr>
        <p:spPr>
          <a:xfrm>
            <a:off x="6400800" y="1828800"/>
            <a:ext cx="5303520" cy="320040"/>
          </a:xfrm>
          <a:prstGeom prst="rect">
            <a:avLst/>
          </a:prstGeom>
          <a:noFill/>
        </p:spPr>
        <p:txBody>
          <a:bodyPr wrap="square">
            <a:spAutoFit/>
          </a:bodyPr>
          <a:lstStyle/>
          <a:p>
            <a:pPr algn="l"/>
            <a:r>
              <a:rPr sz="1400" b="1" i="0">
                <a:solidFill>
                  <a:srgbClr val="00D4AA"/>
                </a:solidFill>
              </a:rPr>
              <a:t>【提案後】Starlink冗長化 ― 災害時</a:t>
            </a:r>
          </a:p>
        </p:txBody>
      </p:sp>
      <p:sp>
        <p:nvSpPr>
          <p:cNvPr id="23" name="Rectangle 22"/>
          <p:cNvSpPr/>
          <p:nvPr/>
        </p:nvSpPr>
        <p:spPr>
          <a:xfrm>
            <a:off x="6400800" y="2212848"/>
            <a:ext cx="457200" cy="457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2212848"/>
            <a:ext cx="457200" cy="457200"/>
          </a:xfrm>
          <a:prstGeom prst="rect">
            <a:avLst/>
          </a:prstGeom>
          <a:noFill/>
        </p:spPr>
        <p:txBody>
          <a:bodyPr wrap="square">
            <a:spAutoFit/>
          </a:bodyPr>
          <a:lstStyle/>
          <a:p>
            <a:pPr algn="ctr"/>
            <a:r>
              <a:rPr sz="1800" b="0" i="0">
                <a:solidFill>
                  <a:srgbClr val="FFFFFF"/>
                </a:solidFill>
              </a:rPr>
              <a:t>🌀</a:t>
            </a:r>
          </a:p>
        </p:txBody>
      </p:sp>
      <p:sp>
        <p:nvSpPr>
          <p:cNvPr id="25" name="TextBox 24"/>
          <p:cNvSpPr txBox="1"/>
          <p:nvPr/>
        </p:nvSpPr>
        <p:spPr>
          <a:xfrm>
            <a:off x="6931152" y="2212848"/>
            <a:ext cx="4663440" cy="182880"/>
          </a:xfrm>
          <a:prstGeom prst="rect">
            <a:avLst/>
          </a:prstGeom>
          <a:noFill/>
        </p:spPr>
        <p:txBody>
          <a:bodyPr wrap="square">
            <a:spAutoFit/>
          </a:bodyPr>
          <a:lstStyle/>
          <a:p>
            <a:pPr algn="l"/>
            <a:r>
              <a:rPr sz="1000" b="0" i="0">
                <a:solidFill>
                  <a:srgbClr val="6A8AAA"/>
                </a:solidFill>
              </a:rPr>
              <a:t>発災</a:t>
            </a:r>
          </a:p>
        </p:txBody>
      </p:sp>
      <p:sp>
        <p:nvSpPr>
          <p:cNvPr id="26" name="TextBox 25"/>
          <p:cNvSpPr txBox="1"/>
          <p:nvPr/>
        </p:nvSpPr>
        <p:spPr>
          <a:xfrm>
            <a:off x="6931152" y="2377440"/>
            <a:ext cx="4663440" cy="274320"/>
          </a:xfrm>
          <a:prstGeom prst="rect">
            <a:avLst/>
          </a:prstGeom>
          <a:noFill/>
        </p:spPr>
        <p:txBody>
          <a:bodyPr wrap="square">
            <a:spAutoFit/>
          </a:bodyPr>
          <a:lstStyle/>
          <a:p>
            <a:pPr algn="l"/>
            <a:r>
              <a:rPr sz="1300" b="1" i="0">
                <a:solidFill>
                  <a:srgbClr val="FFFFFF"/>
                </a:solidFill>
              </a:rPr>
              <a:t>地震・台風発生</a:t>
            </a:r>
          </a:p>
        </p:txBody>
      </p:sp>
      <p:sp>
        <p:nvSpPr>
          <p:cNvPr id="27" name="TextBox 26"/>
          <p:cNvSpPr txBox="1"/>
          <p:nvPr/>
        </p:nvSpPr>
        <p:spPr>
          <a:xfrm>
            <a:off x="6931152" y="2633472"/>
            <a:ext cx="4663440" cy="411480"/>
          </a:xfrm>
          <a:prstGeom prst="rect">
            <a:avLst/>
          </a:prstGeom>
          <a:noFill/>
        </p:spPr>
        <p:txBody>
          <a:bodyPr wrap="square">
            <a:spAutoFit/>
          </a:bodyPr>
          <a:lstStyle/>
          <a:p>
            <a:pPr algn="l"/>
            <a:r>
              <a:rPr sz="1150" b="0" i="0">
                <a:solidFill>
                  <a:srgbClr val="C0D4E8"/>
                </a:solidFill>
              </a:rPr>
              <a:t>地上ケーブル切断を検知</a:t>
            </a:r>
          </a:p>
        </p:txBody>
      </p:sp>
      <p:sp>
        <p:nvSpPr>
          <p:cNvPr id="28" name="Rectangle 27"/>
          <p:cNvSpPr/>
          <p:nvPr/>
        </p:nvSpPr>
        <p:spPr>
          <a:xfrm>
            <a:off x="6400800" y="3127248"/>
            <a:ext cx="457200" cy="457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3127248"/>
            <a:ext cx="457200" cy="457200"/>
          </a:xfrm>
          <a:prstGeom prst="rect">
            <a:avLst/>
          </a:prstGeom>
          <a:noFill/>
        </p:spPr>
        <p:txBody>
          <a:bodyPr wrap="square">
            <a:spAutoFit/>
          </a:bodyPr>
          <a:lstStyle/>
          <a:p>
            <a:pPr algn="ctr"/>
            <a:r>
              <a:rPr sz="1800" b="0" i="0">
                <a:solidFill>
                  <a:srgbClr val="FFFFFF"/>
                </a:solidFill>
              </a:rPr>
              <a:t>⚡</a:t>
            </a:r>
          </a:p>
        </p:txBody>
      </p:sp>
      <p:sp>
        <p:nvSpPr>
          <p:cNvPr id="30" name="TextBox 29"/>
          <p:cNvSpPr txBox="1"/>
          <p:nvPr/>
        </p:nvSpPr>
        <p:spPr>
          <a:xfrm>
            <a:off x="6931152" y="3127248"/>
            <a:ext cx="4663440" cy="182880"/>
          </a:xfrm>
          <a:prstGeom prst="rect">
            <a:avLst/>
          </a:prstGeom>
          <a:noFill/>
        </p:spPr>
        <p:txBody>
          <a:bodyPr wrap="square">
            <a:spAutoFit/>
          </a:bodyPr>
          <a:lstStyle/>
          <a:p>
            <a:pPr algn="l"/>
            <a:r>
              <a:rPr sz="1000" b="0" i="0">
                <a:solidFill>
                  <a:srgbClr val="6A8AAA"/>
                </a:solidFill>
              </a:rPr>
              <a:t>数秒以内</a:t>
            </a:r>
          </a:p>
        </p:txBody>
      </p:sp>
      <p:sp>
        <p:nvSpPr>
          <p:cNvPr id="31" name="TextBox 30"/>
          <p:cNvSpPr txBox="1"/>
          <p:nvPr/>
        </p:nvSpPr>
        <p:spPr>
          <a:xfrm>
            <a:off x="6931152" y="3291840"/>
            <a:ext cx="4663440" cy="274320"/>
          </a:xfrm>
          <a:prstGeom prst="rect">
            <a:avLst/>
          </a:prstGeom>
          <a:noFill/>
        </p:spPr>
        <p:txBody>
          <a:bodyPr wrap="square">
            <a:spAutoFit/>
          </a:bodyPr>
          <a:lstStyle/>
          <a:p>
            <a:pPr algn="l"/>
            <a:r>
              <a:rPr sz="1300" b="1" i="0">
                <a:solidFill>
                  <a:srgbClr val="FFFFFF"/>
                </a:solidFill>
              </a:rPr>
              <a:t>Starlinkへ自動フェイルオーバー</a:t>
            </a:r>
          </a:p>
        </p:txBody>
      </p:sp>
      <p:sp>
        <p:nvSpPr>
          <p:cNvPr id="32" name="TextBox 31"/>
          <p:cNvSpPr txBox="1"/>
          <p:nvPr/>
        </p:nvSpPr>
        <p:spPr>
          <a:xfrm>
            <a:off x="6931152" y="3547872"/>
            <a:ext cx="4663440" cy="411480"/>
          </a:xfrm>
          <a:prstGeom prst="rect">
            <a:avLst/>
          </a:prstGeom>
          <a:noFill/>
        </p:spPr>
        <p:txBody>
          <a:bodyPr wrap="square">
            <a:spAutoFit/>
          </a:bodyPr>
          <a:lstStyle/>
          <a:p>
            <a:pPr algn="l"/>
            <a:r>
              <a:rPr sz="1150" b="0" i="0">
                <a:solidFill>
                  <a:srgbClr val="C0D4E8"/>
                </a:solidFill>
              </a:rPr>
              <a:t>ルーターが自動切替。警備通信が継続</a:t>
            </a:r>
          </a:p>
        </p:txBody>
      </p:sp>
      <p:sp>
        <p:nvSpPr>
          <p:cNvPr id="33" name="Rectangle 32"/>
          <p:cNvSpPr/>
          <p:nvPr/>
        </p:nvSpPr>
        <p:spPr>
          <a:xfrm>
            <a:off x="6400800" y="4041648"/>
            <a:ext cx="457200" cy="457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4041648"/>
            <a:ext cx="457200" cy="457200"/>
          </a:xfrm>
          <a:prstGeom prst="rect">
            <a:avLst/>
          </a:prstGeom>
          <a:noFill/>
        </p:spPr>
        <p:txBody>
          <a:bodyPr wrap="square">
            <a:spAutoFit/>
          </a:bodyPr>
          <a:lstStyle/>
          <a:p>
            <a:pPr algn="ctr"/>
            <a:r>
              <a:rPr sz="1800" b="0" i="0">
                <a:solidFill>
                  <a:srgbClr val="FFFFFF"/>
                </a:solidFill>
              </a:rPr>
              <a:t>🛡</a:t>
            </a:r>
          </a:p>
        </p:txBody>
      </p:sp>
      <p:sp>
        <p:nvSpPr>
          <p:cNvPr id="35" name="TextBox 34"/>
          <p:cNvSpPr txBox="1"/>
          <p:nvPr/>
        </p:nvSpPr>
        <p:spPr>
          <a:xfrm>
            <a:off x="6931152" y="4041648"/>
            <a:ext cx="4663440" cy="182880"/>
          </a:xfrm>
          <a:prstGeom prst="rect">
            <a:avLst/>
          </a:prstGeom>
          <a:noFill/>
        </p:spPr>
        <p:txBody>
          <a:bodyPr wrap="square">
            <a:spAutoFit/>
          </a:bodyPr>
          <a:lstStyle/>
          <a:p>
            <a:pPr algn="l"/>
            <a:r>
              <a:rPr sz="1000" b="0" i="0">
                <a:solidFill>
                  <a:srgbClr val="6A8AAA"/>
                </a:solidFill>
              </a:rPr>
              <a:t>継続</a:t>
            </a:r>
          </a:p>
        </p:txBody>
      </p:sp>
      <p:sp>
        <p:nvSpPr>
          <p:cNvPr id="36" name="TextBox 35"/>
          <p:cNvSpPr txBox="1"/>
          <p:nvPr/>
        </p:nvSpPr>
        <p:spPr>
          <a:xfrm>
            <a:off x="6931152" y="4206240"/>
            <a:ext cx="4663440" cy="274320"/>
          </a:xfrm>
          <a:prstGeom prst="rect">
            <a:avLst/>
          </a:prstGeom>
          <a:noFill/>
        </p:spPr>
        <p:txBody>
          <a:bodyPr wrap="square">
            <a:spAutoFit/>
          </a:bodyPr>
          <a:lstStyle/>
          <a:p>
            <a:pPr algn="l"/>
            <a:r>
              <a:rPr sz="1300" b="1" i="0">
                <a:solidFill>
                  <a:srgbClr val="FFFFFF"/>
                </a:solidFill>
              </a:rPr>
              <a:t>監視・通報機能が維持</a:t>
            </a:r>
          </a:p>
        </p:txBody>
      </p:sp>
      <p:sp>
        <p:nvSpPr>
          <p:cNvPr id="37" name="TextBox 36"/>
          <p:cNvSpPr txBox="1"/>
          <p:nvPr/>
        </p:nvSpPr>
        <p:spPr>
          <a:xfrm>
            <a:off x="6931152" y="4462272"/>
            <a:ext cx="4663440" cy="411480"/>
          </a:xfrm>
          <a:prstGeom prst="rect">
            <a:avLst/>
          </a:prstGeom>
          <a:noFill/>
        </p:spPr>
        <p:txBody>
          <a:bodyPr wrap="square">
            <a:spAutoFit/>
          </a:bodyPr>
          <a:lstStyle/>
          <a:p>
            <a:pPr algn="l"/>
            <a:r>
              <a:rPr sz="1150" b="0" i="0">
                <a:solidFill>
                  <a:srgbClr val="C0D4E8"/>
                </a:solidFill>
              </a:rPr>
              <a:t>映像・センサー・緊急通報がすべて継続稼働</a:t>
            </a:r>
          </a:p>
        </p:txBody>
      </p:sp>
      <p:sp>
        <p:nvSpPr>
          <p:cNvPr id="38" name="TextBox 37"/>
          <p:cNvSpPr txBox="1"/>
          <p:nvPr/>
        </p:nvSpPr>
        <p:spPr>
          <a:xfrm>
            <a:off x="5486400" y="3108960"/>
            <a:ext cx="822960" cy="822960"/>
          </a:xfrm>
          <a:prstGeom prst="rect">
            <a:avLst/>
          </a:prstGeom>
          <a:noFill/>
        </p:spPr>
        <p:txBody>
          <a:bodyPr wrap="square">
            <a:spAutoFit/>
          </a:bodyPr>
          <a:lstStyle/>
          <a:p>
            <a:pPr algn="ctr"/>
            <a:r>
              <a:rPr sz="2200" b="1" i="0">
                <a:solidFill>
                  <a:srgbClr val="6A8AAA"/>
                </a:solidFill>
              </a:rPr>
              <a:t>VS</a:t>
            </a:r>
          </a:p>
        </p:txBody>
      </p:sp>
      <p:sp>
        <p:nvSpPr>
          <p:cNvPr id="39" name="Rectangle 38"/>
          <p:cNvSpPr/>
          <p:nvPr/>
        </p:nvSpPr>
        <p:spPr>
          <a:xfrm>
            <a:off x="457200" y="5440680"/>
            <a:ext cx="11247120" cy="777240"/>
          </a:xfrm>
          <a:prstGeom prst="rect">
            <a:avLst/>
          </a:prstGeom>
          <a:solidFill>
            <a:srgbClr val="0A1E32"/>
          </a:solidFill>
          <a:ln w="1905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5577840"/>
            <a:ext cx="10881360" cy="320040"/>
          </a:xfrm>
          <a:prstGeom prst="rect">
            <a:avLst/>
          </a:prstGeom>
          <a:noFill/>
        </p:spPr>
        <p:txBody>
          <a:bodyPr wrap="square">
            <a:spAutoFit/>
          </a:bodyPr>
          <a:lstStyle/>
          <a:p>
            <a:pPr algn="l"/>
            <a:r>
              <a:rPr sz="1400" b="1" i="0">
                <a:solidFill>
                  <a:srgbClr val="00A8FF"/>
                </a:solidFill>
              </a:rPr>
              <a:t>🔑 対応可能な警備システム</a:t>
            </a:r>
          </a:p>
        </p:txBody>
      </p:sp>
      <p:sp>
        <p:nvSpPr>
          <p:cNvPr id="41" name="TextBox 40"/>
          <p:cNvSpPr txBox="1"/>
          <p:nvPr/>
        </p:nvSpPr>
        <p:spPr>
          <a:xfrm>
            <a:off x="640080" y="5897880"/>
            <a:ext cx="10881360" cy="228600"/>
          </a:xfrm>
          <a:prstGeom prst="rect">
            <a:avLst/>
          </a:prstGeom>
          <a:noFill/>
        </p:spPr>
        <p:txBody>
          <a:bodyPr wrap="square">
            <a:spAutoFit/>
          </a:bodyPr>
          <a:lstStyle/>
          <a:p>
            <a:pPr algn="l"/>
            <a:r>
              <a:rPr sz="1250" b="0" i="0">
                <a:solidFill>
                  <a:srgbClr val="C0D4E8"/>
                </a:solidFill>
              </a:rPr>
              <a:t>映像監視（IP-CAM / HD・4K）　入退室管理システム　侵入センサー・火災報知連携　警備員携帯端末（PTT/VoIP）　緊急通報システム</a:t>
            </a:r>
          </a:p>
        </p:txBody>
      </p:sp>
      <p:sp>
        <p:nvSpPr>
          <p:cNvPr id="42" name="TextBox 41"/>
          <p:cNvSpPr txBox="1"/>
          <p:nvPr/>
        </p:nvSpPr>
        <p:spPr>
          <a:xfrm>
            <a:off x="10817352" y="6446520"/>
            <a:ext cx="1188720" cy="274320"/>
          </a:xfrm>
          <a:prstGeom prst="rect">
            <a:avLst/>
          </a:prstGeom>
          <a:noFill/>
        </p:spPr>
        <p:txBody>
          <a:bodyPr wrap="square">
            <a:spAutoFit/>
          </a:bodyPr>
          <a:lstStyle/>
          <a:p>
            <a:pPr algn="r"/>
            <a:r>
              <a:rPr sz="1100" b="0" i="0">
                <a:solidFill>
                  <a:srgbClr val="6A8AAA"/>
                </a:solidFill>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234440"/>
            <a:ext cx="73152" cy="347472"/>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43000"/>
            <a:ext cx="10789920" cy="457200"/>
          </a:xfrm>
          <a:prstGeom prst="rect">
            <a:avLst/>
          </a:prstGeom>
          <a:noFill/>
        </p:spPr>
        <p:txBody>
          <a:bodyPr wrap="square">
            <a:spAutoFit/>
          </a:bodyPr>
          <a:lstStyle/>
          <a:p>
            <a:pPr algn="l"/>
            <a:r>
              <a:rPr sz="2200" b="1" i="0">
                <a:solidFill>
                  <a:srgbClr val="FFFFFF"/>
                </a:solidFill>
              </a:rPr>
              <a:t>推奨システム構成 ― ハイブリッド冗長化モデル</a:t>
            </a:r>
          </a:p>
        </p:txBody>
      </p:sp>
      <p:sp>
        <p:nvSpPr>
          <p:cNvPr id="5" name="Rectangle 4"/>
          <p:cNvSpPr/>
          <p:nvPr/>
        </p:nvSpPr>
        <p:spPr>
          <a:xfrm>
            <a:off x="548640" y="1645920"/>
            <a:ext cx="11064240" cy="1905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874519"/>
            <a:ext cx="5029200" cy="274320"/>
          </a:xfrm>
          <a:prstGeom prst="rect">
            <a:avLst/>
          </a:prstGeom>
          <a:noFill/>
        </p:spPr>
        <p:txBody>
          <a:bodyPr wrap="square">
            <a:spAutoFit/>
          </a:bodyPr>
          <a:lstStyle/>
          <a:p>
            <a:pPr algn="l"/>
            <a:r>
              <a:rPr sz="1200" b="0" i="0">
                <a:solidFill>
                  <a:srgbClr val="6A8AAA"/>
                </a:solidFill>
              </a:rPr>
              <a:t>【平常時：地上回線メイン】</a:t>
            </a:r>
          </a:p>
        </p:txBody>
      </p:sp>
      <p:sp>
        <p:nvSpPr>
          <p:cNvPr id="7" name="Rectangle 6"/>
          <p:cNvSpPr/>
          <p:nvPr/>
        </p:nvSpPr>
        <p:spPr>
          <a:xfrm>
            <a:off x="548640" y="2194560"/>
            <a:ext cx="4754880" cy="457200"/>
          </a:xfrm>
          <a:prstGeom prst="rect">
            <a:avLst/>
          </a:prstGeom>
          <a:solidFill>
            <a:srgbClr val="081828"/>
          </a:solidFill>
          <a:ln w="1524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267712"/>
            <a:ext cx="4663440" cy="320040"/>
          </a:xfrm>
          <a:prstGeom prst="rect">
            <a:avLst/>
          </a:prstGeom>
          <a:noFill/>
        </p:spPr>
        <p:txBody>
          <a:bodyPr wrap="square">
            <a:spAutoFit/>
          </a:bodyPr>
          <a:lstStyle/>
          <a:p>
            <a:pPr algn="ctr"/>
            <a:r>
              <a:rPr sz="1200" b="1" i="0">
                <a:solidFill>
                  <a:srgbClr val="00A8FF"/>
                </a:solidFill>
              </a:rPr>
              <a:t>🏢 データセンター 警備LAN</a:t>
            </a:r>
          </a:p>
        </p:txBody>
      </p:sp>
      <p:sp>
        <p:nvSpPr>
          <p:cNvPr id="9" name="Rectangle 8"/>
          <p:cNvSpPr/>
          <p:nvPr/>
        </p:nvSpPr>
        <p:spPr>
          <a:xfrm>
            <a:off x="548640" y="2761488"/>
            <a:ext cx="4754880" cy="457200"/>
          </a:xfrm>
          <a:prstGeom prst="rect">
            <a:avLst/>
          </a:prstGeom>
          <a:solidFill>
            <a:srgbClr val="081828"/>
          </a:solidFill>
          <a:ln w="1524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834640"/>
            <a:ext cx="4663440" cy="320040"/>
          </a:xfrm>
          <a:prstGeom prst="rect">
            <a:avLst/>
          </a:prstGeom>
          <a:noFill/>
        </p:spPr>
        <p:txBody>
          <a:bodyPr wrap="square">
            <a:spAutoFit/>
          </a:bodyPr>
          <a:lstStyle/>
          <a:p>
            <a:pPr algn="ctr"/>
            <a:r>
              <a:rPr sz="1200" b="1" i="0">
                <a:solidFill>
                  <a:srgbClr val="00A8FF"/>
                </a:solidFill>
              </a:rPr>
              <a:t>🔀 冗長化ルーター（自動切替機能）</a:t>
            </a:r>
          </a:p>
        </p:txBody>
      </p:sp>
      <p:sp>
        <p:nvSpPr>
          <p:cNvPr id="11" name="Rectangle 10"/>
          <p:cNvSpPr/>
          <p:nvPr/>
        </p:nvSpPr>
        <p:spPr>
          <a:xfrm>
            <a:off x="548640" y="3328416"/>
            <a:ext cx="4754880" cy="457200"/>
          </a:xfrm>
          <a:prstGeom prst="rect">
            <a:avLst/>
          </a:prstGeom>
          <a:solidFill>
            <a:srgbClr val="081828"/>
          </a:solidFill>
          <a:ln w="1524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401568"/>
            <a:ext cx="4663440" cy="320040"/>
          </a:xfrm>
          <a:prstGeom prst="rect">
            <a:avLst/>
          </a:prstGeom>
          <a:noFill/>
        </p:spPr>
        <p:txBody>
          <a:bodyPr wrap="square">
            <a:spAutoFit/>
          </a:bodyPr>
          <a:lstStyle/>
          <a:p>
            <a:pPr algn="ctr"/>
            <a:r>
              <a:rPr sz="1200" b="1" i="0">
                <a:solidFill>
                  <a:srgbClr val="FF6B35"/>
                </a:solidFill>
              </a:rPr>
              <a:t>🔌 地上光回線（既存インフラ）</a:t>
            </a:r>
          </a:p>
        </p:txBody>
      </p:sp>
      <p:sp>
        <p:nvSpPr>
          <p:cNvPr id="13" name="Rectangle 12"/>
          <p:cNvSpPr/>
          <p:nvPr/>
        </p:nvSpPr>
        <p:spPr>
          <a:xfrm>
            <a:off x="548640" y="3895344"/>
            <a:ext cx="4754880" cy="457200"/>
          </a:xfrm>
          <a:prstGeom prst="rect">
            <a:avLst/>
          </a:prstGeom>
          <a:solidFill>
            <a:srgbClr val="081828"/>
          </a:solidFill>
          <a:ln w="1524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968496"/>
            <a:ext cx="4663440" cy="320040"/>
          </a:xfrm>
          <a:prstGeom prst="rect">
            <a:avLst/>
          </a:prstGeom>
          <a:noFill/>
        </p:spPr>
        <p:txBody>
          <a:bodyPr wrap="square">
            <a:spAutoFit/>
          </a:bodyPr>
          <a:lstStyle/>
          <a:p>
            <a:pPr algn="ctr"/>
            <a:r>
              <a:rPr sz="1200" b="1" i="0">
                <a:solidFill>
                  <a:srgbClr val="00D4AA"/>
                </a:solidFill>
              </a:rPr>
              <a:t>🖥  警備センター 監視システム</a:t>
            </a:r>
          </a:p>
        </p:txBody>
      </p:sp>
      <p:sp>
        <p:nvSpPr>
          <p:cNvPr id="15" name="TextBox 14"/>
          <p:cNvSpPr txBox="1"/>
          <p:nvPr/>
        </p:nvSpPr>
        <p:spPr>
          <a:xfrm>
            <a:off x="5486400" y="2926080"/>
            <a:ext cx="1005840" cy="914400"/>
          </a:xfrm>
          <a:prstGeom prst="rect">
            <a:avLst/>
          </a:prstGeom>
          <a:noFill/>
        </p:spPr>
        <p:txBody>
          <a:bodyPr wrap="square">
            <a:spAutoFit/>
          </a:bodyPr>
          <a:lstStyle/>
          <a:p>
            <a:pPr algn="ctr"/>
            <a:r>
              <a:rPr sz="1200" b="0" i="0">
                <a:solidFill>
                  <a:srgbClr val="6A8AAA"/>
                </a:solidFill>
              </a:rPr>
              <a:t>⟷
障害発生時
自動切替</a:t>
            </a:r>
          </a:p>
        </p:txBody>
      </p:sp>
      <p:sp>
        <p:nvSpPr>
          <p:cNvPr id="16" name="TextBox 15"/>
          <p:cNvSpPr txBox="1"/>
          <p:nvPr/>
        </p:nvSpPr>
        <p:spPr>
          <a:xfrm>
            <a:off x="6583680" y="1874519"/>
            <a:ext cx="5029200" cy="274320"/>
          </a:xfrm>
          <a:prstGeom prst="rect">
            <a:avLst/>
          </a:prstGeom>
          <a:noFill/>
        </p:spPr>
        <p:txBody>
          <a:bodyPr wrap="square">
            <a:spAutoFit/>
          </a:bodyPr>
          <a:lstStyle/>
          <a:p>
            <a:pPr algn="l"/>
            <a:r>
              <a:rPr sz="1200" b="0" i="0">
                <a:solidFill>
                  <a:srgbClr val="00D4AA"/>
                </a:solidFill>
              </a:rPr>
              <a:t>【障害時：Starlinkへ自動切替】</a:t>
            </a:r>
          </a:p>
        </p:txBody>
      </p:sp>
      <p:sp>
        <p:nvSpPr>
          <p:cNvPr id="17" name="Rectangle 16"/>
          <p:cNvSpPr/>
          <p:nvPr/>
        </p:nvSpPr>
        <p:spPr>
          <a:xfrm>
            <a:off x="6675120" y="2194560"/>
            <a:ext cx="4754880" cy="457200"/>
          </a:xfrm>
          <a:prstGeom prst="rect">
            <a:avLst/>
          </a:prstGeom>
          <a:solidFill>
            <a:srgbClr val="081828"/>
          </a:solidFill>
          <a:ln w="1524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40" y="2267712"/>
            <a:ext cx="4663440" cy="320040"/>
          </a:xfrm>
          <a:prstGeom prst="rect">
            <a:avLst/>
          </a:prstGeom>
          <a:noFill/>
        </p:spPr>
        <p:txBody>
          <a:bodyPr wrap="square">
            <a:spAutoFit/>
          </a:bodyPr>
          <a:lstStyle/>
          <a:p>
            <a:pPr algn="ctr"/>
            <a:r>
              <a:rPr sz="1200" b="1" i="0">
                <a:solidFill>
                  <a:srgbClr val="00A8FF"/>
                </a:solidFill>
              </a:rPr>
              <a:t>🏢 データセンター 警備LAN</a:t>
            </a:r>
          </a:p>
        </p:txBody>
      </p:sp>
      <p:sp>
        <p:nvSpPr>
          <p:cNvPr id="19" name="Rectangle 18"/>
          <p:cNvSpPr/>
          <p:nvPr/>
        </p:nvSpPr>
        <p:spPr>
          <a:xfrm>
            <a:off x="6675120" y="2761488"/>
            <a:ext cx="4754880" cy="457200"/>
          </a:xfrm>
          <a:prstGeom prst="rect">
            <a:avLst/>
          </a:prstGeom>
          <a:solidFill>
            <a:srgbClr val="081828"/>
          </a:solidFill>
          <a:ln w="1524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2834640"/>
            <a:ext cx="4663440" cy="320040"/>
          </a:xfrm>
          <a:prstGeom prst="rect">
            <a:avLst/>
          </a:prstGeom>
          <a:noFill/>
        </p:spPr>
        <p:txBody>
          <a:bodyPr wrap="square">
            <a:spAutoFit/>
          </a:bodyPr>
          <a:lstStyle/>
          <a:p>
            <a:pPr algn="ctr"/>
            <a:r>
              <a:rPr sz="1200" b="1" i="0">
                <a:solidFill>
                  <a:srgbClr val="00A8FF"/>
                </a:solidFill>
              </a:rPr>
              <a:t>🔀 冗長化ルーター（フェイルオーバー発動）</a:t>
            </a:r>
          </a:p>
        </p:txBody>
      </p:sp>
      <p:sp>
        <p:nvSpPr>
          <p:cNvPr id="21" name="Rectangle 20"/>
          <p:cNvSpPr/>
          <p:nvPr/>
        </p:nvSpPr>
        <p:spPr>
          <a:xfrm>
            <a:off x="6675120" y="3328416"/>
            <a:ext cx="4754880" cy="457200"/>
          </a:xfrm>
          <a:prstGeom prst="rect">
            <a:avLst/>
          </a:prstGeom>
          <a:solidFill>
            <a:srgbClr val="081828"/>
          </a:solidFill>
          <a:ln w="1524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3401568"/>
            <a:ext cx="4663440" cy="320040"/>
          </a:xfrm>
          <a:prstGeom prst="rect">
            <a:avLst/>
          </a:prstGeom>
          <a:noFill/>
        </p:spPr>
        <p:txBody>
          <a:bodyPr wrap="square">
            <a:spAutoFit/>
          </a:bodyPr>
          <a:lstStyle/>
          <a:p>
            <a:pPr algn="ctr"/>
            <a:r>
              <a:rPr sz="1200" b="1" i="0">
                <a:solidFill>
                  <a:srgbClr val="00D4AA"/>
                </a:solidFill>
              </a:rPr>
              <a:t>📡 au Starlink（衛星経由で接続維持）</a:t>
            </a:r>
          </a:p>
        </p:txBody>
      </p:sp>
      <p:sp>
        <p:nvSpPr>
          <p:cNvPr id="23" name="Rectangle 22"/>
          <p:cNvSpPr/>
          <p:nvPr/>
        </p:nvSpPr>
        <p:spPr>
          <a:xfrm>
            <a:off x="6675120" y="3895344"/>
            <a:ext cx="4754880" cy="457200"/>
          </a:xfrm>
          <a:prstGeom prst="rect">
            <a:avLst/>
          </a:prstGeom>
          <a:solidFill>
            <a:srgbClr val="081828"/>
          </a:solidFill>
          <a:ln w="1524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3968496"/>
            <a:ext cx="4663440" cy="320040"/>
          </a:xfrm>
          <a:prstGeom prst="rect">
            <a:avLst/>
          </a:prstGeom>
          <a:noFill/>
        </p:spPr>
        <p:txBody>
          <a:bodyPr wrap="square">
            <a:spAutoFit/>
          </a:bodyPr>
          <a:lstStyle/>
          <a:p>
            <a:pPr algn="ctr"/>
            <a:r>
              <a:rPr sz="1200" b="1" i="0">
                <a:solidFill>
                  <a:srgbClr val="00D4AA"/>
                </a:solidFill>
              </a:rPr>
              <a:t>🖥  警備センター 監視システム</a:t>
            </a:r>
          </a:p>
        </p:txBody>
      </p:sp>
      <p:sp>
        <p:nvSpPr>
          <p:cNvPr id="25" name="Rectangle 24"/>
          <p:cNvSpPr/>
          <p:nvPr/>
        </p:nvSpPr>
        <p:spPr>
          <a:xfrm>
            <a:off x="457200" y="5257800"/>
            <a:ext cx="3611880" cy="132588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5422392"/>
            <a:ext cx="3209544" cy="320040"/>
          </a:xfrm>
          <a:prstGeom prst="rect">
            <a:avLst/>
          </a:prstGeom>
          <a:noFill/>
        </p:spPr>
        <p:txBody>
          <a:bodyPr wrap="square">
            <a:spAutoFit/>
          </a:bodyPr>
          <a:lstStyle/>
          <a:p>
            <a:pPr algn="l"/>
            <a:r>
              <a:rPr sz="1400" b="1" i="0">
                <a:solidFill>
                  <a:srgbClr val="00A8FF"/>
                </a:solidFill>
              </a:rPr>
              <a:t>🔀 冗長化ルーター</a:t>
            </a:r>
          </a:p>
        </p:txBody>
      </p:sp>
      <p:sp>
        <p:nvSpPr>
          <p:cNvPr id="27" name="TextBox 26"/>
          <p:cNvSpPr txBox="1"/>
          <p:nvPr/>
        </p:nvSpPr>
        <p:spPr>
          <a:xfrm>
            <a:off x="658368" y="5769864"/>
            <a:ext cx="3209544" cy="685800"/>
          </a:xfrm>
          <a:prstGeom prst="rect">
            <a:avLst/>
          </a:prstGeom>
          <a:noFill/>
        </p:spPr>
        <p:txBody>
          <a:bodyPr wrap="square">
            <a:spAutoFit/>
          </a:bodyPr>
          <a:lstStyle/>
          <a:p>
            <a:pPr algn="l"/>
            <a:r>
              <a:rPr sz="1200" b="0" i="0">
                <a:solidFill>
                  <a:srgbClr val="C0D4E8"/>
                </a:solidFill>
              </a:rPr>
              <a:t>WAN2ポート対応ルーター（Peplink/FortiGate等）により自動管理。切替時間は5〜30秒。</a:t>
            </a:r>
          </a:p>
        </p:txBody>
      </p:sp>
      <p:sp>
        <p:nvSpPr>
          <p:cNvPr id="28" name="Rectangle 27"/>
          <p:cNvSpPr/>
          <p:nvPr/>
        </p:nvSpPr>
        <p:spPr>
          <a:xfrm>
            <a:off x="4270248" y="5257800"/>
            <a:ext cx="3611880" cy="132588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71416" y="5422392"/>
            <a:ext cx="3209544" cy="320040"/>
          </a:xfrm>
          <a:prstGeom prst="rect">
            <a:avLst/>
          </a:prstGeom>
          <a:noFill/>
        </p:spPr>
        <p:txBody>
          <a:bodyPr wrap="square">
            <a:spAutoFit/>
          </a:bodyPr>
          <a:lstStyle/>
          <a:p>
            <a:pPr algn="l"/>
            <a:r>
              <a:rPr sz="1400" b="1" i="0">
                <a:solidFill>
                  <a:srgbClr val="00A8FF"/>
                </a:solidFill>
              </a:rPr>
              <a:t>📡 Starlink端末設置</a:t>
            </a:r>
          </a:p>
        </p:txBody>
      </p:sp>
      <p:sp>
        <p:nvSpPr>
          <p:cNvPr id="30" name="TextBox 29"/>
          <p:cNvSpPr txBox="1"/>
          <p:nvPr/>
        </p:nvSpPr>
        <p:spPr>
          <a:xfrm>
            <a:off x="4471416" y="5769864"/>
            <a:ext cx="3209544" cy="685800"/>
          </a:xfrm>
          <a:prstGeom prst="rect">
            <a:avLst/>
          </a:prstGeom>
          <a:noFill/>
        </p:spPr>
        <p:txBody>
          <a:bodyPr wrap="square">
            <a:spAutoFit/>
          </a:bodyPr>
          <a:lstStyle/>
          <a:p>
            <a:pPr algn="l"/>
            <a:r>
              <a:rPr sz="1200" b="0" i="0">
                <a:solidFill>
                  <a:srgbClr val="C0D4E8"/>
                </a:solidFill>
              </a:rPr>
              <a:t>屋上または外壁に設置。直径約60cmのFlat HPアンテナで安定稼働。</a:t>
            </a:r>
          </a:p>
        </p:txBody>
      </p:sp>
      <p:sp>
        <p:nvSpPr>
          <p:cNvPr id="31" name="Rectangle 30"/>
          <p:cNvSpPr/>
          <p:nvPr/>
        </p:nvSpPr>
        <p:spPr>
          <a:xfrm>
            <a:off x="8083296" y="5257800"/>
            <a:ext cx="3611880" cy="132588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84464" y="5422392"/>
            <a:ext cx="3209544" cy="320040"/>
          </a:xfrm>
          <a:prstGeom prst="rect">
            <a:avLst/>
          </a:prstGeom>
          <a:noFill/>
        </p:spPr>
        <p:txBody>
          <a:bodyPr wrap="square">
            <a:spAutoFit/>
          </a:bodyPr>
          <a:lstStyle/>
          <a:p>
            <a:pPr algn="l"/>
            <a:r>
              <a:rPr sz="1400" b="1" i="0">
                <a:solidFill>
                  <a:srgbClr val="00A8FF"/>
                </a:solidFill>
              </a:rPr>
              <a:t>🔋 UPS連携</a:t>
            </a:r>
          </a:p>
        </p:txBody>
      </p:sp>
      <p:sp>
        <p:nvSpPr>
          <p:cNvPr id="33" name="TextBox 32"/>
          <p:cNvSpPr txBox="1"/>
          <p:nvPr/>
        </p:nvSpPr>
        <p:spPr>
          <a:xfrm>
            <a:off x="8284464" y="5769864"/>
            <a:ext cx="3209544" cy="685800"/>
          </a:xfrm>
          <a:prstGeom prst="rect">
            <a:avLst/>
          </a:prstGeom>
          <a:noFill/>
        </p:spPr>
        <p:txBody>
          <a:bodyPr wrap="square">
            <a:spAutoFit/>
          </a:bodyPr>
          <a:lstStyle/>
          <a:p>
            <a:pPr algn="l"/>
            <a:r>
              <a:rPr sz="1200" b="0" i="0">
                <a:solidFill>
                  <a:srgbClr val="C0D4E8"/>
                </a:solidFill>
              </a:rPr>
              <a:t>Starlink端末・ルーターをUPSに接続し、停電時も数時間の通信継続を確保。</a:t>
            </a:r>
          </a:p>
        </p:txBody>
      </p:sp>
      <p:sp>
        <p:nvSpPr>
          <p:cNvPr id="34" name="TextBox 33"/>
          <p:cNvSpPr txBox="1"/>
          <p:nvPr/>
        </p:nvSpPr>
        <p:spPr>
          <a:xfrm>
            <a:off x="10817352" y="6446520"/>
            <a:ext cx="1188720" cy="274320"/>
          </a:xfrm>
          <a:prstGeom prst="rect">
            <a:avLst/>
          </a:prstGeom>
          <a:noFill/>
        </p:spPr>
        <p:txBody>
          <a:bodyPr wrap="square">
            <a:spAutoFit/>
          </a:bodyPr>
          <a:lstStyle/>
          <a:p>
            <a:pPr algn="r"/>
            <a:r>
              <a:rPr sz="1100" b="0" i="0">
                <a:solidFill>
                  <a:srgbClr val="6A8AAA"/>
                </a:solidFill>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234440"/>
            <a:ext cx="73152" cy="347472"/>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43000"/>
            <a:ext cx="10789920" cy="457200"/>
          </a:xfrm>
          <a:prstGeom prst="rect">
            <a:avLst/>
          </a:prstGeom>
          <a:noFill/>
        </p:spPr>
        <p:txBody>
          <a:bodyPr wrap="square">
            <a:spAutoFit/>
          </a:bodyPr>
          <a:lstStyle/>
          <a:p>
            <a:pPr algn="l"/>
            <a:r>
              <a:rPr sz="2200" b="1" i="0">
                <a:solidFill>
                  <a:srgbClr val="FFFFFF"/>
                </a:solidFill>
              </a:rPr>
              <a:t>スマホ警備ホットライン ― au Starlink Wi-Fi接続で常時つながる</a:t>
            </a:r>
          </a:p>
        </p:txBody>
      </p:sp>
      <p:sp>
        <p:nvSpPr>
          <p:cNvPr id="5" name="Rectangle 4"/>
          <p:cNvSpPr/>
          <p:nvPr/>
        </p:nvSpPr>
        <p:spPr>
          <a:xfrm>
            <a:off x="548640" y="1645920"/>
            <a:ext cx="11064240" cy="1905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5303520" cy="475488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920240"/>
            <a:ext cx="5303520" cy="274320"/>
          </a:xfrm>
          <a:prstGeom prst="rect">
            <a:avLst/>
          </a:prstGeom>
          <a:noFill/>
        </p:spPr>
        <p:txBody>
          <a:bodyPr wrap="square">
            <a:spAutoFit/>
          </a:bodyPr>
          <a:lstStyle/>
          <a:p>
            <a:pPr algn="ctr"/>
            <a:r>
              <a:rPr sz="1100" b="0" i="0">
                <a:solidFill>
                  <a:srgbClr val="6A8AAA"/>
                </a:solidFill>
              </a:rPr>
              <a:t>ホットライン構成図</a:t>
            </a:r>
          </a:p>
        </p:txBody>
      </p:sp>
      <p:sp>
        <p:nvSpPr>
          <p:cNvPr id="8" name="Rectangle 7"/>
          <p:cNvSpPr/>
          <p:nvPr/>
        </p:nvSpPr>
        <p:spPr>
          <a:xfrm>
            <a:off x="822960" y="2331720"/>
            <a:ext cx="4480560" cy="411480"/>
          </a:xfrm>
          <a:prstGeom prst="rect">
            <a:avLst/>
          </a:prstGeom>
          <a:solidFill>
            <a:srgbClr val="081828"/>
          </a:solidFill>
          <a:ln w="1524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386584"/>
            <a:ext cx="4389120" cy="301752"/>
          </a:xfrm>
          <a:prstGeom prst="rect">
            <a:avLst/>
          </a:prstGeom>
          <a:noFill/>
        </p:spPr>
        <p:txBody>
          <a:bodyPr wrap="square">
            <a:spAutoFit/>
          </a:bodyPr>
          <a:lstStyle/>
          <a:p>
            <a:pPr algn="ctr"/>
            <a:r>
              <a:rPr sz="1200" b="1" i="0">
                <a:solidFill>
                  <a:srgbClr val="00A8FF"/>
                </a:solidFill>
              </a:rPr>
              <a:t>📱 警備員スマホ（au回線 or Wi-Fi）</a:t>
            </a:r>
          </a:p>
        </p:txBody>
      </p:sp>
      <p:sp>
        <p:nvSpPr>
          <p:cNvPr id="10" name="Rectangle 9"/>
          <p:cNvSpPr/>
          <p:nvPr/>
        </p:nvSpPr>
        <p:spPr>
          <a:xfrm>
            <a:off x="822960" y="2898648"/>
            <a:ext cx="4480560" cy="411480"/>
          </a:xfrm>
          <a:prstGeom prst="rect">
            <a:avLst/>
          </a:prstGeom>
          <a:solidFill>
            <a:srgbClr val="081828"/>
          </a:solidFill>
          <a:ln w="1524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53512"/>
            <a:ext cx="4389120" cy="301752"/>
          </a:xfrm>
          <a:prstGeom prst="rect">
            <a:avLst/>
          </a:prstGeom>
          <a:noFill/>
        </p:spPr>
        <p:txBody>
          <a:bodyPr wrap="square">
            <a:spAutoFit/>
          </a:bodyPr>
          <a:lstStyle/>
          <a:p>
            <a:pPr algn="ctr"/>
            <a:r>
              <a:rPr sz="1200" b="1" i="0">
                <a:solidFill>
                  <a:srgbClr val="00A8FF"/>
                </a:solidFill>
              </a:rPr>
              <a:t>📡 Starlinkアンテナ（データセンター）</a:t>
            </a:r>
          </a:p>
        </p:txBody>
      </p:sp>
      <p:sp>
        <p:nvSpPr>
          <p:cNvPr id="12" name="Rectangle 11"/>
          <p:cNvSpPr/>
          <p:nvPr/>
        </p:nvSpPr>
        <p:spPr>
          <a:xfrm>
            <a:off x="822960" y="3465576"/>
            <a:ext cx="4480560" cy="411480"/>
          </a:xfrm>
          <a:prstGeom prst="rect">
            <a:avLst/>
          </a:prstGeom>
          <a:solidFill>
            <a:srgbClr val="081828"/>
          </a:solidFill>
          <a:ln w="1524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520440"/>
            <a:ext cx="4389120" cy="301752"/>
          </a:xfrm>
          <a:prstGeom prst="rect">
            <a:avLst/>
          </a:prstGeom>
          <a:noFill/>
        </p:spPr>
        <p:txBody>
          <a:bodyPr wrap="square">
            <a:spAutoFit/>
          </a:bodyPr>
          <a:lstStyle/>
          <a:p>
            <a:pPr algn="ctr"/>
            <a:r>
              <a:rPr sz="1200" b="1" i="0">
                <a:solidFill>
                  <a:srgbClr val="00A8FF"/>
                </a:solidFill>
              </a:rPr>
              <a:t>🛰  Starlink衛星（LEO 550km）</a:t>
            </a:r>
          </a:p>
        </p:txBody>
      </p:sp>
      <p:sp>
        <p:nvSpPr>
          <p:cNvPr id="14" name="Rectangle 13"/>
          <p:cNvSpPr/>
          <p:nvPr/>
        </p:nvSpPr>
        <p:spPr>
          <a:xfrm>
            <a:off x="822960" y="4032504"/>
            <a:ext cx="4480560" cy="411480"/>
          </a:xfrm>
          <a:prstGeom prst="rect">
            <a:avLst/>
          </a:prstGeom>
          <a:solidFill>
            <a:srgbClr val="081828"/>
          </a:solidFill>
          <a:ln w="1524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087368"/>
            <a:ext cx="4389120" cy="301752"/>
          </a:xfrm>
          <a:prstGeom prst="rect">
            <a:avLst/>
          </a:prstGeom>
          <a:noFill/>
        </p:spPr>
        <p:txBody>
          <a:bodyPr wrap="square">
            <a:spAutoFit/>
          </a:bodyPr>
          <a:lstStyle/>
          <a:p>
            <a:pPr algn="ctr"/>
            <a:r>
              <a:rPr sz="1200" b="1" i="0">
                <a:solidFill>
                  <a:srgbClr val="00D4AA"/>
                </a:solidFill>
              </a:rPr>
              <a:t>🖥  警備センター（ホットライン受付）</a:t>
            </a:r>
          </a:p>
        </p:txBody>
      </p:sp>
      <p:sp>
        <p:nvSpPr>
          <p:cNvPr id="16" name="Rectangle 15"/>
          <p:cNvSpPr/>
          <p:nvPr/>
        </p:nvSpPr>
        <p:spPr>
          <a:xfrm>
            <a:off x="822960" y="4599432"/>
            <a:ext cx="4480560" cy="411480"/>
          </a:xfrm>
          <a:prstGeom prst="rect">
            <a:avLst/>
          </a:prstGeom>
          <a:solidFill>
            <a:srgbClr val="081828"/>
          </a:solidFill>
          <a:ln w="1524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654296"/>
            <a:ext cx="4389120" cy="301752"/>
          </a:xfrm>
          <a:prstGeom prst="rect">
            <a:avLst/>
          </a:prstGeom>
          <a:noFill/>
        </p:spPr>
        <p:txBody>
          <a:bodyPr wrap="square">
            <a:spAutoFit/>
          </a:bodyPr>
          <a:lstStyle/>
          <a:p>
            <a:pPr algn="ctr"/>
            <a:r>
              <a:rPr sz="1200" b="1" i="0">
                <a:solidFill>
                  <a:srgbClr val="00D4AA"/>
                </a:solidFill>
              </a:rPr>
              <a:t>🚔 緊急対応チーム（現地急行）</a:t>
            </a:r>
          </a:p>
        </p:txBody>
      </p:sp>
      <p:sp>
        <p:nvSpPr>
          <p:cNvPr id="18" name="TextBox 17"/>
          <p:cNvSpPr txBox="1"/>
          <p:nvPr/>
        </p:nvSpPr>
        <p:spPr>
          <a:xfrm>
            <a:off x="6035040" y="1828800"/>
            <a:ext cx="5669280" cy="320040"/>
          </a:xfrm>
          <a:prstGeom prst="rect">
            <a:avLst/>
          </a:prstGeom>
          <a:noFill/>
        </p:spPr>
        <p:txBody>
          <a:bodyPr wrap="square">
            <a:spAutoFit/>
          </a:bodyPr>
          <a:lstStyle/>
          <a:p>
            <a:pPr algn="l"/>
            <a:r>
              <a:rPr sz="1400" b="1" i="0">
                <a:solidFill>
                  <a:srgbClr val="FFFFFF"/>
                </a:solidFill>
              </a:rPr>
              <a:t>ホットライン機能一覧</a:t>
            </a:r>
          </a:p>
        </p:txBody>
      </p:sp>
      <p:sp>
        <p:nvSpPr>
          <p:cNvPr id="19" name="TextBox 18"/>
          <p:cNvSpPr txBox="1"/>
          <p:nvPr/>
        </p:nvSpPr>
        <p:spPr>
          <a:xfrm>
            <a:off x="6035040" y="2240280"/>
            <a:ext cx="5669280" cy="256032"/>
          </a:xfrm>
          <a:prstGeom prst="rect">
            <a:avLst/>
          </a:prstGeom>
          <a:noFill/>
        </p:spPr>
        <p:txBody>
          <a:bodyPr wrap="square">
            <a:spAutoFit/>
          </a:bodyPr>
          <a:lstStyle/>
          <a:p>
            <a:pPr algn="l"/>
            <a:r>
              <a:rPr sz="1300" b="1" i="0">
                <a:solidFill>
                  <a:srgbClr val="00A8FF"/>
                </a:solidFill>
              </a:rPr>
              <a:t>☎ ワンタッチ緊急呼び出し</a:t>
            </a:r>
          </a:p>
        </p:txBody>
      </p:sp>
      <p:sp>
        <p:nvSpPr>
          <p:cNvPr id="20" name="TextBox 19"/>
          <p:cNvSpPr txBox="1"/>
          <p:nvPr/>
        </p:nvSpPr>
        <p:spPr>
          <a:xfrm>
            <a:off x="6035040" y="2496312"/>
            <a:ext cx="5669280" cy="274320"/>
          </a:xfrm>
          <a:prstGeom prst="rect">
            <a:avLst/>
          </a:prstGeom>
          <a:noFill/>
        </p:spPr>
        <p:txBody>
          <a:bodyPr wrap="square">
            <a:spAutoFit/>
          </a:bodyPr>
          <a:lstStyle/>
          <a:p>
            <a:pPr algn="l"/>
            <a:r>
              <a:rPr sz="1150" b="0" i="0">
                <a:solidFill>
                  <a:srgbClr val="C0D4E8"/>
                </a:solidFill>
              </a:rPr>
              <a:t>ボタン一発で警備センターへ直接接続。操作不要。</a:t>
            </a:r>
          </a:p>
        </p:txBody>
      </p:sp>
      <p:sp>
        <p:nvSpPr>
          <p:cNvPr id="21" name="Rectangle 20"/>
          <p:cNvSpPr/>
          <p:nvPr/>
        </p:nvSpPr>
        <p:spPr>
          <a:xfrm>
            <a:off x="6035040" y="2807208"/>
            <a:ext cx="5669280" cy="101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2898648"/>
            <a:ext cx="5669280" cy="256032"/>
          </a:xfrm>
          <a:prstGeom prst="rect">
            <a:avLst/>
          </a:prstGeom>
          <a:noFill/>
        </p:spPr>
        <p:txBody>
          <a:bodyPr wrap="square">
            <a:spAutoFit/>
          </a:bodyPr>
          <a:lstStyle/>
          <a:p>
            <a:pPr algn="l"/>
            <a:r>
              <a:rPr sz="1300" b="1" i="0">
                <a:solidFill>
                  <a:srgbClr val="00A8FF"/>
                </a:solidFill>
              </a:rPr>
              <a:t>🔊 VoIP音声通話</a:t>
            </a:r>
          </a:p>
        </p:txBody>
      </p:sp>
      <p:sp>
        <p:nvSpPr>
          <p:cNvPr id="23" name="TextBox 22"/>
          <p:cNvSpPr txBox="1"/>
          <p:nvPr/>
        </p:nvSpPr>
        <p:spPr>
          <a:xfrm>
            <a:off x="6035040" y="3154680"/>
            <a:ext cx="5669280" cy="274320"/>
          </a:xfrm>
          <a:prstGeom prst="rect">
            <a:avLst/>
          </a:prstGeom>
          <a:noFill/>
        </p:spPr>
        <p:txBody>
          <a:bodyPr wrap="square">
            <a:spAutoFit/>
          </a:bodyPr>
          <a:lstStyle/>
          <a:p>
            <a:pPr algn="l"/>
            <a:r>
              <a:rPr sz="1150" b="0" i="0">
                <a:solidFill>
                  <a:srgbClr val="C0D4E8"/>
                </a:solidFill>
              </a:rPr>
              <a:t>Starlink Wi-Fi経由で通話。au回線が不通でも継続。</a:t>
            </a:r>
          </a:p>
        </p:txBody>
      </p:sp>
      <p:sp>
        <p:nvSpPr>
          <p:cNvPr id="24" name="Rectangle 23"/>
          <p:cNvSpPr/>
          <p:nvPr/>
        </p:nvSpPr>
        <p:spPr>
          <a:xfrm>
            <a:off x="6035040" y="3465576"/>
            <a:ext cx="5669280" cy="101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0" y="3557016"/>
            <a:ext cx="5669280" cy="256032"/>
          </a:xfrm>
          <a:prstGeom prst="rect">
            <a:avLst/>
          </a:prstGeom>
          <a:noFill/>
        </p:spPr>
        <p:txBody>
          <a:bodyPr wrap="square">
            <a:spAutoFit/>
          </a:bodyPr>
          <a:lstStyle/>
          <a:p>
            <a:pPr algn="l"/>
            <a:r>
              <a:rPr sz="1300" b="1" i="0">
                <a:solidFill>
                  <a:srgbClr val="00A8FF"/>
                </a:solidFill>
              </a:rPr>
              <a:t>📢 PTTグループ通話</a:t>
            </a:r>
          </a:p>
        </p:txBody>
      </p:sp>
      <p:sp>
        <p:nvSpPr>
          <p:cNvPr id="26" name="TextBox 25"/>
          <p:cNvSpPr txBox="1"/>
          <p:nvPr/>
        </p:nvSpPr>
        <p:spPr>
          <a:xfrm>
            <a:off x="6035040" y="3813048"/>
            <a:ext cx="5669280" cy="274320"/>
          </a:xfrm>
          <a:prstGeom prst="rect">
            <a:avLst/>
          </a:prstGeom>
          <a:noFill/>
        </p:spPr>
        <p:txBody>
          <a:bodyPr wrap="square">
            <a:spAutoFit/>
          </a:bodyPr>
          <a:lstStyle/>
          <a:p>
            <a:pPr algn="l"/>
            <a:r>
              <a:rPr sz="1150" b="0" i="0">
                <a:solidFill>
                  <a:srgbClr val="C0D4E8"/>
                </a:solidFill>
              </a:rPr>
              <a:t>現場警備員全員へ同時一斉通話で指示を伝達。</a:t>
            </a:r>
          </a:p>
        </p:txBody>
      </p:sp>
      <p:sp>
        <p:nvSpPr>
          <p:cNvPr id="27" name="Rectangle 26"/>
          <p:cNvSpPr/>
          <p:nvPr/>
        </p:nvSpPr>
        <p:spPr>
          <a:xfrm>
            <a:off x="6035040" y="4123944"/>
            <a:ext cx="5669280" cy="101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35040" y="4215384"/>
            <a:ext cx="5669280" cy="256032"/>
          </a:xfrm>
          <a:prstGeom prst="rect">
            <a:avLst/>
          </a:prstGeom>
          <a:noFill/>
        </p:spPr>
        <p:txBody>
          <a:bodyPr wrap="square">
            <a:spAutoFit/>
          </a:bodyPr>
          <a:lstStyle/>
          <a:p>
            <a:pPr algn="l"/>
            <a:r>
              <a:rPr sz="1300" b="1" i="0">
                <a:solidFill>
                  <a:srgbClr val="00A8FF"/>
                </a:solidFill>
              </a:rPr>
              <a:t>📍 GPS位置情報共有</a:t>
            </a:r>
          </a:p>
        </p:txBody>
      </p:sp>
      <p:sp>
        <p:nvSpPr>
          <p:cNvPr id="29" name="TextBox 28"/>
          <p:cNvSpPr txBox="1"/>
          <p:nvPr/>
        </p:nvSpPr>
        <p:spPr>
          <a:xfrm>
            <a:off x="6035040" y="4471416"/>
            <a:ext cx="5669280" cy="274320"/>
          </a:xfrm>
          <a:prstGeom prst="rect">
            <a:avLst/>
          </a:prstGeom>
          <a:noFill/>
        </p:spPr>
        <p:txBody>
          <a:bodyPr wrap="square">
            <a:spAutoFit/>
          </a:bodyPr>
          <a:lstStyle/>
          <a:p>
            <a:pPr algn="l"/>
            <a:r>
              <a:rPr sz="1150" b="0" i="0">
                <a:solidFill>
                  <a:srgbClr val="C0D4E8"/>
                </a:solidFill>
              </a:rPr>
              <a:t>リアルタイム位置をセンターへ送信。巡回管理が可能。</a:t>
            </a:r>
          </a:p>
        </p:txBody>
      </p:sp>
      <p:sp>
        <p:nvSpPr>
          <p:cNvPr id="30" name="Rectangle 29"/>
          <p:cNvSpPr/>
          <p:nvPr/>
        </p:nvSpPr>
        <p:spPr>
          <a:xfrm>
            <a:off x="6035040" y="4782312"/>
            <a:ext cx="5669280" cy="101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35040" y="4873752"/>
            <a:ext cx="5669280" cy="256032"/>
          </a:xfrm>
          <a:prstGeom prst="rect">
            <a:avLst/>
          </a:prstGeom>
          <a:noFill/>
        </p:spPr>
        <p:txBody>
          <a:bodyPr wrap="square">
            <a:spAutoFit/>
          </a:bodyPr>
          <a:lstStyle/>
          <a:p>
            <a:pPr algn="l"/>
            <a:r>
              <a:rPr sz="1300" b="1" i="0">
                <a:solidFill>
                  <a:srgbClr val="00A8FF"/>
                </a:solidFill>
              </a:rPr>
              <a:t>📸 映像・写真の即時送信</a:t>
            </a:r>
          </a:p>
        </p:txBody>
      </p:sp>
      <p:sp>
        <p:nvSpPr>
          <p:cNvPr id="32" name="TextBox 31"/>
          <p:cNvSpPr txBox="1"/>
          <p:nvPr/>
        </p:nvSpPr>
        <p:spPr>
          <a:xfrm>
            <a:off x="6035040" y="5129784"/>
            <a:ext cx="5669280" cy="274320"/>
          </a:xfrm>
          <a:prstGeom prst="rect">
            <a:avLst/>
          </a:prstGeom>
          <a:noFill/>
        </p:spPr>
        <p:txBody>
          <a:bodyPr wrap="square">
            <a:spAutoFit/>
          </a:bodyPr>
          <a:lstStyle/>
          <a:p>
            <a:pPr algn="l"/>
            <a:r>
              <a:rPr sz="1150" b="0" i="0">
                <a:solidFill>
                  <a:srgbClr val="C0D4E8"/>
                </a:solidFill>
              </a:rPr>
              <a:t>異常発見時に現場写真・動画をリアルタイム共有。</a:t>
            </a:r>
          </a:p>
        </p:txBody>
      </p:sp>
      <p:sp>
        <p:nvSpPr>
          <p:cNvPr id="33" name="Rectangle 32"/>
          <p:cNvSpPr/>
          <p:nvPr/>
        </p:nvSpPr>
        <p:spPr>
          <a:xfrm>
            <a:off x="6035040" y="5440680"/>
            <a:ext cx="5669280" cy="101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35040" y="5532120"/>
            <a:ext cx="5669280" cy="256032"/>
          </a:xfrm>
          <a:prstGeom prst="rect">
            <a:avLst/>
          </a:prstGeom>
          <a:noFill/>
        </p:spPr>
        <p:txBody>
          <a:bodyPr wrap="square">
            <a:spAutoFit/>
          </a:bodyPr>
          <a:lstStyle/>
          <a:p>
            <a:pPr algn="l"/>
            <a:r>
              <a:rPr sz="1300" b="1" i="0">
                <a:solidFill>
                  <a:srgbClr val="00A8FF"/>
                </a:solidFill>
              </a:rPr>
              <a:t>💬 テキスト状況報告</a:t>
            </a:r>
          </a:p>
        </p:txBody>
      </p:sp>
      <p:sp>
        <p:nvSpPr>
          <p:cNvPr id="35" name="TextBox 34"/>
          <p:cNvSpPr txBox="1"/>
          <p:nvPr/>
        </p:nvSpPr>
        <p:spPr>
          <a:xfrm>
            <a:off x="6035040" y="5788152"/>
            <a:ext cx="5669280" cy="274320"/>
          </a:xfrm>
          <a:prstGeom prst="rect">
            <a:avLst/>
          </a:prstGeom>
          <a:noFill/>
        </p:spPr>
        <p:txBody>
          <a:bodyPr wrap="square">
            <a:spAutoFit/>
          </a:bodyPr>
          <a:lstStyle/>
          <a:p>
            <a:pPr algn="l"/>
            <a:r>
              <a:rPr sz="1150" b="0" i="0">
                <a:solidFill>
                  <a:srgbClr val="C0D4E8"/>
                </a:solidFill>
              </a:rPr>
              <a:t>騒音環境でも文字で報告。ログとして記録・管理も可能。</a:t>
            </a:r>
          </a:p>
        </p:txBody>
      </p:sp>
      <p:sp>
        <p:nvSpPr>
          <p:cNvPr id="36" name="Rectangle 35"/>
          <p:cNvSpPr/>
          <p:nvPr/>
        </p:nvSpPr>
        <p:spPr>
          <a:xfrm>
            <a:off x="6035040" y="6099048"/>
            <a:ext cx="5669280" cy="101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 y="5532120"/>
            <a:ext cx="3611880" cy="109728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5696712"/>
            <a:ext cx="3209544" cy="320040"/>
          </a:xfrm>
          <a:prstGeom prst="rect">
            <a:avLst/>
          </a:prstGeom>
          <a:noFill/>
        </p:spPr>
        <p:txBody>
          <a:bodyPr wrap="square">
            <a:spAutoFit/>
          </a:bodyPr>
          <a:lstStyle/>
          <a:p>
            <a:pPr algn="l"/>
            <a:r>
              <a:rPr sz="1400" b="1" i="0">
                <a:solidFill>
                  <a:srgbClr val="00A8FF"/>
                </a:solidFill>
              </a:rPr>
              <a:t>📶 二重通信経路</a:t>
            </a:r>
          </a:p>
        </p:txBody>
      </p:sp>
      <p:sp>
        <p:nvSpPr>
          <p:cNvPr id="39" name="TextBox 38"/>
          <p:cNvSpPr txBox="1"/>
          <p:nvPr/>
        </p:nvSpPr>
        <p:spPr>
          <a:xfrm>
            <a:off x="658368" y="6044184"/>
            <a:ext cx="3209544" cy="457200"/>
          </a:xfrm>
          <a:prstGeom prst="rect">
            <a:avLst/>
          </a:prstGeom>
          <a:noFill/>
        </p:spPr>
        <p:txBody>
          <a:bodyPr wrap="square">
            <a:spAutoFit/>
          </a:bodyPr>
          <a:lstStyle/>
          <a:p>
            <a:pPr algn="l"/>
            <a:r>
              <a:rPr sz="1150" b="0" i="0">
                <a:solidFill>
                  <a:srgbClr val="C0D4E8"/>
                </a:solidFill>
              </a:rPr>
              <a:t>au LTE＋Starlink Wi-Fiの両方に対応。地上回線切断時もStarlink経由で通話・通報が継続。</a:t>
            </a:r>
          </a:p>
        </p:txBody>
      </p:sp>
      <p:sp>
        <p:nvSpPr>
          <p:cNvPr id="40" name="Rectangle 39"/>
          <p:cNvSpPr/>
          <p:nvPr/>
        </p:nvSpPr>
        <p:spPr>
          <a:xfrm>
            <a:off x="4270248" y="5532120"/>
            <a:ext cx="3611880" cy="109728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71416" y="5696712"/>
            <a:ext cx="3209544" cy="320040"/>
          </a:xfrm>
          <a:prstGeom prst="rect">
            <a:avLst/>
          </a:prstGeom>
          <a:noFill/>
        </p:spPr>
        <p:txBody>
          <a:bodyPr wrap="square">
            <a:spAutoFit/>
          </a:bodyPr>
          <a:lstStyle/>
          <a:p>
            <a:pPr algn="l"/>
            <a:r>
              <a:rPr sz="1400" b="1" i="0">
                <a:solidFill>
                  <a:srgbClr val="00A8FF"/>
                </a:solidFill>
              </a:rPr>
              <a:t>🔋 堅牢端末運用</a:t>
            </a:r>
          </a:p>
        </p:txBody>
      </p:sp>
      <p:sp>
        <p:nvSpPr>
          <p:cNvPr id="42" name="TextBox 41"/>
          <p:cNvSpPr txBox="1"/>
          <p:nvPr/>
        </p:nvSpPr>
        <p:spPr>
          <a:xfrm>
            <a:off x="4471416" y="6044184"/>
            <a:ext cx="3209544" cy="457200"/>
          </a:xfrm>
          <a:prstGeom prst="rect">
            <a:avLst/>
          </a:prstGeom>
          <a:noFill/>
        </p:spPr>
        <p:txBody>
          <a:bodyPr wrap="square">
            <a:spAutoFit/>
          </a:bodyPr>
          <a:lstStyle/>
          <a:p>
            <a:pPr algn="l"/>
            <a:r>
              <a:rPr sz="1150" b="0" i="0">
                <a:solidFill>
                  <a:srgbClr val="C0D4E8"/>
                </a:solidFill>
              </a:rPr>
              <a:t>タフネススマホ（防塵・防水・耐衝撃）＋予備バッテリーで24H稼働を実現。</a:t>
            </a:r>
          </a:p>
        </p:txBody>
      </p:sp>
      <p:sp>
        <p:nvSpPr>
          <p:cNvPr id="43" name="Rectangle 42"/>
          <p:cNvSpPr/>
          <p:nvPr/>
        </p:nvSpPr>
        <p:spPr>
          <a:xfrm>
            <a:off x="8083296" y="5532120"/>
            <a:ext cx="3611880" cy="109728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84464" y="5696712"/>
            <a:ext cx="3209544" cy="320040"/>
          </a:xfrm>
          <a:prstGeom prst="rect">
            <a:avLst/>
          </a:prstGeom>
          <a:noFill/>
        </p:spPr>
        <p:txBody>
          <a:bodyPr wrap="square">
            <a:spAutoFit/>
          </a:bodyPr>
          <a:lstStyle/>
          <a:p>
            <a:pPr algn="l"/>
            <a:r>
              <a:rPr sz="1400" b="1" i="0">
                <a:solidFill>
                  <a:srgbClr val="00A8FF"/>
                </a:solidFill>
              </a:rPr>
              <a:t>🛡 専用APNで保護</a:t>
            </a:r>
          </a:p>
        </p:txBody>
      </p:sp>
      <p:sp>
        <p:nvSpPr>
          <p:cNvPr id="45" name="TextBox 44"/>
          <p:cNvSpPr txBox="1"/>
          <p:nvPr/>
        </p:nvSpPr>
        <p:spPr>
          <a:xfrm>
            <a:off x="8284464" y="6044184"/>
            <a:ext cx="3209544" cy="457200"/>
          </a:xfrm>
          <a:prstGeom prst="rect">
            <a:avLst/>
          </a:prstGeom>
          <a:noFill/>
        </p:spPr>
        <p:txBody>
          <a:bodyPr wrap="square">
            <a:spAutoFit/>
          </a:bodyPr>
          <a:lstStyle/>
          <a:p>
            <a:pPr algn="l"/>
            <a:r>
              <a:rPr sz="1150" b="0" i="0">
                <a:solidFill>
                  <a:srgbClr val="C0D4E8"/>
                </a:solidFill>
              </a:rPr>
              <a:t>au法人専用APN（閉域網）適用により通話・映像データが外部インターネットに出ない設計。</a:t>
            </a:r>
          </a:p>
        </p:txBody>
      </p:sp>
      <p:sp>
        <p:nvSpPr>
          <p:cNvPr id="46" name="TextBox 45"/>
          <p:cNvSpPr txBox="1"/>
          <p:nvPr/>
        </p:nvSpPr>
        <p:spPr>
          <a:xfrm>
            <a:off x="10817352" y="6446520"/>
            <a:ext cx="1188720" cy="274320"/>
          </a:xfrm>
          <a:prstGeom prst="rect">
            <a:avLst/>
          </a:prstGeom>
          <a:noFill/>
        </p:spPr>
        <p:txBody>
          <a:bodyPr wrap="square">
            <a:spAutoFit/>
          </a:bodyPr>
          <a:lstStyle/>
          <a:p>
            <a:pPr algn="r"/>
            <a:r>
              <a:rPr sz="1100" b="0" i="0">
                <a:solidFill>
                  <a:srgbClr val="6A8AAA"/>
                </a:solidFill>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234440"/>
            <a:ext cx="73152" cy="347472"/>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43000"/>
            <a:ext cx="10789920" cy="457200"/>
          </a:xfrm>
          <a:prstGeom prst="rect">
            <a:avLst/>
          </a:prstGeom>
          <a:noFill/>
        </p:spPr>
        <p:txBody>
          <a:bodyPr wrap="square">
            <a:spAutoFit/>
          </a:bodyPr>
          <a:lstStyle/>
          <a:p>
            <a:pPr algn="l"/>
            <a:r>
              <a:rPr sz="2200" b="1" i="0">
                <a:solidFill>
                  <a:srgbClr val="FFFFFF"/>
                </a:solidFill>
              </a:rPr>
              <a:t>導入ロードマップ ― 最短2ヶ月で稼働開始</a:t>
            </a:r>
          </a:p>
        </p:txBody>
      </p:sp>
      <p:sp>
        <p:nvSpPr>
          <p:cNvPr id="5" name="Rectangle 4"/>
          <p:cNvSpPr/>
          <p:nvPr/>
        </p:nvSpPr>
        <p:spPr>
          <a:xfrm>
            <a:off x="548640" y="1645920"/>
            <a:ext cx="11064240" cy="1905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828800"/>
            <a:ext cx="2103120" cy="2011680"/>
          </a:xfrm>
          <a:prstGeom prst="rect">
            <a:avLst/>
          </a:prstGeom>
          <a:solidFill>
            <a:srgbClr val="111827"/>
          </a:solidFill>
          <a:ln w="1905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901952"/>
            <a:ext cx="2103120" cy="228600"/>
          </a:xfrm>
          <a:prstGeom prst="rect">
            <a:avLst/>
          </a:prstGeom>
          <a:noFill/>
        </p:spPr>
        <p:txBody>
          <a:bodyPr wrap="square">
            <a:spAutoFit/>
          </a:bodyPr>
          <a:lstStyle/>
          <a:p>
            <a:pPr algn="ctr"/>
            <a:r>
              <a:rPr sz="1000" b="1" i="0">
                <a:solidFill>
                  <a:srgbClr val="00A8FF"/>
                </a:solidFill>
              </a:rPr>
              <a:t>STEP 01</a:t>
            </a:r>
          </a:p>
        </p:txBody>
      </p:sp>
      <p:sp>
        <p:nvSpPr>
          <p:cNvPr id="8" name="TextBox 7"/>
          <p:cNvSpPr txBox="1"/>
          <p:nvPr/>
        </p:nvSpPr>
        <p:spPr>
          <a:xfrm>
            <a:off x="365760" y="2121408"/>
            <a:ext cx="2103120" cy="594360"/>
          </a:xfrm>
          <a:prstGeom prst="rect">
            <a:avLst/>
          </a:prstGeom>
          <a:noFill/>
        </p:spPr>
        <p:txBody>
          <a:bodyPr wrap="square">
            <a:spAutoFit/>
          </a:bodyPr>
          <a:lstStyle/>
          <a:p>
            <a:pPr algn="ctr"/>
            <a:r>
              <a:rPr sz="1400" b="1" i="0">
                <a:solidFill>
                  <a:srgbClr val="FFFFFF"/>
                </a:solidFill>
              </a:rPr>
              <a:t>現地調査
要件定義</a:t>
            </a:r>
          </a:p>
        </p:txBody>
      </p:sp>
      <p:sp>
        <p:nvSpPr>
          <p:cNvPr id="9" name="Rectangle 8"/>
          <p:cNvSpPr/>
          <p:nvPr/>
        </p:nvSpPr>
        <p:spPr>
          <a:xfrm>
            <a:off x="548640" y="2724912"/>
            <a:ext cx="1737360" cy="127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788920"/>
            <a:ext cx="1920240" cy="1005840"/>
          </a:xfrm>
          <a:prstGeom prst="rect">
            <a:avLst/>
          </a:prstGeom>
          <a:noFill/>
        </p:spPr>
        <p:txBody>
          <a:bodyPr wrap="square">
            <a:spAutoFit/>
          </a:bodyPr>
          <a:lstStyle/>
          <a:p>
            <a:pPr algn="ctr"/>
            <a:r>
              <a:rPr sz="1150" b="0" i="0">
                <a:solidFill>
                  <a:srgbClr val="C0D4E8"/>
                </a:solidFill>
              </a:rPr>
              <a:t>電波環境測定
設置場所確認
既存回線確認</a:t>
            </a:r>
          </a:p>
        </p:txBody>
      </p:sp>
      <p:sp>
        <p:nvSpPr>
          <p:cNvPr id="11" name="TextBox 10"/>
          <p:cNvSpPr txBox="1"/>
          <p:nvPr/>
        </p:nvSpPr>
        <p:spPr>
          <a:xfrm>
            <a:off x="2487168" y="2651760"/>
            <a:ext cx="137160" cy="274320"/>
          </a:xfrm>
          <a:prstGeom prst="rect">
            <a:avLst/>
          </a:prstGeom>
          <a:noFill/>
        </p:spPr>
        <p:txBody>
          <a:bodyPr wrap="square">
            <a:spAutoFit/>
          </a:bodyPr>
          <a:lstStyle/>
          <a:p>
            <a:pPr algn="ctr"/>
            <a:r>
              <a:rPr sz="1800" b="1" i="0">
                <a:solidFill>
                  <a:srgbClr val="00A8FF"/>
                </a:solidFill>
              </a:rPr>
              <a:t>→</a:t>
            </a:r>
          </a:p>
        </p:txBody>
      </p:sp>
      <p:sp>
        <p:nvSpPr>
          <p:cNvPr id="12" name="Rectangle 11"/>
          <p:cNvSpPr/>
          <p:nvPr/>
        </p:nvSpPr>
        <p:spPr>
          <a:xfrm>
            <a:off x="2624328" y="1828800"/>
            <a:ext cx="2103120" cy="2011680"/>
          </a:xfrm>
          <a:prstGeom prst="rect">
            <a:avLst/>
          </a:prstGeom>
          <a:solidFill>
            <a:srgbClr val="111827"/>
          </a:solidFill>
          <a:ln w="1905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24328" y="1901952"/>
            <a:ext cx="2103120" cy="228600"/>
          </a:xfrm>
          <a:prstGeom prst="rect">
            <a:avLst/>
          </a:prstGeom>
          <a:noFill/>
        </p:spPr>
        <p:txBody>
          <a:bodyPr wrap="square">
            <a:spAutoFit/>
          </a:bodyPr>
          <a:lstStyle/>
          <a:p>
            <a:pPr algn="ctr"/>
            <a:r>
              <a:rPr sz="1000" b="1" i="0">
                <a:solidFill>
                  <a:srgbClr val="00A8FF"/>
                </a:solidFill>
              </a:rPr>
              <a:t>STEP 02</a:t>
            </a:r>
          </a:p>
        </p:txBody>
      </p:sp>
      <p:sp>
        <p:nvSpPr>
          <p:cNvPr id="14" name="TextBox 13"/>
          <p:cNvSpPr txBox="1"/>
          <p:nvPr/>
        </p:nvSpPr>
        <p:spPr>
          <a:xfrm>
            <a:off x="2624328" y="2121408"/>
            <a:ext cx="2103120" cy="594360"/>
          </a:xfrm>
          <a:prstGeom prst="rect">
            <a:avLst/>
          </a:prstGeom>
          <a:noFill/>
        </p:spPr>
        <p:txBody>
          <a:bodyPr wrap="square">
            <a:spAutoFit/>
          </a:bodyPr>
          <a:lstStyle/>
          <a:p>
            <a:pPr algn="ctr"/>
            <a:r>
              <a:rPr sz="1400" b="1" i="0">
                <a:solidFill>
                  <a:srgbClr val="FFFFFF"/>
                </a:solidFill>
              </a:rPr>
              <a:t>設計
機器選定</a:t>
            </a:r>
          </a:p>
        </p:txBody>
      </p:sp>
      <p:sp>
        <p:nvSpPr>
          <p:cNvPr id="15" name="Rectangle 14"/>
          <p:cNvSpPr/>
          <p:nvPr/>
        </p:nvSpPr>
        <p:spPr>
          <a:xfrm>
            <a:off x="2807208" y="2724912"/>
            <a:ext cx="1737360" cy="127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15768" y="2788920"/>
            <a:ext cx="1920240" cy="1005840"/>
          </a:xfrm>
          <a:prstGeom prst="rect">
            <a:avLst/>
          </a:prstGeom>
          <a:noFill/>
        </p:spPr>
        <p:txBody>
          <a:bodyPr wrap="square">
            <a:spAutoFit/>
          </a:bodyPr>
          <a:lstStyle/>
          <a:p>
            <a:pPr algn="ctr"/>
            <a:r>
              <a:rPr sz="1150" b="0" i="0">
                <a:solidFill>
                  <a:srgbClr val="C0D4E8"/>
                </a:solidFill>
              </a:rPr>
              <a:t>ルーター選定
回線構成設計
UPS容量計算</a:t>
            </a:r>
          </a:p>
        </p:txBody>
      </p:sp>
      <p:sp>
        <p:nvSpPr>
          <p:cNvPr id="17" name="TextBox 16"/>
          <p:cNvSpPr txBox="1"/>
          <p:nvPr/>
        </p:nvSpPr>
        <p:spPr>
          <a:xfrm>
            <a:off x="4745736" y="2651760"/>
            <a:ext cx="137160" cy="274320"/>
          </a:xfrm>
          <a:prstGeom prst="rect">
            <a:avLst/>
          </a:prstGeom>
          <a:noFill/>
        </p:spPr>
        <p:txBody>
          <a:bodyPr wrap="square">
            <a:spAutoFit/>
          </a:bodyPr>
          <a:lstStyle/>
          <a:p>
            <a:pPr algn="ctr"/>
            <a:r>
              <a:rPr sz="1800" b="1" i="0">
                <a:solidFill>
                  <a:srgbClr val="00A8FF"/>
                </a:solidFill>
              </a:rPr>
              <a:t>→</a:t>
            </a:r>
          </a:p>
        </p:txBody>
      </p:sp>
      <p:sp>
        <p:nvSpPr>
          <p:cNvPr id="18" name="Rectangle 17"/>
          <p:cNvSpPr/>
          <p:nvPr/>
        </p:nvSpPr>
        <p:spPr>
          <a:xfrm>
            <a:off x="4882896" y="1828800"/>
            <a:ext cx="2103120" cy="2011680"/>
          </a:xfrm>
          <a:prstGeom prst="rect">
            <a:avLst/>
          </a:prstGeom>
          <a:solidFill>
            <a:srgbClr val="111827"/>
          </a:solidFill>
          <a:ln w="1905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82896" y="1901952"/>
            <a:ext cx="2103120" cy="228600"/>
          </a:xfrm>
          <a:prstGeom prst="rect">
            <a:avLst/>
          </a:prstGeom>
          <a:noFill/>
        </p:spPr>
        <p:txBody>
          <a:bodyPr wrap="square">
            <a:spAutoFit/>
          </a:bodyPr>
          <a:lstStyle/>
          <a:p>
            <a:pPr algn="ctr"/>
            <a:r>
              <a:rPr sz="1000" b="1" i="0">
                <a:solidFill>
                  <a:srgbClr val="00A8FF"/>
                </a:solidFill>
              </a:rPr>
              <a:t>STEP 03</a:t>
            </a:r>
          </a:p>
        </p:txBody>
      </p:sp>
      <p:sp>
        <p:nvSpPr>
          <p:cNvPr id="20" name="TextBox 19"/>
          <p:cNvSpPr txBox="1"/>
          <p:nvPr/>
        </p:nvSpPr>
        <p:spPr>
          <a:xfrm>
            <a:off x="4882896" y="2121408"/>
            <a:ext cx="2103120" cy="594360"/>
          </a:xfrm>
          <a:prstGeom prst="rect">
            <a:avLst/>
          </a:prstGeom>
          <a:noFill/>
        </p:spPr>
        <p:txBody>
          <a:bodyPr wrap="square">
            <a:spAutoFit/>
          </a:bodyPr>
          <a:lstStyle/>
          <a:p>
            <a:pPr algn="ctr"/>
            <a:r>
              <a:rPr sz="1400" b="1" i="0">
                <a:solidFill>
                  <a:srgbClr val="FFFFFF"/>
                </a:solidFill>
              </a:rPr>
              <a:t>機器調達
工事準備</a:t>
            </a:r>
          </a:p>
        </p:txBody>
      </p:sp>
      <p:sp>
        <p:nvSpPr>
          <p:cNvPr id="21" name="Rectangle 20"/>
          <p:cNvSpPr/>
          <p:nvPr/>
        </p:nvSpPr>
        <p:spPr>
          <a:xfrm>
            <a:off x="5065776" y="2724912"/>
            <a:ext cx="1737360" cy="127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74336" y="2788920"/>
            <a:ext cx="1920240" cy="1005840"/>
          </a:xfrm>
          <a:prstGeom prst="rect">
            <a:avLst/>
          </a:prstGeom>
          <a:noFill/>
        </p:spPr>
        <p:txBody>
          <a:bodyPr wrap="square">
            <a:spAutoFit/>
          </a:bodyPr>
          <a:lstStyle/>
          <a:p>
            <a:pPr algn="ctr"/>
            <a:r>
              <a:rPr sz="1150" b="0" i="0">
                <a:solidFill>
                  <a:srgbClr val="C0D4E8"/>
                </a:solidFill>
              </a:rPr>
              <a:t>au申込手続き
ルーター・配線
資材手配</a:t>
            </a:r>
          </a:p>
        </p:txBody>
      </p:sp>
      <p:sp>
        <p:nvSpPr>
          <p:cNvPr id="23" name="TextBox 22"/>
          <p:cNvSpPr txBox="1"/>
          <p:nvPr/>
        </p:nvSpPr>
        <p:spPr>
          <a:xfrm>
            <a:off x="7004304" y="2651760"/>
            <a:ext cx="137160" cy="274320"/>
          </a:xfrm>
          <a:prstGeom prst="rect">
            <a:avLst/>
          </a:prstGeom>
          <a:noFill/>
        </p:spPr>
        <p:txBody>
          <a:bodyPr wrap="square">
            <a:spAutoFit/>
          </a:bodyPr>
          <a:lstStyle/>
          <a:p>
            <a:pPr algn="ctr"/>
            <a:r>
              <a:rPr sz="1800" b="1" i="0">
                <a:solidFill>
                  <a:srgbClr val="00A8FF"/>
                </a:solidFill>
              </a:rPr>
              <a:t>→</a:t>
            </a:r>
          </a:p>
        </p:txBody>
      </p:sp>
      <p:sp>
        <p:nvSpPr>
          <p:cNvPr id="24" name="Rectangle 23"/>
          <p:cNvSpPr/>
          <p:nvPr/>
        </p:nvSpPr>
        <p:spPr>
          <a:xfrm>
            <a:off x="7141464" y="1828800"/>
            <a:ext cx="2103120" cy="2011680"/>
          </a:xfrm>
          <a:prstGeom prst="rect">
            <a:avLst/>
          </a:prstGeom>
          <a:solidFill>
            <a:srgbClr val="111827"/>
          </a:solidFill>
          <a:ln w="1905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1464" y="1901952"/>
            <a:ext cx="2103120" cy="228600"/>
          </a:xfrm>
          <a:prstGeom prst="rect">
            <a:avLst/>
          </a:prstGeom>
          <a:noFill/>
        </p:spPr>
        <p:txBody>
          <a:bodyPr wrap="square">
            <a:spAutoFit/>
          </a:bodyPr>
          <a:lstStyle/>
          <a:p>
            <a:pPr algn="ctr"/>
            <a:r>
              <a:rPr sz="1000" b="1" i="0">
                <a:solidFill>
                  <a:srgbClr val="00A8FF"/>
                </a:solidFill>
              </a:rPr>
              <a:t>STEP 04</a:t>
            </a:r>
          </a:p>
        </p:txBody>
      </p:sp>
      <p:sp>
        <p:nvSpPr>
          <p:cNvPr id="26" name="TextBox 25"/>
          <p:cNvSpPr txBox="1"/>
          <p:nvPr/>
        </p:nvSpPr>
        <p:spPr>
          <a:xfrm>
            <a:off x="7141464" y="2121408"/>
            <a:ext cx="2103120" cy="594360"/>
          </a:xfrm>
          <a:prstGeom prst="rect">
            <a:avLst/>
          </a:prstGeom>
          <a:noFill/>
        </p:spPr>
        <p:txBody>
          <a:bodyPr wrap="square">
            <a:spAutoFit/>
          </a:bodyPr>
          <a:lstStyle/>
          <a:p>
            <a:pPr algn="ctr"/>
            <a:r>
              <a:rPr sz="1400" b="1" i="0">
                <a:solidFill>
                  <a:srgbClr val="FFFFFF"/>
                </a:solidFill>
              </a:rPr>
              <a:t>設置工事
開通確認</a:t>
            </a:r>
          </a:p>
        </p:txBody>
      </p:sp>
      <p:sp>
        <p:nvSpPr>
          <p:cNvPr id="27" name="Rectangle 26"/>
          <p:cNvSpPr/>
          <p:nvPr/>
        </p:nvSpPr>
        <p:spPr>
          <a:xfrm>
            <a:off x="7324344" y="2724912"/>
            <a:ext cx="1737360" cy="127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32904" y="2788920"/>
            <a:ext cx="1920240" cy="1005840"/>
          </a:xfrm>
          <a:prstGeom prst="rect">
            <a:avLst/>
          </a:prstGeom>
          <a:noFill/>
        </p:spPr>
        <p:txBody>
          <a:bodyPr wrap="square">
            <a:spAutoFit/>
          </a:bodyPr>
          <a:lstStyle/>
          <a:p>
            <a:pPr algn="ctr"/>
            <a:r>
              <a:rPr sz="1150" b="0" i="0">
                <a:solidFill>
                  <a:srgbClr val="C0D4E8"/>
                </a:solidFill>
              </a:rPr>
              <a:t>アンテナ設置
回線開通
フェイルオーバーテスト</a:t>
            </a:r>
          </a:p>
        </p:txBody>
      </p:sp>
      <p:sp>
        <p:nvSpPr>
          <p:cNvPr id="29" name="TextBox 28"/>
          <p:cNvSpPr txBox="1"/>
          <p:nvPr/>
        </p:nvSpPr>
        <p:spPr>
          <a:xfrm>
            <a:off x="9262872" y="2651760"/>
            <a:ext cx="137160" cy="274320"/>
          </a:xfrm>
          <a:prstGeom prst="rect">
            <a:avLst/>
          </a:prstGeom>
          <a:noFill/>
        </p:spPr>
        <p:txBody>
          <a:bodyPr wrap="square">
            <a:spAutoFit/>
          </a:bodyPr>
          <a:lstStyle/>
          <a:p>
            <a:pPr algn="ctr"/>
            <a:r>
              <a:rPr sz="1800" b="1" i="0">
                <a:solidFill>
                  <a:srgbClr val="00A8FF"/>
                </a:solidFill>
              </a:rPr>
              <a:t>→</a:t>
            </a:r>
          </a:p>
        </p:txBody>
      </p:sp>
      <p:sp>
        <p:nvSpPr>
          <p:cNvPr id="30" name="Rectangle 29"/>
          <p:cNvSpPr/>
          <p:nvPr/>
        </p:nvSpPr>
        <p:spPr>
          <a:xfrm>
            <a:off x="9400032" y="1828800"/>
            <a:ext cx="2103120" cy="2011680"/>
          </a:xfrm>
          <a:prstGeom prst="rect">
            <a:avLst/>
          </a:prstGeom>
          <a:solidFill>
            <a:srgbClr val="111827"/>
          </a:solidFill>
          <a:ln w="1905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00032" y="1901952"/>
            <a:ext cx="2103120" cy="228600"/>
          </a:xfrm>
          <a:prstGeom prst="rect">
            <a:avLst/>
          </a:prstGeom>
          <a:noFill/>
        </p:spPr>
        <p:txBody>
          <a:bodyPr wrap="square">
            <a:spAutoFit/>
          </a:bodyPr>
          <a:lstStyle/>
          <a:p>
            <a:pPr algn="ctr"/>
            <a:r>
              <a:rPr sz="1000" b="1" i="0">
                <a:solidFill>
                  <a:srgbClr val="00A8FF"/>
                </a:solidFill>
              </a:rPr>
              <a:t>STEP 05</a:t>
            </a:r>
          </a:p>
        </p:txBody>
      </p:sp>
      <p:sp>
        <p:nvSpPr>
          <p:cNvPr id="32" name="TextBox 31"/>
          <p:cNvSpPr txBox="1"/>
          <p:nvPr/>
        </p:nvSpPr>
        <p:spPr>
          <a:xfrm>
            <a:off x="9400032" y="2121408"/>
            <a:ext cx="2103120" cy="594360"/>
          </a:xfrm>
          <a:prstGeom prst="rect">
            <a:avLst/>
          </a:prstGeom>
          <a:noFill/>
        </p:spPr>
        <p:txBody>
          <a:bodyPr wrap="square">
            <a:spAutoFit/>
          </a:bodyPr>
          <a:lstStyle/>
          <a:p>
            <a:pPr algn="ctr"/>
            <a:r>
              <a:rPr sz="1400" b="1" i="0">
                <a:solidFill>
                  <a:srgbClr val="FFFFFF"/>
                </a:solidFill>
              </a:rPr>
              <a:t>運用開始
保守契約</a:t>
            </a:r>
          </a:p>
        </p:txBody>
      </p:sp>
      <p:sp>
        <p:nvSpPr>
          <p:cNvPr id="33" name="Rectangle 32"/>
          <p:cNvSpPr/>
          <p:nvPr/>
        </p:nvSpPr>
        <p:spPr>
          <a:xfrm>
            <a:off x="9582912" y="2724912"/>
            <a:ext cx="1737360" cy="127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91472" y="2788920"/>
            <a:ext cx="1920240" cy="1005840"/>
          </a:xfrm>
          <a:prstGeom prst="rect">
            <a:avLst/>
          </a:prstGeom>
          <a:noFill/>
        </p:spPr>
        <p:txBody>
          <a:bodyPr wrap="square">
            <a:spAutoFit/>
          </a:bodyPr>
          <a:lstStyle/>
          <a:p>
            <a:pPr algn="ctr"/>
            <a:r>
              <a:rPr sz="1150" b="0" i="0">
                <a:solidFill>
                  <a:srgbClr val="C0D4E8"/>
                </a:solidFill>
              </a:rPr>
              <a:t>警備員説明
24H保守開始</a:t>
            </a:r>
          </a:p>
        </p:txBody>
      </p:sp>
      <p:sp>
        <p:nvSpPr>
          <p:cNvPr id="35" name="Rectangle 34"/>
          <p:cNvSpPr/>
          <p:nvPr/>
        </p:nvSpPr>
        <p:spPr>
          <a:xfrm>
            <a:off x="365760" y="3977639"/>
            <a:ext cx="11430000" cy="685800"/>
          </a:xfrm>
          <a:prstGeom prst="rect">
            <a:avLst/>
          </a:prstGeom>
          <a:solidFill>
            <a:srgbClr val="0A1E32"/>
          </a:solidFill>
          <a:ln w="1905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4114799"/>
            <a:ext cx="11064240" cy="320040"/>
          </a:xfrm>
          <a:prstGeom prst="rect">
            <a:avLst/>
          </a:prstGeom>
          <a:noFill/>
        </p:spPr>
        <p:txBody>
          <a:bodyPr wrap="square">
            <a:spAutoFit/>
          </a:bodyPr>
          <a:lstStyle/>
          <a:p>
            <a:pPr algn="l"/>
            <a:r>
              <a:rPr sz="1400" b="1" i="0">
                <a:solidFill>
                  <a:srgbClr val="00A8FF"/>
                </a:solidFill>
              </a:rPr>
              <a:t>💡 Starlink端末はオプション導入に対応</a:t>
            </a:r>
          </a:p>
        </p:txBody>
      </p:sp>
      <p:sp>
        <p:nvSpPr>
          <p:cNvPr id="37" name="TextBox 36"/>
          <p:cNvSpPr txBox="1"/>
          <p:nvPr/>
        </p:nvSpPr>
        <p:spPr>
          <a:xfrm>
            <a:off x="548640" y="4434839"/>
            <a:ext cx="11064240" cy="137160"/>
          </a:xfrm>
          <a:prstGeom prst="rect">
            <a:avLst/>
          </a:prstGeom>
          <a:noFill/>
        </p:spPr>
        <p:txBody>
          <a:bodyPr wrap="square">
            <a:spAutoFit/>
          </a:bodyPr>
          <a:lstStyle/>
          <a:p>
            <a:pPr algn="l"/>
            <a:r>
              <a:rPr sz="1250" b="0" i="0">
                <a:solidFill>
                  <a:srgbClr val="C0D4E8"/>
                </a:solidFill>
              </a:rPr>
              <a:t>既存の警備契約にStarlink通信バックアップをオプションとして追加可能。まず1棟・3ヶ月のトライアルから始め、効果を確認してから全館展開へ移行できます。</a:t>
            </a:r>
          </a:p>
        </p:txBody>
      </p:sp>
      <p:sp>
        <p:nvSpPr>
          <p:cNvPr id="38" name="Rectangle 37"/>
          <p:cNvSpPr/>
          <p:nvPr/>
        </p:nvSpPr>
        <p:spPr>
          <a:xfrm>
            <a:off x="365760" y="4846320"/>
            <a:ext cx="5394960" cy="182880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6928" y="5010912"/>
            <a:ext cx="4992624" cy="320040"/>
          </a:xfrm>
          <a:prstGeom prst="rect">
            <a:avLst/>
          </a:prstGeom>
          <a:noFill/>
        </p:spPr>
        <p:txBody>
          <a:bodyPr wrap="square">
            <a:spAutoFit/>
          </a:bodyPr>
          <a:lstStyle/>
          <a:p>
            <a:pPr algn="l"/>
            <a:r>
              <a:rPr sz="1400" b="1" i="0">
                <a:solidFill>
                  <a:srgbClr val="00A8FF"/>
                </a:solidFill>
              </a:rPr>
              <a:t>📅 標準スケジュール</a:t>
            </a:r>
          </a:p>
        </p:txBody>
      </p:sp>
      <p:sp>
        <p:nvSpPr>
          <p:cNvPr id="40" name="TextBox 39"/>
          <p:cNvSpPr txBox="1"/>
          <p:nvPr/>
        </p:nvSpPr>
        <p:spPr>
          <a:xfrm>
            <a:off x="566928" y="5358384"/>
            <a:ext cx="4992624" cy="1188720"/>
          </a:xfrm>
          <a:prstGeom prst="rect">
            <a:avLst/>
          </a:prstGeom>
          <a:noFill/>
        </p:spPr>
        <p:txBody>
          <a:bodyPr wrap="square">
            <a:spAutoFit/>
          </a:bodyPr>
          <a:lstStyle/>
          <a:p>
            <a:pPr algn="l"/>
            <a:r>
              <a:rPr sz="1200" b="0" i="0">
                <a:solidFill>
                  <a:srgbClr val="C0D4E8"/>
                </a:solidFill>
              </a:rPr>
              <a:t>Week 1-2：現地調査・要件定義
Week 3-4：設計・機器発注
Week 5-6：工事準備・資材搬入
Week 7-8：設置工事・開通テスト
Week 9〜：本番運用開始</a:t>
            </a:r>
          </a:p>
        </p:txBody>
      </p:sp>
      <p:sp>
        <p:nvSpPr>
          <p:cNvPr id="41" name="Rectangle 40"/>
          <p:cNvSpPr/>
          <p:nvPr/>
        </p:nvSpPr>
        <p:spPr>
          <a:xfrm>
            <a:off x="6035040" y="4846320"/>
            <a:ext cx="5394960" cy="182880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36208" y="5010912"/>
            <a:ext cx="4992624" cy="320040"/>
          </a:xfrm>
          <a:prstGeom prst="rect">
            <a:avLst/>
          </a:prstGeom>
          <a:noFill/>
        </p:spPr>
        <p:txBody>
          <a:bodyPr wrap="square">
            <a:spAutoFit/>
          </a:bodyPr>
          <a:lstStyle/>
          <a:p>
            <a:pPr algn="l"/>
            <a:r>
              <a:rPr sz="1400" b="1" i="0">
                <a:solidFill>
                  <a:srgbClr val="00A8FF"/>
                </a:solidFill>
              </a:rPr>
              <a:t>✅ 導入前チェックポイント</a:t>
            </a:r>
          </a:p>
        </p:txBody>
      </p:sp>
      <p:sp>
        <p:nvSpPr>
          <p:cNvPr id="43" name="TextBox 42"/>
          <p:cNvSpPr txBox="1"/>
          <p:nvPr/>
        </p:nvSpPr>
        <p:spPr>
          <a:xfrm>
            <a:off x="6236208" y="5358384"/>
            <a:ext cx="4992624" cy="1188720"/>
          </a:xfrm>
          <a:prstGeom prst="rect">
            <a:avLst/>
          </a:prstGeom>
          <a:noFill/>
        </p:spPr>
        <p:txBody>
          <a:bodyPr wrap="square">
            <a:spAutoFit/>
          </a:bodyPr>
          <a:lstStyle/>
          <a:p>
            <a:pPr algn="l"/>
            <a:r>
              <a:rPr sz="1200" b="0" i="0">
                <a:solidFill>
                  <a:srgbClr val="C0D4E8"/>
                </a:solidFill>
              </a:rPr>
              <a:t>□ 屋上または外壁の設置スペース確保
□ 南〜西方向の空の視界（衛星仰角）
□ 電源（AC100V）の引き込み
□ データセンターの設備変更申請手続き
□ 既存ルーターの置き換えまたは追加</a:t>
            </a:r>
          </a:p>
        </p:txBody>
      </p:sp>
      <p:sp>
        <p:nvSpPr>
          <p:cNvPr id="44" name="TextBox 43"/>
          <p:cNvSpPr txBox="1"/>
          <p:nvPr/>
        </p:nvSpPr>
        <p:spPr>
          <a:xfrm>
            <a:off x="10817352" y="6446520"/>
            <a:ext cx="1188720" cy="274320"/>
          </a:xfrm>
          <a:prstGeom prst="rect">
            <a:avLst/>
          </a:prstGeom>
          <a:noFill/>
        </p:spPr>
        <p:txBody>
          <a:bodyPr wrap="square">
            <a:spAutoFit/>
          </a:bodyPr>
          <a:lstStyle/>
          <a:p>
            <a:pPr algn="r"/>
            <a:r>
              <a:rPr sz="1100" b="0" i="0">
                <a:solidFill>
                  <a:srgbClr val="6A8AAA"/>
                </a:solidFill>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234440"/>
            <a:ext cx="73152" cy="347472"/>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43000"/>
            <a:ext cx="10789920" cy="457200"/>
          </a:xfrm>
          <a:prstGeom prst="rect">
            <a:avLst/>
          </a:prstGeom>
          <a:noFill/>
        </p:spPr>
        <p:txBody>
          <a:bodyPr wrap="square">
            <a:spAutoFit/>
          </a:bodyPr>
          <a:lstStyle/>
          <a:p>
            <a:pPr algn="l"/>
            <a:r>
              <a:rPr sz="2200" b="1" i="0">
                <a:solidFill>
                  <a:srgbClr val="FFFFFF"/>
                </a:solidFill>
              </a:rPr>
              <a:t>概算費用 ― 標準モデル（データセンター1棟）</a:t>
            </a:r>
          </a:p>
        </p:txBody>
      </p:sp>
      <p:sp>
        <p:nvSpPr>
          <p:cNvPr id="5" name="Rectangle 4"/>
          <p:cNvSpPr/>
          <p:nvPr/>
        </p:nvSpPr>
        <p:spPr>
          <a:xfrm>
            <a:off x="548640" y="1645920"/>
            <a:ext cx="11064240" cy="1905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828800"/>
            <a:ext cx="5394960" cy="274320"/>
          </a:xfrm>
          <a:prstGeom prst="rect">
            <a:avLst/>
          </a:prstGeom>
          <a:noFill/>
        </p:spPr>
        <p:txBody>
          <a:bodyPr wrap="square">
            <a:spAutoFit/>
          </a:bodyPr>
          <a:lstStyle/>
          <a:p>
            <a:pPr algn="l"/>
            <a:r>
              <a:rPr sz="1300" b="1" i="0">
                <a:solidFill>
                  <a:srgbClr val="00A8FF"/>
                </a:solidFill>
              </a:rPr>
              <a:t>【初期費用】</a:t>
            </a:r>
          </a:p>
        </p:txBody>
      </p:sp>
      <p:sp>
        <p:nvSpPr>
          <p:cNvPr id="7" name="Rectangle 6"/>
          <p:cNvSpPr/>
          <p:nvPr/>
        </p:nvSpPr>
        <p:spPr>
          <a:xfrm>
            <a:off x="457200" y="2148840"/>
            <a:ext cx="3657600" cy="36576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0" y="2148840"/>
            <a:ext cx="1737360" cy="36576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03704"/>
            <a:ext cx="3566160" cy="274320"/>
          </a:xfrm>
          <a:prstGeom prst="rect">
            <a:avLst/>
          </a:prstGeom>
          <a:noFill/>
        </p:spPr>
        <p:txBody>
          <a:bodyPr wrap="square">
            <a:spAutoFit/>
          </a:bodyPr>
          <a:lstStyle/>
          <a:p>
            <a:pPr algn="l"/>
            <a:r>
              <a:rPr sz="1200" b="0" i="0">
                <a:solidFill>
                  <a:srgbClr val="C0D4E8"/>
                </a:solidFill>
              </a:rPr>
              <a:t>Starlink端末（Flat High Performance）</a:t>
            </a:r>
          </a:p>
        </p:txBody>
      </p:sp>
      <p:sp>
        <p:nvSpPr>
          <p:cNvPr id="10" name="TextBox 9"/>
          <p:cNvSpPr txBox="1"/>
          <p:nvPr/>
        </p:nvSpPr>
        <p:spPr>
          <a:xfrm>
            <a:off x="4133087" y="2203704"/>
            <a:ext cx="1691640" cy="274320"/>
          </a:xfrm>
          <a:prstGeom prst="rect">
            <a:avLst/>
          </a:prstGeom>
          <a:noFill/>
        </p:spPr>
        <p:txBody>
          <a:bodyPr wrap="square">
            <a:spAutoFit/>
          </a:bodyPr>
          <a:lstStyle/>
          <a:p>
            <a:pPr algn="r"/>
            <a:r>
              <a:rPr sz="1200" b="0" i="0">
                <a:solidFill>
                  <a:srgbClr val="C0D4E8"/>
                </a:solidFill>
              </a:rPr>
              <a:t>約 150,000円</a:t>
            </a:r>
          </a:p>
        </p:txBody>
      </p:sp>
      <p:sp>
        <p:nvSpPr>
          <p:cNvPr id="11" name="Rectangle 10"/>
          <p:cNvSpPr/>
          <p:nvPr/>
        </p:nvSpPr>
        <p:spPr>
          <a:xfrm>
            <a:off x="457200" y="2532888"/>
            <a:ext cx="3657600" cy="365760"/>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0" y="2532888"/>
            <a:ext cx="1737360" cy="365760"/>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587752"/>
            <a:ext cx="3566160" cy="274320"/>
          </a:xfrm>
          <a:prstGeom prst="rect">
            <a:avLst/>
          </a:prstGeom>
          <a:noFill/>
        </p:spPr>
        <p:txBody>
          <a:bodyPr wrap="square">
            <a:spAutoFit/>
          </a:bodyPr>
          <a:lstStyle/>
          <a:p>
            <a:pPr algn="l"/>
            <a:r>
              <a:rPr sz="1200" b="0" i="0">
                <a:solidFill>
                  <a:srgbClr val="C0D4E8"/>
                </a:solidFill>
              </a:rPr>
              <a:t>冗長化ルーター（Peplink Balance等）</a:t>
            </a:r>
          </a:p>
        </p:txBody>
      </p:sp>
      <p:sp>
        <p:nvSpPr>
          <p:cNvPr id="14" name="TextBox 13"/>
          <p:cNvSpPr txBox="1"/>
          <p:nvPr/>
        </p:nvSpPr>
        <p:spPr>
          <a:xfrm>
            <a:off x="4133087" y="2587752"/>
            <a:ext cx="1691640" cy="274320"/>
          </a:xfrm>
          <a:prstGeom prst="rect">
            <a:avLst/>
          </a:prstGeom>
          <a:noFill/>
        </p:spPr>
        <p:txBody>
          <a:bodyPr wrap="square">
            <a:spAutoFit/>
          </a:bodyPr>
          <a:lstStyle/>
          <a:p>
            <a:pPr algn="r"/>
            <a:r>
              <a:rPr sz="1200" b="0" i="0">
                <a:solidFill>
                  <a:srgbClr val="C0D4E8"/>
                </a:solidFill>
              </a:rPr>
              <a:t>約 80,000〜150,000円</a:t>
            </a:r>
          </a:p>
        </p:txBody>
      </p:sp>
      <p:sp>
        <p:nvSpPr>
          <p:cNvPr id="15" name="Rectangle 14"/>
          <p:cNvSpPr/>
          <p:nvPr/>
        </p:nvSpPr>
        <p:spPr>
          <a:xfrm>
            <a:off x="457200" y="2916936"/>
            <a:ext cx="3657600" cy="36576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0" y="2916936"/>
            <a:ext cx="1737360" cy="36576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2971800"/>
            <a:ext cx="3566160" cy="274320"/>
          </a:xfrm>
          <a:prstGeom prst="rect">
            <a:avLst/>
          </a:prstGeom>
          <a:noFill/>
        </p:spPr>
        <p:txBody>
          <a:bodyPr wrap="square">
            <a:spAutoFit/>
          </a:bodyPr>
          <a:lstStyle/>
          <a:p>
            <a:pPr algn="l"/>
            <a:r>
              <a:rPr sz="1200" b="0" i="0">
                <a:solidFill>
                  <a:srgbClr val="C0D4E8"/>
                </a:solidFill>
              </a:rPr>
              <a:t>UPS（無停電電源装置）</a:t>
            </a:r>
          </a:p>
        </p:txBody>
      </p:sp>
      <p:sp>
        <p:nvSpPr>
          <p:cNvPr id="18" name="TextBox 17"/>
          <p:cNvSpPr txBox="1"/>
          <p:nvPr/>
        </p:nvSpPr>
        <p:spPr>
          <a:xfrm>
            <a:off x="4133087" y="2971800"/>
            <a:ext cx="1691640" cy="274320"/>
          </a:xfrm>
          <a:prstGeom prst="rect">
            <a:avLst/>
          </a:prstGeom>
          <a:noFill/>
        </p:spPr>
        <p:txBody>
          <a:bodyPr wrap="square">
            <a:spAutoFit/>
          </a:bodyPr>
          <a:lstStyle/>
          <a:p>
            <a:pPr algn="r"/>
            <a:r>
              <a:rPr sz="1200" b="0" i="0">
                <a:solidFill>
                  <a:srgbClr val="C0D4E8"/>
                </a:solidFill>
              </a:rPr>
              <a:t>約 50,000〜100,000円</a:t>
            </a:r>
          </a:p>
        </p:txBody>
      </p:sp>
      <p:sp>
        <p:nvSpPr>
          <p:cNvPr id="19" name="Rectangle 18"/>
          <p:cNvSpPr/>
          <p:nvPr/>
        </p:nvSpPr>
        <p:spPr>
          <a:xfrm>
            <a:off x="457200" y="3300984"/>
            <a:ext cx="3657600" cy="365760"/>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0" y="3300984"/>
            <a:ext cx="1737360" cy="365760"/>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355848"/>
            <a:ext cx="3566160" cy="274320"/>
          </a:xfrm>
          <a:prstGeom prst="rect">
            <a:avLst/>
          </a:prstGeom>
          <a:noFill/>
        </p:spPr>
        <p:txBody>
          <a:bodyPr wrap="square">
            <a:spAutoFit/>
          </a:bodyPr>
          <a:lstStyle/>
          <a:p>
            <a:pPr algn="l"/>
            <a:r>
              <a:rPr sz="1200" b="0" i="0">
                <a:solidFill>
                  <a:srgbClr val="C0D4E8"/>
                </a:solidFill>
              </a:rPr>
              <a:t>設置工事費（アンテナ・配線）</a:t>
            </a:r>
          </a:p>
        </p:txBody>
      </p:sp>
      <p:sp>
        <p:nvSpPr>
          <p:cNvPr id="22" name="TextBox 21"/>
          <p:cNvSpPr txBox="1"/>
          <p:nvPr/>
        </p:nvSpPr>
        <p:spPr>
          <a:xfrm>
            <a:off x="4133087" y="3355848"/>
            <a:ext cx="1691640" cy="274320"/>
          </a:xfrm>
          <a:prstGeom prst="rect">
            <a:avLst/>
          </a:prstGeom>
          <a:noFill/>
        </p:spPr>
        <p:txBody>
          <a:bodyPr wrap="square">
            <a:spAutoFit/>
          </a:bodyPr>
          <a:lstStyle/>
          <a:p>
            <a:pPr algn="r"/>
            <a:r>
              <a:rPr sz="1200" b="0" i="0">
                <a:solidFill>
                  <a:srgbClr val="C0D4E8"/>
                </a:solidFill>
              </a:rPr>
              <a:t>約 100,000〜200,000円</a:t>
            </a:r>
          </a:p>
        </p:txBody>
      </p:sp>
      <p:sp>
        <p:nvSpPr>
          <p:cNvPr id="23" name="Rectangle 22"/>
          <p:cNvSpPr/>
          <p:nvPr/>
        </p:nvSpPr>
        <p:spPr>
          <a:xfrm>
            <a:off x="457200" y="3685032"/>
            <a:ext cx="3657600" cy="36576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0" y="3685032"/>
            <a:ext cx="1737360" cy="36576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3739896"/>
            <a:ext cx="3566160" cy="274320"/>
          </a:xfrm>
          <a:prstGeom prst="rect">
            <a:avLst/>
          </a:prstGeom>
          <a:noFill/>
        </p:spPr>
        <p:txBody>
          <a:bodyPr wrap="square">
            <a:spAutoFit/>
          </a:bodyPr>
          <a:lstStyle/>
          <a:p>
            <a:pPr algn="l"/>
            <a:r>
              <a:rPr sz="1200" b="0" i="0">
                <a:solidFill>
                  <a:srgbClr val="C0D4E8"/>
                </a:solidFill>
              </a:rPr>
              <a:t>設定・開通テスト費</a:t>
            </a:r>
          </a:p>
        </p:txBody>
      </p:sp>
      <p:sp>
        <p:nvSpPr>
          <p:cNvPr id="26" name="TextBox 25"/>
          <p:cNvSpPr txBox="1"/>
          <p:nvPr/>
        </p:nvSpPr>
        <p:spPr>
          <a:xfrm>
            <a:off x="4133087" y="3739896"/>
            <a:ext cx="1691640" cy="274320"/>
          </a:xfrm>
          <a:prstGeom prst="rect">
            <a:avLst/>
          </a:prstGeom>
          <a:noFill/>
        </p:spPr>
        <p:txBody>
          <a:bodyPr wrap="square">
            <a:spAutoFit/>
          </a:bodyPr>
          <a:lstStyle/>
          <a:p>
            <a:pPr algn="r"/>
            <a:r>
              <a:rPr sz="1200" b="0" i="0">
                <a:solidFill>
                  <a:srgbClr val="C0D4E8"/>
                </a:solidFill>
              </a:rPr>
              <a:t>約 50,000円</a:t>
            </a:r>
          </a:p>
        </p:txBody>
      </p:sp>
      <p:sp>
        <p:nvSpPr>
          <p:cNvPr id="27" name="Rectangle 26"/>
          <p:cNvSpPr/>
          <p:nvPr/>
        </p:nvSpPr>
        <p:spPr>
          <a:xfrm>
            <a:off x="457200" y="4069080"/>
            <a:ext cx="3657600" cy="365760"/>
          </a:xfrm>
          <a:prstGeom prst="rect">
            <a:avLst/>
          </a:prstGeom>
          <a:solidFill>
            <a:srgbClr val="08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0" y="4069080"/>
            <a:ext cx="1737360" cy="365760"/>
          </a:xfrm>
          <a:prstGeom prst="rect">
            <a:avLst/>
          </a:prstGeom>
          <a:solidFill>
            <a:srgbClr val="08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4123944"/>
            <a:ext cx="3566160" cy="274320"/>
          </a:xfrm>
          <a:prstGeom prst="rect">
            <a:avLst/>
          </a:prstGeom>
          <a:noFill/>
        </p:spPr>
        <p:txBody>
          <a:bodyPr wrap="square">
            <a:spAutoFit/>
          </a:bodyPr>
          <a:lstStyle/>
          <a:p>
            <a:pPr algn="l"/>
            <a:r>
              <a:rPr sz="1200" b="1" i="0">
                <a:solidFill>
                  <a:srgbClr val="00A8FF"/>
                </a:solidFill>
              </a:rPr>
              <a:t>初期費用合計（目安）</a:t>
            </a:r>
          </a:p>
        </p:txBody>
      </p:sp>
      <p:sp>
        <p:nvSpPr>
          <p:cNvPr id="30" name="TextBox 29"/>
          <p:cNvSpPr txBox="1"/>
          <p:nvPr/>
        </p:nvSpPr>
        <p:spPr>
          <a:xfrm>
            <a:off x="4133087" y="4123944"/>
            <a:ext cx="1691640" cy="274320"/>
          </a:xfrm>
          <a:prstGeom prst="rect">
            <a:avLst/>
          </a:prstGeom>
          <a:noFill/>
        </p:spPr>
        <p:txBody>
          <a:bodyPr wrap="square">
            <a:spAutoFit/>
          </a:bodyPr>
          <a:lstStyle/>
          <a:p>
            <a:pPr algn="r"/>
            <a:r>
              <a:rPr sz="1200" b="1" i="0">
                <a:solidFill>
                  <a:srgbClr val="00A8FF"/>
                </a:solidFill>
              </a:rPr>
              <a:t>約 43〜65万円</a:t>
            </a:r>
          </a:p>
        </p:txBody>
      </p:sp>
      <p:sp>
        <p:nvSpPr>
          <p:cNvPr id="31" name="TextBox 30"/>
          <p:cNvSpPr txBox="1"/>
          <p:nvPr/>
        </p:nvSpPr>
        <p:spPr>
          <a:xfrm>
            <a:off x="6492240" y="1828800"/>
            <a:ext cx="5394960" cy="274320"/>
          </a:xfrm>
          <a:prstGeom prst="rect">
            <a:avLst/>
          </a:prstGeom>
          <a:noFill/>
        </p:spPr>
        <p:txBody>
          <a:bodyPr wrap="square">
            <a:spAutoFit/>
          </a:bodyPr>
          <a:lstStyle/>
          <a:p>
            <a:pPr algn="l"/>
            <a:r>
              <a:rPr sz="1300" b="1" i="0">
                <a:solidFill>
                  <a:srgbClr val="00A8FF"/>
                </a:solidFill>
              </a:rPr>
              <a:t>【月額費用】</a:t>
            </a:r>
          </a:p>
        </p:txBody>
      </p:sp>
      <p:sp>
        <p:nvSpPr>
          <p:cNvPr id="32" name="Rectangle 31"/>
          <p:cNvSpPr/>
          <p:nvPr/>
        </p:nvSpPr>
        <p:spPr>
          <a:xfrm>
            <a:off x="6492240" y="2148840"/>
            <a:ext cx="3474720" cy="36576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966960" y="2148840"/>
            <a:ext cx="1737360" cy="36576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37960" y="2203704"/>
            <a:ext cx="3383280" cy="274320"/>
          </a:xfrm>
          <a:prstGeom prst="rect">
            <a:avLst/>
          </a:prstGeom>
          <a:noFill/>
        </p:spPr>
        <p:txBody>
          <a:bodyPr wrap="square">
            <a:spAutoFit/>
          </a:bodyPr>
          <a:lstStyle/>
          <a:p>
            <a:pPr algn="l"/>
            <a:r>
              <a:rPr sz="1200" b="0" i="0">
                <a:solidFill>
                  <a:srgbClr val="C0D4E8"/>
                </a:solidFill>
              </a:rPr>
              <a:t>au Starlink 法人回線料</a:t>
            </a:r>
          </a:p>
        </p:txBody>
      </p:sp>
      <p:sp>
        <p:nvSpPr>
          <p:cNvPr id="35" name="TextBox 34"/>
          <p:cNvSpPr txBox="1"/>
          <p:nvPr/>
        </p:nvSpPr>
        <p:spPr>
          <a:xfrm>
            <a:off x="9985248" y="2203704"/>
            <a:ext cx="1691640" cy="274320"/>
          </a:xfrm>
          <a:prstGeom prst="rect">
            <a:avLst/>
          </a:prstGeom>
          <a:noFill/>
        </p:spPr>
        <p:txBody>
          <a:bodyPr wrap="square">
            <a:spAutoFit/>
          </a:bodyPr>
          <a:lstStyle/>
          <a:p>
            <a:pPr algn="r"/>
            <a:r>
              <a:rPr sz="1200" b="0" i="0">
                <a:solidFill>
                  <a:srgbClr val="C0D4E8"/>
                </a:solidFill>
              </a:rPr>
              <a:t>約 15,000〜25,000円</a:t>
            </a:r>
          </a:p>
        </p:txBody>
      </p:sp>
      <p:sp>
        <p:nvSpPr>
          <p:cNvPr id="36" name="Rectangle 35"/>
          <p:cNvSpPr/>
          <p:nvPr/>
        </p:nvSpPr>
        <p:spPr>
          <a:xfrm>
            <a:off x="6492240" y="2532888"/>
            <a:ext cx="3474720" cy="365760"/>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966960" y="2532888"/>
            <a:ext cx="1737360" cy="365760"/>
          </a:xfrm>
          <a:prstGeom prst="rect">
            <a:avLst/>
          </a:prstGeom>
          <a:solidFill>
            <a:srgbClr val="0D1A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37960" y="2587752"/>
            <a:ext cx="3383280" cy="274320"/>
          </a:xfrm>
          <a:prstGeom prst="rect">
            <a:avLst/>
          </a:prstGeom>
          <a:noFill/>
        </p:spPr>
        <p:txBody>
          <a:bodyPr wrap="square">
            <a:spAutoFit/>
          </a:bodyPr>
          <a:lstStyle/>
          <a:p>
            <a:pPr algn="l"/>
            <a:r>
              <a:rPr sz="1200" b="0" i="0">
                <a:solidFill>
                  <a:srgbClr val="C0D4E8"/>
                </a:solidFill>
              </a:rPr>
              <a:t>保守・監視サービス料</a:t>
            </a:r>
          </a:p>
        </p:txBody>
      </p:sp>
      <p:sp>
        <p:nvSpPr>
          <p:cNvPr id="39" name="TextBox 38"/>
          <p:cNvSpPr txBox="1"/>
          <p:nvPr/>
        </p:nvSpPr>
        <p:spPr>
          <a:xfrm>
            <a:off x="9985248" y="2587752"/>
            <a:ext cx="1691640" cy="274320"/>
          </a:xfrm>
          <a:prstGeom prst="rect">
            <a:avLst/>
          </a:prstGeom>
          <a:noFill/>
        </p:spPr>
        <p:txBody>
          <a:bodyPr wrap="square">
            <a:spAutoFit/>
          </a:bodyPr>
          <a:lstStyle/>
          <a:p>
            <a:pPr algn="r"/>
            <a:r>
              <a:rPr sz="1200" b="0" i="0">
                <a:solidFill>
                  <a:srgbClr val="C0D4E8"/>
                </a:solidFill>
              </a:rPr>
              <a:t>約 10,000〜20,000円</a:t>
            </a:r>
          </a:p>
        </p:txBody>
      </p:sp>
      <p:sp>
        <p:nvSpPr>
          <p:cNvPr id="40" name="Rectangle 39"/>
          <p:cNvSpPr/>
          <p:nvPr/>
        </p:nvSpPr>
        <p:spPr>
          <a:xfrm>
            <a:off x="6492240" y="2916936"/>
            <a:ext cx="3474720" cy="36576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66960" y="2916936"/>
            <a:ext cx="1737360" cy="365760"/>
          </a:xfrm>
          <a:prstGeom prst="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37960" y="2971800"/>
            <a:ext cx="3383280" cy="274320"/>
          </a:xfrm>
          <a:prstGeom prst="rect">
            <a:avLst/>
          </a:prstGeom>
          <a:noFill/>
        </p:spPr>
        <p:txBody>
          <a:bodyPr wrap="square">
            <a:spAutoFit/>
          </a:bodyPr>
          <a:lstStyle/>
          <a:p>
            <a:pPr algn="l"/>
            <a:r>
              <a:rPr sz="1200" b="0" i="0">
                <a:solidFill>
                  <a:srgbClr val="C0D4E8"/>
                </a:solidFill>
              </a:rPr>
              <a:t>（既存回線は継続）</a:t>
            </a:r>
          </a:p>
        </p:txBody>
      </p:sp>
      <p:sp>
        <p:nvSpPr>
          <p:cNvPr id="43" name="TextBox 42"/>
          <p:cNvSpPr txBox="1"/>
          <p:nvPr/>
        </p:nvSpPr>
        <p:spPr>
          <a:xfrm>
            <a:off x="9985248" y="2971800"/>
            <a:ext cx="1691640" cy="274320"/>
          </a:xfrm>
          <a:prstGeom prst="rect">
            <a:avLst/>
          </a:prstGeom>
          <a:noFill/>
        </p:spPr>
        <p:txBody>
          <a:bodyPr wrap="square">
            <a:spAutoFit/>
          </a:bodyPr>
          <a:lstStyle/>
          <a:p>
            <a:pPr algn="r"/>
            <a:r>
              <a:rPr sz="1200" b="0" i="0">
                <a:solidFill>
                  <a:srgbClr val="C0D4E8"/>
                </a:solidFill>
              </a:rPr>
              <a:t>変更なし</a:t>
            </a:r>
          </a:p>
        </p:txBody>
      </p:sp>
      <p:sp>
        <p:nvSpPr>
          <p:cNvPr id="44" name="Rectangle 43"/>
          <p:cNvSpPr/>
          <p:nvPr/>
        </p:nvSpPr>
        <p:spPr>
          <a:xfrm>
            <a:off x="6492240" y="3300984"/>
            <a:ext cx="3474720" cy="365760"/>
          </a:xfrm>
          <a:prstGeom prst="rect">
            <a:avLst/>
          </a:prstGeom>
          <a:solidFill>
            <a:srgbClr val="08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966960" y="3300984"/>
            <a:ext cx="1737360" cy="365760"/>
          </a:xfrm>
          <a:prstGeom prst="rect">
            <a:avLst/>
          </a:prstGeom>
          <a:solidFill>
            <a:srgbClr val="08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37960" y="3355848"/>
            <a:ext cx="3383280" cy="274320"/>
          </a:xfrm>
          <a:prstGeom prst="rect">
            <a:avLst/>
          </a:prstGeom>
          <a:noFill/>
        </p:spPr>
        <p:txBody>
          <a:bodyPr wrap="square">
            <a:spAutoFit/>
          </a:bodyPr>
          <a:lstStyle/>
          <a:p>
            <a:pPr algn="l"/>
            <a:r>
              <a:rPr sz="1200" b="1" i="0">
                <a:solidFill>
                  <a:srgbClr val="00A8FF"/>
                </a:solidFill>
              </a:rPr>
              <a:t>月額追加費用（目安）</a:t>
            </a:r>
          </a:p>
        </p:txBody>
      </p:sp>
      <p:sp>
        <p:nvSpPr>
          <p:cNvPr id="47" name="TextBox 46"/>
          <p:cNvSpPr txBox="1"/>
          <p:nvPr/>
        </p:nvSpPr>
        <p:spPr>
          <a:xfrm>
            <a:off x="9985248" y="3355848"/>
            <a:ext cx="1691640" cy="274320"/>
          </a:xfrm>
          <a:prstGeom prst="rect">
            <a:avLst/>
          </a:prstGeom>
          <a:noFill/>
        </p:spPr>
        <p:txBody>
          <a:bodyPr wrap="square">
            <a:spAutoFit/>
          </a:bodyPr>
          <a:lstStyle/>
          <a:p>
            <a:pPr algn="r"/>
            <a:r>
              <a:rPr sz="1200" b="1" i="0">
                <a:solidFill>
                  <a:srgbClr val="00A8FF"/>
                </a:solidFill>
              </a:rPr>
              <a:t>約 2.5〜4.5万円</a:t>
            </a:r>
          </a:p>
        </p:txBody>
      </p:sp>
      <p:sp>
        <p:nvSpPr>
          <p:cNvPr id="48" name="Rectangle 47"/>
          <p:cNvSpPr/>
          <p:nvPr/>
        </p:nvSpPr>
        <p:spPr>
          <a:xfrm>
            <a:off x="6492240" y="3840480"/>
            <a:ext cx="5212080" cy="1005840"/>
          </a:xfrm>
          <a:prstGeom prst="rect">
            <a:avLst/>
          </a:prstGeom>
          <a:solidFill>
            <a:srgbClr val="0A1E32"/>
          </a:solidFill>
          <a:ln w="1905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75120" y="3977640"/>
            <a:ext cx="4846320" cy="320040"/>
          </a:xfrm>
          <a:prstGeom prst="rect">
            <a:avLst/>
          </a:prstGeom>
          <a:noFill/>
        </p:spPr>
        <p:txBody>
          <a:bodyPr wrap="square">
            <a:spAutoFit/>
          </a:bodyPr>
          <a:lstStyle/>
          <a:p>
            <a:pPr algn="l"/>
            <a:r>
              <a:rPr sz="1400" b="1" i="0">
                <a:solidFill>
                  <a:srgbClr val="00A8FF"/>
                </a:solidFill>
              </a:rPr>
              <a:t>💰 費用対効果</a:t>
            </a:r>
          </a:p>
        </p:txBody>
      </p:sp>
      <p:sp>
        <p:nvSpPr>
          <p:cNvPr id="50" name="TextBox 49"/>
          <p:cNvSpPr txBox="1"/>
          <p:nvPr/>
        </p:nvSpPr>
        <p:spPr>
          <a:xfrm>
            <a:off x="6675120" y="4297680"/>
            <a:ext cx="4846320" cy="457200"/>
          </a:xfrm>
          <a:prstGeom prst="rect">
            <a:avLst/>
          </a:prstGeom>
          <a:noFill/>
        </p:spPr>
        <p:txBody>
          <a:bodyPr wrap="square">
            <a:spAutoFit/>
          </a:bodyPr>
          <a:lstStyle/>
          <a:p>
            <a:pPr algn="l"/>
            <a:r>
              <a:rPr sz="1250" b="0" i="0">
                <a:solidFill>
                  <a:srgbClr val="C0D4E8"/>
                </a:solidFill>
              </a:rPr>
              <a:t>通信断による損害賠償・SLA違約金リスクと比較すると、月額3〜5万円の追加投資でリスクを大幅に低減できます。</a:t>
            </a:r>
          </a:p>
        </p:txBody>
      </p:sp>
      <p:sp>
        <p:nvSpPr>
          <p:cNvPr id="51" name="Rectangle 50"/>
          <p:cNvSpPr/>
          <p:nvPr/>
        </p:nvSpPr>
        <p:spPr>
          <a:xfrm>
            <a:off x="457200" y="5074920"/>
            <a:ext cx="5760720" cy="1005840"/>
          </a:xfrm>
          <a:prstGeom prst="rect">
            <a:avLst/>
          </a:prstGeom>
          <a:solidFill>
            <a:srgbClr val="0A1E32"/>
          </a:solidFill>
          <a:ln w="1905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5212080"/>
            <a:ext cx="5394960" cy="320040"/>
          </a:xfrm>
          <a:prstGeom prst="rect">
            <a:avLst/>
          </a:prstGeom>
          <a:noFill/>
        </p:spPr>
        <p:txBody>
          <a:bodyPr wrap="square">
            <a:spAutoFit/>
          </a:bodyPr>
          <a:lstStyle/>
          <a:p>
            <a:pPr algn="l"/>
            <a:r>
              <a:rPr sz="1400" b="1" i="0">
                <a:solidFill>
                  <a:srgbClr val="00A8FF"/>
                </a:solidFill>
              </a:rPr>
              <a:t>📦 Starlink端末はオプション導入</a:t>
            </a:r>
          </a:p>
        </p:txBody>
      </p:sp>
      <p:sp>
        <p:nvSpPr>
          <p:cNvPr id="53" name="TextBox 52"/>
          <p:cNvSpPr txBox="1"/>
          <p:nvPr/>
        </p:nvSpPr>
        <p:spPr>
          <a:xfrm>
            <a:off x="640080" y="5532120"/>
            <a:ext cx="5394960" cy="457200"/>
          </a:xfrm>
          <a:prstGeom prst="rect">
            <a:avLst/>
          </a:prstGeom>
          <a:noFill/>
        </p:spPr>
        <p:txBody>
          <a:bodyPr wrap="square">
            <a:spAutoFit/>
          </a:bodyPr>
          <a:lstStyle/>
          <a:p>
            <a:pPr algn="l"/>
            <a:r>
              <a:rPr sz="1250" b="0" i="0">
                <a:solidFill>
                  <a:srgbClr val="C0D4E8"/>
                </a:solidFill>
              </a:rPr>
              <a:t>既存の警備サービス契約にStarlink通信バックアップをオプションとして追加する形態でも提供可能です。初期投資を抑えたトライアルからご検討いただけます。</a:t>
            </a:r>
          </a:p>
        </p:txBody>
      </p:sp>
      <p:sp>
        <p:nvSpPr>
          <p:cNvPr id="54" name="TextBox 53"/>
          <p:cNvSpPr txBox="1"/>
          <p:nvPr/>
        </p:nvSpPr>
        <p:spPr>
          <a:xfrm>
            <a:off x="457200" y="6492240"/>
            <a:ext cx="11247120" cy="228600"/>
          </a:xfrm>
          <a:prstGeom prst="rect">
            <a:avLst/>
          </a:prstGeom>
          <a:noFill/>
        </p:spPr>
        <p:txBody>
          <a:bodyPr wrap="square">
            <a:spAutoFit/>
          </a:bodyPr>
          <a:lstStyle/>
          <a:p>
            <a:pPr algn="l"/>
            <a:r>
              <a:rPr sz="1000" b="0" i="1">
                <a:solidFill>
                  <a:srgbClr val="6A8AAA"/>
                </a:solidFill>
              </a:rPr>
              <a:t>※上記は概算です。現地調査・設計後に正式な見積をご提示します。au法人向け特別価格適用の場合あり。</a:t>
            </a:r>
          </a:p>
        </p:txBody>
      </p:sp>
      <p:sp>
        <p:nvSpPr>
          <p:cNvPr id="55" name="TextBox 54"/>
          <p:cNvSpPr txBox="1"/>
          <p:nvPr/>
        </p:nvSpPr>
        <p:spPr>
          <a:xfrm>
            <a:off x="10817352" y="6446520"/>
            <a:ext cx="1188720" cy="274320"/>
          </a:xfrm>
          <a:prstGeom prst="rect">
            <a:avLst/>
          </a:prstGeom>
          <a:noFill/>
        </p:spPr>
        <p:txBody>
          <a:bodyPr wrap="square">
            <a:spAutoFit/>
          </a:bodyPr>
          <a:lstStyle/>
          <a:p>
            <a:pPr algn="r"/>
            <a:r>
              <a:rPr sz="1100" b="0" i="0">
                <a:solidFill>
                  <a:srgbClr val="6A8AAA"/>
                </a:solidFill>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234440"/>
            <a:ext cx="73152" cy="347472"/>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43000"/>
            <a:ext cx="10789920" cy="457200"/>
          </a:xfrm>
          <a:prstGeom prst="rect">
            <a:avLst/>
          </a:prstGeom>
          <a:noFill/>
        </p:spPr>
        <p:txBody>
          <a:bodyPr wrap="square">
            <a:spAutoFit/>
          </a:bodyPr>
          <a:lstStyle/>
          <a:p>
            <a:pPr algn="l"/>
            <a:r>
              <a:rPr sz="2200" b="1" i="0">
                <a:solidFill>
                  <a:srgbClr val="FFFFFF"/>
                </a:solidFill>
              </a:rPr>
              <a:t>導入による期待効果</a:t>
            </a:r>
          </a:p>
        </p:txBody>
      </p:sp>
      <p:sp>
        <p:nvSpPr>
          <p:cNvPr id="5" name="Rectangle 4"/>
          <p:cNvSpPr/>
          <p:nvPr/>
        </p:nvSpPr>
        <p:spPr>
          <a:xfrm>
            <a:off x="548640" y="1645920"/>
            <a:ext cx="11064240" cy="1905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2651760" cy="123444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965960"/>
            <a:ext cx="2651760" cy="548640"/>
          </a:xfrm>
          <a:prstGeom prst="rect">
            <a:avLst/>
          </a:prstGeom>
          <a:noFill/>
        </p:spPr>
        <p:txBody>
          <a:bodyPr wrap="square">
            <a:spAutoFit/>
          </a:bodyPr>
          <a:lstStyle/>
          <a:p>
            <a:pPr algn="ctr"/>
            <a:r>
              <a:rPr sz="3200" b="1" i="0">
                <a:solidFill>
                  <a:srgbClr val="00A8FF"/>
                </a:solidFill>
              </a:rPr>
              <a:t>99.99%</a:t>
            </a:r>
          </a:p>
        </p:txBody>
      </p:sp>
      <p:sp>
        <p:nvSpPr>
          <p:cNvPr id="8" name="TextBox 7"/>
          <p:cNvSpPr txBox="1"/>
          <p:nvPr/>
        </p:nvSpPr>
        <p:spPr>
          <a:xfrm>
            <a:off x="457200" y="2514600"/>
            <a:ext cx="2651760" cy="502920"/>
          </a:xfrm>
          <a:prstGeom prst="rect">
            <a:avLst/>
          </a:prstGeom>
          <a:noFill/>
        </p:spPr>
        <p:txBody>
          <a:bodyPr wrap="square">
            <a:spAutoFit/>
          </a:bodyPr>
          <a:lstStyle/>
          <a:p>
            <a:pPr algn="ctr"/>
            <a:r>
              <a:rPr sz="1150" b="0" i="0">
                <a:solidFill>
                  <a:srgbClr val="6A8AAA"/>
                </a:solidFill>
              </a:rPr>
              <a:t>警備通信システム
稼働率（目標）</a:t>
            </a:r>
          </a:p>
        </p:txBody>
      </p:sp>
      <p:sp>
        <p:nvSpPr>
          <p:cNvPr id="9" name="Rectangle 8"/>
          <p:cNvSpPr/>
          <p:nvPr/>
        </p:nvSpPr>
        <p:spPr>
          <a:xfrm>
            <a:off x="3310128" y="1828800"/>
            <a:ext cx="2651760" cy="123444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10128" y="1965960"/>
            <a:ext cx="2651760" cy="548640"/>
          </a:xfrm>
          <a:prstGeom prst="rect">
            <a:avLst/>
          </a:prstGeom>
          <a:noFill/>
        </p:spPr>
        <p:txBody>
          <a:bodyPr wrap="square">
            <a:spAutoFit/>
          </a:bodyPr>
          <a:lstStyle/>
          <a:p>
            <a:pPr algn="ctr"/>
            <a:r>
              <a:rPr sz="3200" b="1" i="0">
                <a:solidFill>
                  <a:srgbClr val="00A8FF"/>
                </a:solidFill>
              </a:rPr>
              <a:t>&lt;30秒</a:t>
            </a:r>
          </a:p>
        </p:txBody>
      </p:sp>
      <p:sp>
        <p:nvSpPr>
          <p:cNvPr id="11" name="TextBox 10"/>
          <p:cNvSpPr txBox="1"/>
          <p:nvPr/>
        </p:nvSpPr>
        <p:spPr>
          <a:xfrm>
            <a:off x="3310128" y="2514600"/>
            <a:ext cx="2651760" cy="502920"/>
          </a:xfrm>
          <a:prstGeom prst="rect">
            <a:avLst/>
          </a:prstGeom>
          <a:noFill/>
        </p:spPr>
        <p:txBody>
          <a:bodyPr wrap="square">
            <a:spAutoFit/>
          </a:bodyPr>
          <a:lstStyle/>
          <a:p>
            <a:pPr algn="ctr"/>
            <a:r>
              <a:rPr sz="1150" b="0" i="0">
                <a:solidFill>
                  <a:srgbClr val="6A8AAA"/>
                </a:solidFill>
              </a:rPr>
              <a:t>フェイルオーバー
切替時間</a:t>
            </a:r>
          </a:p>
        </p:txBody>
      </p:sp>
      <p:sp>
        <p:nvSpPr>
          <p:cNvPr id="12" name="Rectangle 11"/>
          <p:cNvSpPr/>
          <p:nvPr/>
        </p:nvSpPr>
        <p:spPr>
          <a:xfrm>
            <a:off x="6163056" y="1828800"/>
            <a:ext cx="2651760" cy="123444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63056" y="1965960"/>
            <a:ext cx="2651760" cy="548640"/>
          </a:xfrm>
          <a:prstGeom prst="rect">
            <a:avLst/>
          </a:prstGeom>
          <a:noFill/>
        </p:spPr>
        <p:txBody>
          <a:bodyPr wrap="square">
            <a:spAutoFit/>
          </a:bodyPr>
          <a:lstStyle/>
          <a:p>
            <a:pPr algn="ctr"/>
            <a:r>
              <a:rPr sz="3200" b="1" i="0">
                <a:solidFill>
                  <a:srgbClr val="00A8FF"/>
                </a:solidFill>
              </a:rPr>
              <a:t>72時間</a:t>
            </a:r>
          </a:p>
        </p:txBody>
      </p:sp>
      <p:sp>
        <p:nvSpPr>
          <p:cNvPr id="14" name="TextBox 13"/>
          <p:cNvSpPr txBox="1"/>
          <p:nvPr/>
        </p:nvSpPr>
        <p:spPr>
          <a:xfrm>
            <a:off x="6163056" y="2514600"/>
            <a:ext cx="2651760" cy="502920"/>
          </a:xfrm>
          <a:prstGeom prst="rect">
            <a:avLst/>
          </a:prstGeom>
          <a:noFill/>
        </p:spPr>
        <p:txBody>
          <a:bodyPr wrap="square">
            <a:spAutoFit/>
          </a:bodyPr>
          <a:lstStyle/>
          <a:p>
            <a:pPr algn="ctr"/>
            <a:r>
              <a:rPr sz="1150" b="0" i="0">
                <a:solidFill>
                  <a:srgbClr val="6A8AAA"/>
                </a:solidFill>
              </a:rPr>
              <a:t>UPS組み合わせ時
継続稼働目安</a:t>
            </a:r>
          </a:p>
        </p:txBody>
      </p:sp>
      <p:sp>
        <p:nvSpPr>
          <p:cNvPr id="15" name="Rectangle 14"/>
          <p:cNvSpPr/>
          <p:nvPr/>
        </p:nvSpPr>
        <p:spPr>
          <a:xfrm>
            <a:off x="9015984" y="1828800"/>
            <a:ext cx="2651760" cy="123444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15984" y="1965960"/>
            <a:ext cx="2651760" cy="548640"/>
          </a:xfrm>
          <a:prstGeom prst="rect">
            <a:avLst/>
          </a:prstGeom>
          <a:noFill/>
        </p:spPr>
        <p:txBody>
          <a:bodyPr wrap="square">
            <a:spAutoFit/>
          </a:bodyPr>
          <a:lstStyle/>
          <a:p>
            <a:pPr algn="ctr"/>
            <a:r>
              <a:rPr sz="3200" b="1" i="0">
                <a:solidFill>
                  <a:srgbClr val="00A8FF"/>
                </a:solidFill>
              </a:rPr>
              <a:t>0件</a:t>
            </a:r>
          </a:p>
        </p:txBody>
      </p:sp>
      <p:sp>
        <p:nvSpPr>
          <p:cNvPr id="17" name="TextBox 16"/>
          <p:cNvSpPr txBox="1"/>
          <p:nvPr/>
        </p:nvSpPr>
        <p:spPr>
          <a:xfrm>
            <a:off x="9015984" y="2514600"/>
            <a:ext cx="2651760" cy="502920"/>
          </a:xfrm>
          <a:prstGeom prst="rect">
            <a:avLst/>
          </a:prstGeom>
          <a:noFill/>
        </p:spPr>
        <p:txBody>
          <a:bodyPr wrap="square">
            <a:spAutoFit/>
          </a:bodyPr>
          <a:lstStyle/>
          <a:p>
            <a:pPr algn="ctr"/>
            <a:r>
              <a:rPr sz="1150" b="0" i="0">
                <a:solidFill>
                  <a:srgbClr val="6A8AAA"/>
                </a:solidFill>
              </a:rPr>
              <a:t>通信断による
監視空白（目標）</a:t>
            </a:r>
          </a:p>
        </p:txBody>
      </p:sp>
      <p:sp>
        <p:nvSpPr>
          <p:cNvPr id="18" name="TextBox 17"/>
          <p:cNvSpPr txBox="1"/>
          <p:nvPr/>
        </p:nvSpPr>
        <p:spPr>
          <a:xfrm>
            <a:off x="457200" y="3246120"/>
            <a:ext cx="5394960" cy="274320"/>
          </a:xfrm>
          <a:prstGeom prst="rect">
            <a:avLst/>
          </a:prstGeom>
          <a:noFill/>
        </p:spPr>
        <p:txBody>
          <a:bodyPr wrap="square">
            <a:spAutoFit/>
          </a:bodyPr>
          <a:lstStyle/>
          <a:p>
            <a:pPr algn="l"/>
            <a:r>
              <a:rPr sz="1400" b="1" i="0">
                <a:solidFill>
                  <a:srgbClr val="FFFFFF"/>
                </a:solidFill>
              </a:rPr>
              <a:t>定性的な効果</a:t>
            </a:r>
          </a:p>
        </p:txBody>
      </p:sp>
      <p:sp>
        <p:nvSpPr>
          <p:cNvPr id="19" name="TextBox 18"/>
          <p:cNvSpPr txBox="1"/>
          <p:nvPr/>
        </p:nvSpPr>
        <p:spPr>
          <a:xfrm>
            <a:off x="6309360" y="3246120"/>
            <a:ext cx="5394960" cy="274320"/>
          </a:xfrm>
          <a:prstGeom prst="rect">
            <a:avLst/>
          </a:prstGeom>
          <a:noFill/>
        </p:spPr>
        <p:txBody>
          <a:bodyPr wrap="square">
            <a:spAutoFit/>
          </a:bodyPr>
          <a:lstStyle/>
          <a:p>
            <a:pPr algn="l"/>
            <a:r>
              <a:rPr sz="1400" b="1" i="0">
                <a:solidFill>
                  <a:srgbClr val="FFFFFF"/>
                </a:solidFill>
              </a:rPr>
              <a:t>顧客企業のメリット</a:t>
            </a:r>
          </a:p>
        </p:txBody>
      </p:sp>
      <p:sp>
        <p:nvSpPr>
          <p:cNvPr id="20" name="TextBox 19"/>
          <p:cNvSpPr txBox="1"/>
          <p:nvPr/>
        </p:nvSpPr>
        <p:spPr>
          <a:xfrm>
            <a:off x="457200" y="3611880"/>
            <a:ext cx="274320" cy="320040"/>
          </a:xfrm>
          <a:prstGeom prst="rect">
            <a:avLst/>
          </a:prstGeom>
          <a:noFill/>
        </p:spPr>
        <p:txBody>
          <a:bodyPr wrap="square">
            <a:spAutoFit/>
          </a:bodyPr>
          <a:lstStyle/>
          <a:p>
            <a:pPr algn="l"/>
            <a:r>
              <a:rPr sz="1300" b="1" i="0">
                <a:solidFill>
                  <a:srgbClr val="00D4AA"/>
                </a:solidFill>
              </a:rPr>
              <a:t>✓</a:t>
            </a:r>
          </a:p>
        </p:txBody>
      </p:sp>
      <p:sp>
        <p:nvSpPr>
          <p:cNvPr id="21" name="TextBox 20"/>
          <p:cNvSpPr txBox="1"/>
          <p:nvPr/>
        </p:nvSpPr>
        <p:spPr>
          <a:xfrm>
            <a:off x="777240" y="3611880"/>
            <a:ext cx="5029200" cy="384048"/>
          </a:xfrm>
          <a:prstGeom prst="rect">
            <a:avLst/>
          </a:prstGeom>
          <a:noFill/>
        </p:spPr>
        <p:txBody>
          <a:bodyPr wrap="square">
            <a:spAutoFit/>
          </a:bodyPr>
          <a:lstStyle/>
          <a:p>
            <a:pPr algn="l"/>
            <a:r>
              <a:rPr sz="1250" b="0" i="0">
                <a:solidFill>
                  <a:srgbClr val="C0D4E8"/>
                </a:solidFill>
              </a:rPr>
              <a:t>災害時の顧客への「継続稼働報告」が可能になり信頼性が向上</a:t>
            </a:r>
          </a:p>
        </p:txBody>
      </p:sp>
      <p:sp>
        <p:nvSpPr>
          <p:cNvPr id="22" name="TextBox 21"/>
          <p:cNvSpPr txBox="1"/>
          <p:nvPr/>
        </p:nvSpPr>
        <p:spPr>
          <a:xfrm>
            <a:off x="457200" y="4069080"/>
            <a:ext cx="274320" cy="320040"/>
          </a:xfrm>
          <a:prstGeom prst="rect">
            <a:avLst/>
          </a:prstGeom>
          <a:noFill/>
        </p:spPr>
        <p:txBody>
          <a:bodyPr wrap="square">
            <a:spAutoFit/>
          </a:bodyPr>
          <a:lstStyle/>
          <a:p>
            <a:pPr algn="l"/>
            <a:r>
              <a:rPr sz="1300" b="1" i="0">
                <a:solidFill>
                  <a:srgbClr val="00D4AA"/>
                </a:solidFill>
              </a:rPr>
              <a:t>✓</a:t>
            </a:r>
          </a:p>
        </p:txBody>
      </p:sp>
      <p:sp>
        <p:nvSpPr>
          <p:cNvPr id="23" name="TextBox 22"/>
          <p:cNvSpPr txBox="1"/>
          <p:nvPr/>
        </p:nvSpPr>
        <p:spPr>
          <a:xfrm>
            <a:off x="777240" y="4069080"/>
            <a:ext cx="5029200" cy="384048"/>
          </a:xfrm>
          <a:prstGeom prst="rect">
            <a:avLst/>
          </a:prstGeom>
          <a:noFill/>
        </p:spPr>
        <p:txBody>
          <a:bodyPr wrap="square">
            <a:spAutoFit/>
          </a:bodyPr>
          <a:lstStyle/>
          <a:p>
            <a:pPr algn="l"/>
            <a:r>
              <a:rPr sz="1250" b="0" i="0">
                <a:solidFill>
                  <a:srgbClr val="C0D4E8"/>
                </a:solidFill>
              </a:rPr>
              <a:t>警備員・警備センター間の通信断がなくなり指揮系統が維持される</a:t>
            </a:r>
          </a:p>
        </p:txBody>
      </p:sp>
      <p:sp>
        <p:nvSpPr>
          <p:cNvPr id="24" name="TextBox 23"/>
          <p:cNvSpPr txBox="1"/>
          <p:nvPr/>
        </p:nvSpPr>
        <p:spPr>
          <a:xfrm>
            <a:off x="457200" y="4526280"/>
            <a:ext cx="274320" cy="320040"/>
          </a:xfrm>
          <a:prstGeom prst="rect">
            <a:avLst/>
          </a:prstGeom>
          <a:noFill/>
        </p:spPr>
        <p:txBody>
          <a:bodyPr wrap="square">
            <a:spAutoFit/>
          </a:bodyPr>
          <a:lstStyle/>
          <a:p>
            <a:pPr algn="l"/>
            <a:r>
              <a:rPr sz="1300" b="1" i="0">
                <a:solidFill>
                  <a:srgbClr val="00D4AA"/>
                </a:solidFill>
              </a:rPr>
              <a:t>✓</a:t>
            </a:r>
          </a:p>
        </p:txBody>
      </p:sp>
      <p:sp>
        <p:nvSpPr>
          <p:cNvPr id="25" name="TextBox 24"/>
          <p:cNvSpPr txBox="1"/>
          <p:nvPr/>
        </p:nvSpPr>
        <p:spPr>
          <a:xfrm>
            <a:off x="777240" y="4526280"/>
            <a:ext cx="5029200" cy="384048"/>
          </a:xfrm>
          <a:prstGeom prst="rect">
            <a:avLst/>
          </a:prstGeom>
          <a:noFill/>
        </p:spPr>
        <p:txBody>
          <a:bodyPr wrap="square">
            <a:spAutoFit/>
          </a:bodyPr>
          <a:lstStyle/>
          <a:p>
            <a:pPr algn="l"/>
            <a:r>
              <a:rPr sz="1250" b="0" i="0">
                <a:solidFill>
                  <a:srgbClr val="C0D4E8"/>
                </a:solidFill>
              </a:rPr>
              <a:t>BCP対応訴求ポイントとして新規顧客への差別化に活用可能</a:t>
            </a:r>
          </a:p>
        </p:txBody>
      </p:sp>
      <p:sp>
        <p:nvSpPr>
          <p:cNvPr id="26" name="TextBox 25"/>
          <p:cNvSpPr txBox="1"/>
          <p:nvPr/>
        </p:nvSpPr>
        <p:spPr>
          <a:xfrm>
            <a:off x="457200" y="4983480"/>
            <a:ext cx="274320" cy="320040"/>
          </a:xfrm>
          <a:prstGeom prst="rect">
            <a:avLst/>
          </a:prstGeom>
          <a:noFill/>
        </p:spPr>
        <p:txBody>
          <a:bodyPr wrap="square">
            <a:spAutoFit/>
          </a:bodyPr>
          <a:lstStyle/>
          <a:p>
            <a:pPr algn="l"/>
            <a:r>
              <a:rPr sz="1300" b="1" i="0">
                <a:solidFill>
                  <a:srgbClr val="00D4AA"/>
                </a:solidFill>
              </a:rPr>
              <a:t>✓</a:t>
            </a:r>
          </a:p>
        </p:txBody>
      </p:sp>
      <p:sp>
        <p:nvSpPr>
          <p:cNvPr id="27" name="TextBox 26"/>
          <p:cNvSpPr txBox="1"/>
          <p:nvPr/>
        </p:nvSpPr>
        <p:spPr>
          <a:xfrm>
            <a:off x="777240" y="4983480"/>
            <a:ext cx="5029200" cy="384048"/>
          </a:xfrm>
          <a:prstGeom prst="rect">
            <a:avLst/>
          </a:prstGeom>
          <a:noFill/>
        </p:spPr>
        <p:txBody>
          <a:bodyPr wrap="square">
            <a:spAutoFit/>
          </a:bodyPr>
          <a:lstStyle/>
          <a:p>
            <a:pPr algn="l"/>
            <a:r>
              <a:rPr sz="1250" b="0" i="0">
                <a:solidFill>
                  <a:srgbClr val="C0D4E8"/>
                </a:solidFill>
              </a:rPr>
              <a:t>SLA保証の強化による契約単価の見直し（アップセル）機会の創出</a:t>
            </a:r>
          </a:p>
        </p:txBody>
      </p:sp>
      <p:sp>
        <p:nvSpPr>
          <p:cNvPr id="28" name="TextBox 27"/>
          <p:cNvSpPr txBox="1"/>
          <p:nvPr/>
        </p:nvSpPr>
        <p:spPr>
          <a:xfrm>
            <a:off x="457200" y="5440680"/>
            <a:ext cx="274320" cy="320040"/>
          </a:xfrm>
          <a:prstGeom prst="rect">
            <a:avLst/>
          </a:prstGeom>
          <a:noFill/>
        </p:spPr>
        <p:txBody>
          <a:bodyPr wrap="square">
            <a:spAutoFit/>
          </a:bodyPr>
          <a:lstStyle/>
          <a:p>
            <a:pPr algn="l"/>
            <a:r>
              <a:rPr sz="1300" b="1" i="0">
                <a:solidFill>
                  <a:srgbClr val="00D4AA"/>
                </a:solidFill>
              </a:rPr>
              <a:t>✓</a:t>
            </a:r>
          </a:p>
        </p:txBody>
      </p:sp>
      <p:sp>
        <p:nvSpPr>
          <p:cNvPr id="29" name="TextBox 28"/>
          <p:cNvSpPr txBox="1"/>
          <p:nvPr/>
        </p:nvSpPr>
        <p:spPr>
          <a:xfrm>
            <a:off x="777240" y="5440680"/>
            <a:ext cx="5029200" cy="384048"/>
          </a:xfrm>
          <a:prstGeom prst="rect">
            <a:avLst/>
          </a:prstGeom>
          <a:noFill/>
        </p:spPr>
        <p:txBody>
          <a:bodyPr wrap="square">
            <a:spAutoFit/>
          </a:bodyPr>
          <a:lstStyle/>
          <a:p>
            <a:pPr algn="l"/>
            <a:r>
              <a:rPr sz="1250" b="0" i="0">
                <a:solidFill>
                  <a:srgbClr val="C0D4E8"/>
                </a:solidFill>
              </a:rPr>
              <a:t>通信障害起因の損害賠償リスクを大幅に低減</a:t>
            </a:r>
          </a:p>
        </p:txBody>
      </p:sp>
      <p:sp>
        <p:nvSpPr>
          <p:cNvPr id="30" name="TextBox 29"/>
          <p:cNvSpPr txBox="1"/>
          <p:nvPr/>
        </p:nvSpPr>
        <p:spPr>
          <a:xfrm>
            <a:off x="457200" y="5897880"/>
            <a:ext cx="274320" cy="320040"/>
          </a:xfrm>
          <a:prstGeom prst="rect">
            <a:avLst/>
          </a:prstGeom>
          <a:noFill/>
        </p:spPr>
        <p:txBody>
          <a:bodyPr wrap="square">
            <a:spAutoFit/>
          </a:bodyPr>
          <a:lstStyle/>
          <a:p>
            <a:pPr algn="l"/>
            <a:r>
              <a:rPr sz="1300" b="1" i="0">
                <a:solidFill>
                  <a:srgbClr val="00D4AA"/>
                </a:solidFill>
              </a:rPr>
              <a:t>✓</a:t>
            </a:r>
          </a:p>
        </p:txBody>
      </p:sp>
      <p:sp>
        <p:nvSpPr>
          <p:cNvPr id="31" name="TextBox 30"/>
          <p:cNvSpPr txBox="1"/>
          <p:nvPr/>
        </p:nvSpPr>
        <p:spPr>
          <a:xfrm>
            <a:off x="777240" y="5897880"/>
            <a:ext cx="5029200" cy="384048"/>
          </a:xfrm>
          <a:prstGeom prst="rect">
            <a:avLst/>
          </a:prstGeom>
          <a:noFill/>
        </p:spPr>
        <p:txBody>
          <a:bodyPr wrap="square">
            <a:spAutoFit/>
          </a:bodyPr>
          <a:lstStyle/>
          <a:p>
            <a:pPr algn="l"/>
            <a:r>
              <a:rPr sz="1250" b="0" i="0">
                <a:solidFill>
                  <a:srgbClr val="C0D4E8"/>
                </a:solidFill>
              </a:rPr>
              <a:t>KDDI au法人パートナーシップによる安定したサポート体制</a:t>
            </a:r>
          </a:p>
        </p:txBody>
      </p:sp>
      <p:sp>
        <p:nvSpPr>
          <p:cNvPr id="32" name="TextBox 31"/>
          <p:cNvSpPr txBox="1"/>
          <p:nvPr/>
        </p:nvSpPr>
        <p:spPr>
          <a:xfrm>
            <a:off x="6309360" y="3611880"/>
            <a:ext cx="274320" cy="320040"/>
          </a:xfrm>
          <a:prstGeom prst="rect">
            <a:avLst/>
          </a:prstGeom>
          <a:noFill/>
        </p:spPr>
        <p:txBody>
          <a:bodyPr wrap="square">
            <a:spAutoFit/>
          </a:bodyPr>
          <a:lstStyle/>
          <a:p>
            <a:pPr algn="l"/>
            <a:r>
              <a:rPr sz="1300" b="1" i="0">
                <a:solidFill>
                  <a:srgbClr val="00D4AA"/>
                </a:solidFill>
              </a:rPr>
              <a:t>✓</a:t>
            </a:r>
          </a:p>
        </p:txBody>
      </p:sp>
      <p:sp>
        <p:nvSpPr>
          <p:cNvPr id="33" name="TextBox 32"/>
          <p:cNvSpPr txBox="1"/>
          <p:nvPr/>
        </p:nvSpPr>
        <p:spPr>
          <a:xfrm>
            <a:off x="6629400" y="3611880"/>
            <a:ext cx="5029200" cy="384048"/>
          </a:xfrm>
          <a:prstGeom prst="rect">
            <a:avLst/>
          </a:prstGeom>
          <a:noFill/>
        </p:spPr>
        <p:txBody>
          <a:bodyPr wrap="square">
            <a:spAutoFit/>
          </a:bodyPr>
          <a:lstStyle/>
          <a:p>
            <a:pPr algn="l"/>
            <a:r>
              <a:rPr sz="1250" b="0" i="0">
                <a:solidFill>
                  <a:srgbClr val="C0D4E8"/>
                </a:solidFill>
              </a:rPr>
              <a:t>データセンターのBCP要件を満たす通信冗長化を証明できる</a:t>
            </a:r>
          </a:p>
        </p:txBody>
      </p:sp>
      <p:sp>
        <p:nvSpPr>
          <p:cNvPr id="34" name="TextBox 33"/>
          <p:cNvSpPr txBox="1"/>
          <p:nvPr/>
        </p:nvSpPr>
        <p:spPr>
          <a:xfrm>
            <a:off x="6309360" y="4069080"/>
            <a:ext cx="274320" cy="320040"/>
          </a:xfrm>
          <a:prstGeom prst="rect">
            <a:avLst/>
          </a:prstGeom>
          <a:noFill/>
        </p:spPr>
        <p:txBody>
          <a:bodyPr wrap="square">
            <a:spAutoFit/>
          </a:bodyPr>
          <a:lstStyle/>
          <a:p>
            <a:pPr algn="l"/>
            <a:r>
              <a:rPr sz="1300" b="1" i="0">
                <a:solidFill>
                  <a:srgbClr val="00D4AA"/>
                </a:solidFill>
              </a:rPr>
              <a:t>✓</a:t>
            </a:r>
          </a:p>
        </p:txBody>
      </p:sp>
      <p:sp>
        <p:nvSpPr>
          <p:cNvPr id="35" name="TextBox 34"/>
          <p:cNvSpPr txBox="1"/>
          <p:nvPr/>
        </p:nvSpPr>
        <p:spPr>
          <a:xfrm>
            <a:off x="6629400" y="4069080"/>
            <a:ext cx="5029200" cy="384048"/>
          </a:xfrm>
          <a:prstGeom prst="rect">
            <a:avLst/>
          </a:prstGeom>
          <a:noFill/>
        </p:spPr>
        <p:txBody>
          <a:bodyPr wrap="square">
            <a:spAutoFit/>
          </a:bodyPr>
          <a:lstStyle/>
          <a:p>
            <a:pPr algn="l"/>
            <a:r>
              <a:rPr sz="1250" b="0" i="0">
                <a:solidFill>
                  <a:srgbClr val="C0D4E8"/>
                </a:solidFill>
              </a:rPr>
              <a:t>金融・医療・行政等の厳格なコンプライアンス要件への対応強化</a:t>
            </a:r>
          </a:p>
        </p:txBody>
      </p:sp>
      <p:sp>
        <p:nvSpPr>
          <p:cNvPr id="36" name="TextBox 35"/>
          <p:cNvSpPr txBox="1"/>
          <p:nvPr/>
        </p:nvSpPr>
        <p:spPr>
          <a:xfrm>
            <a:off x="6309360" y="4526280"/>
            <a:ext cx="274320" cy="320040"/>
          </a:xfrm>
          <a:prstGeom prst="rect">
            <a:avLst/>
          </a:prstGeom>
          <a:noFill/>
        </p:spPr>
        <p:txBody>
          <a:bodyPr wrap="square">
            <a:spAutoFit/>
          </a:bodyPr>
          <a:lstStyle/>
          <a:p>
            <a:pPr algn="l"/>
            <a:r>
              <a:rPr sz="1300" b="1" i="0">
                <a:solidFill>
                  <a:srgbClr val="00D4AA"/>
                </a:solidFill>
              </a:rPr>
              <a:t>✓</a:t>
            </a:r>
          </a:p>
        </p:txBody>
      </p:sp>
      <p:sp>
        <p:nvSpPr>
          <p:cNvPr id="37" name="TextBox 36"/>
          <p:cNvSpPr txBox="1"/>
          <p:nvPr/>
        </p:nvSpPr>
        <p:spPr>
          <a:xfrm>
            <a:off x="6629400" y="4526280"/>
            <a:ext cx="5029200" cy="384048"/>
          </a:xfrm>
          <a:prstGeom prst="rect">
            <a:avLst/>
          </a:prstGeom>
          <a:noFill/>
        </p:spPr>
        <p:txBody>
          <a:bodyPr wrap="square">
            <a:spAutoFit/>
          </a:bodyPr>
          <a:lstStyle/>
          <a:p>
            <a:pPr algn="l"/>
            <a:r>
              <a:rPr sz="1250" b="0" i="0">
                <a:solidFill>
                  <a:srgbClr val="C0D4E8"/>
                </a:solidFill>
              </a:rPr>
              <a:t>入居テナントへ「災害時も監視継続」をアピール可能</a:t>
            </a:r>
          </a:p>
        </p:txBody>
      </p:sp>
      <p:sp>
        <p:nvSpPr>
          <p:cNvPr id="38" name="TextBox 37"/>
          <p:cNvSpPr txBox="1"/>
          <p:nvPr/>
        </p:nvSpPr>
        <p:spPr>
          <a:xfrm>
            <a:off x="6309360" y="4983480"/>
            <a:ext cx="274320" cy="320040"/>
          </a:xfrm>
          <a:prstGeom prst="rect">
            <a:avLst/>
          </a:prstGeom>
          <a:noFill/>
        </p:spPr>
        <p:txBody>
          <a:bodyPr wrap="square">
            <a:spAutoFit/>
          </a:bodyPr>
          <a:lstStyle/>
          <a:p>
            <a:pPr algn="l"/>
            <a:r>
              <a:rPr sz="1300" b="1" i="0">
                <a:solidFill>
                  <a:srgbClr val="00D4AA"/>
                </a:solidFill>
              </a:rPr>
              <a:t>✓</a:t>
            </a:r>
          </a:p>
        </p:txBody>
      </p:sp>
      <p:sp>
        <p:nvSpPr>
          <p:cNvPr id="39" name="TextBox 38"/>
          <p:cNvSpPr txBox="1"/>
          <p:nvPr/>
        </p:nvSpPr>
        <p:spPr>
          <a:xfrm>
            <a:off x="6629400" y="4983480"/>
            <a:ext cx="5029200" cy="384048"/>
          </a:xfrm>
          <a:prstGeom prst="rect">
            <a:avLst/>
          </a:prstGeom>
          <a:noFill/>
        </p:spPr>
        <p:txBody>
          <a:bodyPr wrap="square">
            <a:spAutoFit/>
          </a:bodyPr>
          <a:lstStyle/>
          <a:p>
            <a:pPr algn="l"/>
            <a:r>
              <a:rPr sz="1250" b="0" i="0">
                <a:solidFill>
                  <a:srgbClr val="C0D4E8"/>
                </a:solidFill>
              </a:rPr>
              <a:t>警備会社との長期契約の根拠となる付加価値の提供</a:t>
            </a:r>
          </a:p>
        </p:txBody>
      </p:sp>
      <p:sp>
        <p:nvSpPr>
          <p:cNvPr id="40" name="TextBox 39"/>
          <p:cNvSpPr txBox="1"/>
          <p:nvPr/>
        </p:nvSpPr>
        <p:spPr>
          <a:xfrm>
            <a:off x="6309360" y="5440680"/>
            <a:ext cx="274320" cy="320040"/>
          </a:xfrm>
          <a:prstGeom prst="rect">
            <a:avLst/>
          </a:prstGeom>
          <a:noFill/>
        </p:spPr>
        <p:txBody>
          <a:bodyPr wrap="square">
            <a:spAutoFit/>
          </a:bodyPr>
          <a:lstStyle/>
          <a:p>
            <a:pPr algn="l"/>
            <a:r>
              <a:rPr sz="1300" b="1" i="0">
                <a:solidFill>
                  <a:srgbClr val="00D4AA"/>
                </a:solidFill>
              </a:rPr>
              <a:t>✓</a:t>
            </a:r>
          </a:p>
        </p:txBody>
      </p:sp>
      <p:sp>
        <p:nvSpPr>
          <p:cNvPr id="41" name="TextBox 40"/>
          <p:cNvSpPr txBox="1"/>
          <p:nvPr/>
        </p:nvSpPr>
        <p:spPr>
          <a:xfrm>
            <a:off x="6629400" y="5440680"/>
            <a:ext cx="5029200" cy="384048"/>
          </a:xfrm>
          <a:prstGeom prst="rect">
            <a:avLst/>
          </a:prstGeom>
          <a:noFill/>
        </p:spPr>
        <p:txBody>
          <a:bodyPr wrap="square">
            <a:spAutoFit/>
          </a:bodyPr>
          <a:lstStyle/>
          <a:p>
            <a:pPr algn="l"/>
            <a:r>
              <a:rPr sz="1250" b="0" i="0">
                <a:solidFill>
                  <a:srgbClr val="C0D4E8"/>
                </a:solidFill>
              </a:rPr>
              <a:t>ISO27001・SOC2等のセキュリティ認証審査でのアドバンテージ</a:t>
            </a:r>
          </a:p>
        </p:txBody>
      </p:sp>
      <p:sp>
        <p:nvSpPr>
          <p:cNvPr id="42" name="TextBox 41"/>
          <p:cNvSpPr txBox="1"/>
          <p:nvPr/>
        </p:nvSpPr>
        <p:spPr>
          <a:xfrm>
            <a:off x="6309360" y="5897880"/>
            <a:ext cx="274320" cy="320040"/>
          </a:xfrm>
          <a:prstGeom prst="rect">
            <a:avLst/>
          </a:prstGeom>
          <a:noFill/>
        </p:spPr>
        <p:txBody>
          <a:bodyPr wrap="square">
            <a:spAutoFit/>
          </a:bodyPr>
          <a:lstStyle/>
          <a:p>
            <a:pPr algn="l"/>
            <a:r>
              <a:rPr sz="1300" b="1" i="0">
                <a:solidFill>
                  <a:srgbClr val="00D4AA"/>
                </a:solidFill>
              </a:rPr>
              <a:t>✓</a:t>
            </a:r>
          </a:p>
        </p:txBody>
      </p:sp>
      <p:sp>
        <p:nvSpPr>
          <p:cNvPr id="43" name="TextBox 42"/>
          <p:cNvSpPr txBox="1"/>
          <p:nvPr/>
        </p:nvSpPr>
        <p:spPr>
          <a:xfrm>
            <a:off x="6629400" y="5897880"/>
            <a:ext cx="5029200" cy="384048"/>
          </a:xfrm>
          <a:prstGeom prst="rect">
            <a:avLst/>
          </a:prstGeom>
          <a:noFill/>
        </p:spPr>
        <p:txBody>
          <a:bodyPr wrap="square">
            <a:spAutoFit/>
          </a:bodyPr>
          <a:lstStyle/>
          <a:p>
            <a:pPr algn="l"/>
            <a:r>
              <a:rPr sz="1250" b="0" i="0">
                <a:solidFill>
                  <a:srgbClr val="C0D4E8"/>
                </a:solidFill>
              </a:rPr>
              <a:t>スマホホットライン導入により警備員の現場対応力が向上</a:t>
            </a:r>
          </a:p>
        </p:txBody>
      </p:sp>
      <p:sp>
        <p:nvSpPr>
          <p:cNvPr id="44" name="TextBox 43"/>
          <p:cNvSpPr txBox="1"/>
          <p:nvPr/>
        </p:nvSpPr>
        <p:spPr>
          <a:xfrm>
            <a:off x="10817352" y="6446520"/>
            <a:ext cx="1188720" cy="274320"/>
          </a:xfrm>
          <a:prstGeom prst="rect">
            <a:avLst/>
          </a:prstGeom>
          <a:noFill/>
        </p:spPr>
        <p:txBody>
          <a:bodyPr wrap="square">
            <a:spAutoFit/>
          </a:bodyPr>
          <a:lstStyle/>
          <a:p>
            <a:pPr algn="r"/>
            <a:r>
              <a:rPr sz="1100" b="0" i="0">
                <a:solidFill>
                  <a:srgbClr val="6A8AAA"/>
                </a:solidFill>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234440"/>
            <a:ext cx="73152" cy="347472"/>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43000"/>
            <a:ext cx="10789920" cy="457200"/>
          </a:xfrm>
          <a:prstGeom prst="rect">
            <a:avLst/>
          </a:prstGeom>
          <a:noFill/>
        </p:spPr>
        <p:txBody>
          <a:bodyPr wrap="square">
            <a:spAutoFit/>
          </a:bodyPr>
          <a:lstStyle/>
          <a:p>
            <a:pPr algn="l"/>
            <a:r>
              <a:rPr sz="2200" b="1" i="0">
                <a:solidFill>
                  <a:srgbClr val="FFFFFF"/>
                </a:solidFill>
              </a:rPr>
              <a:t>よくあるご質問（FAQ）</a:t>
            </a:r>
          </a:p>
        </p:txBody>
      </p:sp>
      <p:sp>
        <p:nvSpPr>
          <p:cNvPr id="5" name="Rectangle 4"/>
          <p:cNvSpPr/>
          <p:nvPr/>
        </p:nvSpPr>
        <p:spPr>
          <a:xfrm>
            <a:off x="548640" y="1645920"/>
            <a:ext cx="11064240" cy="1905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11247120" cy="1115568"/>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457200" cy="1115568"/>
          </a:xfrm>
          <a:prstGeom prst="rect">
            <a:avLst/>
          </a:prstGeom>
          <a:solidFill>
            <a:srgbClr val="002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2176272"/>
            <a:ext cx="457200" cy="365760"/>
          </a:xfrm>
          <a:prstGeom prst="rect">
            <a:avLst/>
          </a:prstGeom>
          <a:noFill/>
        </p:spPr>
        <p:txBody>
          <a:bodyPr wrap="square">
            <a:spAutoFit/>
          </a:bodyPr>
          <a:lstStyle/>
          <a:p>
            <a:pPr algn="ctr"/>
            <a:r>
              <a:rPr sz="1400" b="1" i="0">
                <a:solidFill>
                  <a:srgbClr val="00A8FF"/>
                </a:solidFill>
              </a:rPr>
              <a:t>Q</a:t>
            </a:r>
          </a:p>
        </p:txBody>
      </p:sp>
      <p:sp>
        <p:nvSpPr>
          <p:cNvPr id="9" name="TextBox 8"/>
          <p:cNvSpPr txBox="1"/>
          <p:nvPr/>
        </p:nvSpPr>
        <p:spPr>
          <a:xfrm>
            <a:off x="1005840" y="1901952"/>
            <a:ext cx="10515600" cy="320040"/>
          </a:xfrm>
          <a:prstGeom prst="rect">
            <a:avLst/>
          </a:prstGeom>
          <a:noFill/>
        </p:spPr>
        <p:txBody>
          <a:bodyPr wrap="square">
            <a:spAutoFit/>
          </a:bodyPr>
          <a:lstStyle/>
          <a:p>
            <a:pPr algn="l"/>
            <a:r>
              <a:rPr sz="1300" b="1" i="0">
                <a:solidFill>
                  <a:srgbClr val="FFFFFF"/>
                </a:solidFill>
              </a:rPr>
              <a:t>大雨や台風でStarlinkのアンテナは使えますか？</a:t>
            </a:r>
          </a:p>
        </p:txBody>
      </p:sp>
      <p:sp>
        <p:nvSpPr>
          <p:cNvPr id="10" name="TextBox 9"/>
          <p:cNvSpPr txBox="1"/>
          <p:nvPr/>
        </p:nvSpPr>
        <p:spPr>
          <a:xfrm>
            <a:off x="1005840" y="2240280"/>
            <a:ext cx="10515600" cy="621792"/>
          </a:xfrm>
          <a:prstGeom prst="rect">
            <a:avLst/>
          </a:prstGeom>
          <a:noFill/>
        </p:spPr>
        <p:txBody>
          <a:bodyPr wrap="square">
            <a:spAutoFit/>
          </a:bodyPr>
          <a:lstStyle/>
          <a:p>
            <a:pPr algn="l"/>
            <a:r>
              <a:rPr sz="1200" b="0" i="0">
                <a:solidFill>
                  <a:srgbClr val="C0D4E8"/>
                </a:solidFill>
              </a:rPr>
              <a:t>A：Starlink Flat High Performanceは防水・耐候設計（IP56）で、強風（最大278km/h相当）にも耐える設計です。豪雨時は一時的な速度低下の可能性がありますが、補助としてLTE回線との3重化も対応可能です。</a:t>
            </a:r>
          </a:p>
        </p:txBody>
      </p:sp>
      <p:sp>
        <p:nvSpPr>
          <p:cNvPr id="11" name="Rectangle 10"/>
          <p:cNvSpPr/>
          <p:nvPr/>
        </p:nvSpPr>
        <p:spPr>
          <a:xfrm>
            <a:off x="457200" y="3054096"/>
            <a:ext cx="11247120" cy="1115568"/>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054096"/>
            <a:ext cx="457200" cy="1115568"/>
          </a:xfrm>
          <a:prstGeom prst="rect">
            <a:avLst/>
          </a:prstGeom>
          <a:solidFill>
            <a:srgbClr val="002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401568"/>
            <a:ext cx="457200" cy="365760"/>
          </a:xfrm>
          <a:prstGeom prst="rect">
            <a:avLst/>
          </a:prstGeom>
          <a:noFill/>
        </p:spPr>
        <p:txBody>
          <a:bodyPr wrap="square">
            <a:spAutoFit/>
          </a:bodyPr>
          <a:lstStyle/>
          <a:p>
            <a:pPr algn="ctr"/>
            <a:r>
              <a:rPr sz="1400" b="1" i="0">
                <a:solidFill>
                  <a:srgbClr val="00A8FF"/>
                </a:solidFill>
              </a:rPr>
              <a:t>Q</a:t>
            </a:r>
          </a:p>
        </p:txBody>
      </p:sp>
      <p:sp>
        <p:nvSpPr>
          <p:cNvPr id="14" name="TextBox 13"/>
          <p:cNvSpPr txBox="1"/>
          <p:nvPr/>
        </p:nvSpPr>
        <p:spPr>
          <a:xfrm>
            <a:off x="1005840" y="3127248"/>
            <a:ext cx="10515600" cy="320040"/>
          </a:xfrm>
          <a:prstGeom prst="rect">
            <a:avLst/>
          </a:prstGeom>
          <a:noFill/>
        </p:spPr>
        <p:txBody>
          <a:bodyPr wrap="square">
            <a:spAutoFit/>
          </a:bodyPr>
          <a:lstStyle/>
          <a:p>
            <a:pPr algn="l"/>
            <a:r>
              <a:rPr sz="1300" b="1" i="0">
                <a:solidFill>
                  <a:srgbClr val="FFFFFF"/>
                </a:solidFill>
              </a:rPr>
              <a:t>既存の警備システムはそのまま使えますか？</a:t>
            </a:r>
          </a:p>
        </p:txBody>
      </p:sp>
      <p:sp>
        <p:nvSpPr>
          <p:cNvPr id="15" name="TextBox 14"/>
          <p:cNvSpPr txBox="1"/>
          <p:nvPr/>
        </p:nvSpPr>
        <p:spPr>
          <a:xfrm>
            <a:off x="1005840" y="3465576"/>
            <a:ext cx="10515600" cy="621792"/>
          </a:xfrm>
          <a:prstGeom prst="rect">
            <a:avLst/>
          </a:prstGeom>
          <a:noFill/>
        </p:spPr>
        <p:txBody>
          <a:bodyPr wrap="square">
            <a:spAutoFit/>
          </a:bodyPr>
          <a:lstStyle/>
          <a:p>
            <a:pPr algn="l"/>
            <a:r>
              <a:rPr sz="1200" b="0" i="0">
                <a:solidFill>
                  <a:srgbClr val="C0D4E8"/>
                </a:solidFill>
              </a:rPr>
              <a:t>A：はい。冗長化ルーターをネットワーク出口に追加するだけで、既存の警備カメラ・センサー・入退室管理システムはそのまま継続利用できます。既存システムへの変更は原則不要です。</a:t>
            </a:r>
          </a:p>
        </p:txBody>
      </p:sp>
      <p:sp>
        <p:nvSpPr>
          <p:cNvPr id="16" name="Rectangle 15"/>
          <p:cNvSpPr/>
          <p:nvPr/>
        </p:nvSpPr>
        <p:spPr>
          <a:xfrm>
            <a:off x="457200" y="4279392"/>
            <a:ext cx="11247120" cy="1115568"/>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279392"/>
            <a:ext cx="457200" cy="1115568"/>
          </a:xfrm>
          <a:prstGeom prst="rect">
            <a:avLst/>
          </a:prstGeom>
          <a:solidFill>
            <a:srgbClr val="002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4626864"/>
            <a:ext cx="457200" cy="365760"/>
          </a:xfrm>
          <a:prstGeom prst="rect">
            <a:avLst/>
          </a:prstGeom>
          <a:noFill/>
        </p:spPr>
        <p:txBody>
          <a:bodyPr wrap="square">
            <a:spAutoFit/>
          </a:bodyPr>
          <a:lstStyle/>
          <a:p>
            <a:pPr algn="ctr"/>
            <a:r>
              <a:rPr sz="1400" b="1" i="0">
                <a:solidFill>
                  <a:srgbClr val="00A8FF"/>
                </a:solidFill>
              </a:rPr>
              <a:t>Q</a:t>
            </a:r>
          </a:p>
        </p:txBody>
      </p:sp>
      <p:sp>
        <p:nvSpPr>
          <p:cNvPr id="19" name="TextBox 18"/>
          <p:cNvSpPr txBox="1"/>
          <p:nvPr/>
        </p:nvSpPr>
        <p:spPr>
          <a:xfrm>
            <a:off x="1005840" y="4352544"/>
            <a:ext cx="10515600" cy="320040"/>
          </a:xfrm>
          <a:prstGeom prst="rect">
            <a:avLst/>
          </a:prstGeom>
          <a:noFill/>
        </p:spPr>
        <p:txBody>
          <a:bodyPr wrap="square">
            <a:spAutoFit/>
          </a:bodyPr>
          <a:lstStyle/>
          <a:p>
            <a:pPr algn="l"/>
            <a:r>
              <a:rPr sz="1300" b="1" i="0">
                <a:solidFill>
                  <a:srgbClr val="FFFFFF"/>
                </a:solidFill>
              </a:rPr>
              <a:t>セキュリティ（情報漏洩リスク）は問題ありませんか？</a:t>
            </a:r>
          </a:p>
        </p:txBody>
      </p:sp>
      <p:sp>
        <p:nvSpPr>
          <p:cNvPr id="20" name="TextBox 19"/>
          <p:cNvSpPr txBox="1"/>
          <p:nvPr/>
        </p:nvSpPr>
        <p:spPr>
          <a:xfrm>
            <a:off x="1005840" y="4690872"/>
            <a:ext cx="10515600" cy="621792"/>
          </a:xfrm>
          <a:prstGeom prst="rect">
            <a:avLst/>
          </a:prstGeom>
          <a:noFill/>
        </p:spPr>
        <p:txBody>
          <a:bodyPr wrap="square">
            <a:spAutoFit/>
          </a:bodyPr>
          <a:lstStyle/>
          <a:p>
            <a:pPr algn="l"/>
            <a:r>
              <a:rPr sz="1200" b="0" i="0">
                <a:solidFill>
                  <a:srgbClr val="C0D4E8"/>
                </a:solidFill>
              </a:rPr>
              <a:t>A：Starlinkの通信はAES-256による暗号化が施されています。au法人向けでは専用APN（閉域網）＋IPsec VPNの構成で、通信がインターネットに出ない設計でご提案します。</a:t>
            </a:r>
          </a:p>
        </p:txBody>
      </p:sp>
      <p:sp>
        <p:nvSpPr>
          <p:cNvPr id="21" name="Rectangle 20"/>
          <p:cNvSpPr/>
          <p:nvPr/>
        </p:nvSpPr>
        <p:spPr>
          <a:xfrm>
            <a:off x="457200" y="5504688"/>
            <a:ext cx="11247120" cy="1115568"/>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5504688"/>
            <a:ext cx="457200" cy="1115568"/>
          </a:xfrm>
          <a:prstGeom prst="rect">
            <a:avLst/>
          </a:prstGeom>
          <a:solidFill>
            <a:srgbClr val="0028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5852160"/>
            <a:ext cx="457200" cy="365760"/>
          </a:xfrm>
          <a:prstGeom prst="rect">
            <a:avLst/>
          </a:prstGeom>
          <a:noFill/>
        </p:spPr>
        <p:txBody>
          <a:bodyPr wrap="square">
            <a:spAutoFit/>
          </a:bodyPr>
          <a:lstStyle/>
          <a:p>
            <a:pPr algn="ctr"/>
            <a:r>
              <a:rPr sz="1400" b="1" i="0">
                <a:solidFill>
                  <a:srgbClr val="00A8FF"/>
                </a:solidFill>
              </a:rPr>
              <a:t>Q</a:t>
            </a:r>
          </a:p>
        </p:txBody>
      </p:sp>
      <p:sp>
        <p:nvSpPr>
          <p:cNvPr id="24" name="TextBox 23"/>
          <p:cNvSpPr txBox="1"/>
          <p:nvPr/>
        </p:nvSpPr>
        <p:spPr>
          <a:xfrm>
            <a:off x="1005840" y="5577840"/>
            <a:ext cx="10515600" cy="320040"/>
          </a:xfrm>
          <a:prstGeom prst="rect">
            <a:avLst/>
          </a:prstGeom>
          <a:noFill/>
        </p:spPr>
        <p:txBody>
          <a:bodyPr wrap="square">
            <a:spAutoFit/>
          </a:bodyPr>
          <a:lstStyle/>
          <a:p>
            <a:pPr algn="l"/>
            <a:r>
              <a:rPr sz="1300" b="1" i="0">
                <a:solidFill>
                  <a:srgbClr val="FFFFFF"/>
                </a:solidFill>
              </a:rPr>
              <a:t>建物の許可が必要ですか？工事の規模はどの程度ですか？</a:t>
            </a:r>
          </a:p>
        </p:txBody>
      </p:sp>
      <p:sp>
        <p:nvSpPr>
          <p:cNvPr id="25" name="TextBox 24"/>
          <p:cNvSpPr txBox="1"/>
          <p:nvPr/>
        </p:nvSpPr>
        <p:spPr>
          <a:xfrm>
            <a:off x="1005840" y="5916168"/>
            <a:ext cx="10515600" cy="621792"/>
          </a:xfrm>
          <a:prstGeom prst="rect">
            <a:avLst/>
          </a:prstGeom>
          <a:noFill/>
        </p:spPr>
        <p:txBody>
          <a:bodyPr wrap="square">
            <a:spAutoFit/>
          </a:bodyPr>
          <a:lstStyle/>
          <a:p>
            <a:pPr algn="l"/>
            <a:r>
              <a:rPr sz="1200" b="0" i="0">
                <a:solidFill>
                  <a:srgbClr val="C0D4E8"/>
                </a:solidFill>
              </a:rPr>
              <a:t>A：屋上への設置には建物管理者の承認が必要です。アンテナは約60cmで架台または固定ボルト設置。電源配線を含め、工事期間は一般的に1〜2日程度です。</a:t>
            </a:r>
          </a:p>
        </p:txBody>
      </p:sp>
      <p:sp>
        <p:nvSpPr>
          <p:cNvPr id="26" name="TextBox 25"/>
          <p:cNvSpPr txBox="1"/>
          <p:nvPr/>
        </p:nvSpPr>
        <p:spPr>
          <a:xfrm>
            <a:off x="10817352" y="6446520"/>
            <a:ext cx="1188720" cy="274320"/>
          </a:xfrm>
          <a:prstGeom prst="rect">
            <a:avLst/>
          </a:prstGeom>
          <a:noFill/>
        </p:spPr>
        <p:txBody>
          <a:bodyPr wrap="square">
            <a:spAutoFit/>
          </a:bodyPr>
          <a:lstStyle/>
          <a:p>
            <a:pPr algn="r"/>
            <a:r>
              <a:rPr sz="1100" b="0" i="0">
                <a:solidFill>
                  <a:srgbClr val="6A8AAA"/>
                </a:solidFill>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03136"/>
            <a:ext cx="12188952" cy="54864"/>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120640" y="822960"/>
            <a:ext cx="1920240" cy="320040"/>
          </a:xfrm>
          <a:prstGeom prst="rect">
            <a:avLst/>
          </a:prstGeom>
          <a:solidFill>
            <a:srgbClr val="002844"/>
          </a:solidFill>
          <a:ln w="12700">
            <a:solidFill>
              <a:srgbClr val="00A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138928" y="841248"/>
            <a:ext cx="1883664" cy="274320"/>
          </a:xfrm>
          <a:prstGeom prst="rect">
            <a:avLst/>
          </a:prstGeom>
          <a:noFill/>
        </p:spPr>
        <p:txBody>
          <a:bodyPr wrap="square">
            <a:spAutoFit/>
          </a:bodyPr>
          <a:lstStyle/>
          <a:p>
            <a:pPr algn="ctr"/>
            <a:r>
              <a:rPr sz="1100" b="1" i="0">
                <a:solidFill>
                  <a:srgbClr val="00A8FF"/>
                </a:solidFill>
              </a:rPr>
              <a:t>NEXT STEP</a:t>
            </a:r>
          </a:p>
        </p:txBody>
      </p:sp>
      <p:sp>
        <p:nvSpPr>
          <p:cNvPr id="7" name="TextBox 6"/>
          <p:cNvSpPr txBox="1"/>
          <p:nvPr/>
        </p:nvSpPr>
        <p:spPr>
          <a:xfrm>
            <a:off x="914400" y="1325880"/>
            <a:ext cx="10332720" cy="731520"/>
          </a:xfrm>
          <a:prstGeom prst="rect">
            <a:avLst/>
          </a:prstGeom>
          <a:noFill/>
        </p:spPr>
        <p:txBody>
          <a:bodyPr wrap="square">
            <a:spAutoFit/>
          </a:bodyPr>
          <a:lstStyle/>
          <a:p>
            <a:pPr algn="ctr"/>
            <a:r>
              <a:rPr sz="3400" b="1" i="0">
                <a:solidFill>
                  <a:srgbClr val="FFFFFF"/>
                </a:solidFill>
              </a:rPr>
              <a:t>まずは無料の現地調査から始めましょう</a:t>
            </a:r>
          </a:p>
        </p:txBody>
      </p:sp>
      <p:sp>
        <p:nvSpPr>
          <p:cNvPr id="8" name="TextBox 7"/>
          <p:cNvSpPr txBox="1"/>
          <p:nvPr/>
        </p:nvSpPr>
        <p:spPr>
          <a:xfrm>
            <a:off x="1371600" y="2194560"/>
            <a:ext cx="9418320" cy="822960"/>
          </a:xfrm>
          <a:prstGeom prst="rect">
            <a:avLst/>
          </a:prstGeom>
          <a:noFill/>
        </p:spPr>
        <p:txBody>
          <a:bodyPr wrap="square">
            <a:spAutoFit/>
          </a:bodyPr>
          <a:lstStyle/>
          <a:p>
            <a:pPr algn="ctr"/>
            <a:r>
              <a:rPr sz="1600" b="0" i="0">
                <a:solidFill>
                  <a:srgbClr val="C0D4E8"/>
                </a:solidFill>
              </a:rPr>
              <a:t>電波環境の測定・設置スペースの確認・概算見積まで
無料にてご対応いたします。お気軽にお声がけください。</a:t>
            </a:r>
          </a:p>
        </p:txBody>
      </p:sp>
      <p:sp>
        <p:nvSpPr>
          <p:cNvPr id="9" name="Rectangle 8"/>
          <p:cNvSpPr/>
          <p:nvPr/>
        </p:nvSpPr>
        <p:spPr>
          <a:xfrm>
            <a:off x="4023360" y="3154680"/>
            <a:ext cx="4114800" cy="594360"/>
          </a:xfrm>
          <a:prstGeom prst="rect">
            <a:avLst/>
          </a:prstGeom>
          <a:solidFill>
            <a:srgbClr val="00A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23360" y="3227832"/>
            <a:ext cx="4114800" cy="457200"/>
          </a:xfrm>
          <a:prstGeom prst="rect">
            <a:avLst/>
          </a:prstGeom>
          <a:noFill/>
        </p:spPr>
        <p:txBody>
          <a:bodyPr wrap="square">
            <a:spAutoFit/>
          </a:bodyPr>
          <a:lstStyle/>
          <a:p>
            <a:pPr algn="ctr"/>
            <a:r>
              <a:rPr sz="1600" b="1" i="0">
                <a:solidFill>
                  <a:srgbClr val="0A0E1A"/>
                </a:solidFill>
              </a:rPr>
              <a:t>無料現地調査を申し込む</a:t>
            </a:r>
          </a:p>
        </p:txBody>
      </p:sp>
      <p:sp>
        <p:nvSpPr>
          <p:cNvPr id="11" name="Rectangle 10"/>
          <p:cNvSpPr/>
          <p:nvPr/>
        </p:nvSpPr>
        <p:spPr>
          <a:xfrm>
            <a:off x="457200" y="3977639"/>
            <a:ext cx="11247120" cy="127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4160520"/>
            <a:ext cx="3566160" cy="137160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251960"/>
            <a:ext cx="3291840" cy="256032"/>
          </a:xfrm>
          <a:prstGeom prst="rect">
            <a:avLst/>
          </a:prstGeom>
          <a:noFill/>
        </p:spPr>
        <p:txBody>
          <a:bodyPr wrap="square">
            <a:spAutoFit/>
          </a:bodyPr>
          <a:lstStyle/>
          <a:p>
            <a:pPr algn="l"/>
            <a:r>
              <a:rPr sz="1000" b="0" i="0">
                <a:solidFill>
                  <a:srgbClr val="00A8FF"/>
                </a:solidFill>
              </a:rPr>
              <a:t>PROPOSAL BY</a:t>
            </a:r>
          </a:p>
        </p:txBody>
      </p:sp>
      <p:sp>
        <p:nvSpPr>
          <p:cNvPr id="14" name="TextBox 13"/>
          <p:cNvSpPr txBox="1"/>
          <p:nvPr/>
        </p:nvSpPr>
        <p:spPr>
          <a:xfrm>
            <a:off x="777240" y="4507992"/>
            <a:ext cx="3291840" cy="320040"/>
          </a:xfrm>
          <a:prstGeom prst="rect">
            <a:avLst/>
          </a:prstGeom>
          <a:noFill/>
        </p:spPr>
        <p:txBody>
          <a:bodyPr wrap="square">
            <a:spAutoFit/>
          </a:bodyPr>
          <a:lstStyle/>
          <a:p>
            <a:pPr algn="l"/>
            <a:r>
              <a:rPr sz="1500" b="1" i="0">
                <a:solidFill>
                  <a:srgbClr val="FFFFFF"/>
                </a:solidFill>
              </a:rPr>
              <a:t>警備営業部</a:t>
            </a:r>
          </a:p>
        </p:txBody>
      </p:sp>
      <p:sp>
        <p:nvSpPr>
          <p:cNvPr id="15" name="TextBox 14"/>
          <p:cNvSpPr txBox="1"/>
          <p:nvPr/>
        </p:nvSpPr>
        <p:spPr>
          <a:xfrm>
            <a:off x="777240" y="4828032"/>
            <a:ext cx="3291840" cy="274320"/>
          </a:xfrm>
          <a:prstGeom prst="rect">
            <a:avLst/>
          </a:prstGeom>
          <a:noFill/>
        </p:spPr>
        <p:txBody>
          <a:bodyPr wrap="square">
            <a:spAutoFit/>
          </a:bodyPr>
          <a:lstStyle/>
          <a:p>
            <a:pPr algn="l"/>
            <a:r>
              <a:rPr sz="1100" b="0" i="0">
                <a:solidFill>
                  <a:srgbClr val="6A8AAA"/>
                </a:solidFill>
              </a:rPr>
              <a:t>データセンター警備推進チーム</a:t>
            </a:r>
          </a:p>
        </p:txBody>
      </p:sp>
      <p:sp>
        <p:nvSpPr>
          <p:cNvPr id="16" name="Rectangle 15"/>
          <p:cNvSpPr/>
          <p:nvPr/>
        </p:nvSpPr>
        <p:spPr>
          <a:xfrm>
            <a:off x="4434840" y="4160520"/>
            <a:ext cx="3566160" cy="137160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4251960"/>
            <a:ext cx="3291840" cy="256032"/>
          </a:xfrm>
          <a:prstGeom prst="rect">
            <a:avLst/>
          </a:prstGeom>
          <a:noFill/>
        </p:spPr>
        <p:txBody>
          <a:bodyPr wrap="square">
            <a:spAutoFit/>
          </a:bodyPr>
          <a:lstStyle/>
          <a:p>
            <a:pPr algn="l"/>
            <a:r>
              <a:rPr sz="1000" b="0" i="0">
                <a:solidFill>
                  <a:srgbClr val="00A8FF"/>
                </a:solidFill>
              </a:rPr>
              <a:t>SERVICE PARTNER</a:t>
            </a:r>
          </a:p>
        </p:txBody>
      </p:sp>
      <p:sp>
        <p:nvSpPr>
          <p:cNvPr id="18" name="TextBox 17"/>
          <p:cNvSpPr txBox="1"/>
          <p:nvPr/>
        </p:nvSpPr>
        <p:spPr>
          <a:xfrm>
            <a:off x="4572000" y="4507992"/>
            <a:ext cx="3291840" cy="320040"/>
          </a:xfrm>
          <a:prstGeom prst="rect">
            <a:avLst/>
          </a:prstGeom>
          <a:noFill/>
        </p:spPr>
        <p:txBody>
          <a:bodyPr wrap="square">
            <a:spAutoFit/>
          </a:bodyPr>
          <a:lstStyle/>
          <a:p>
            <a:pPr algn="l"/>
            <a:r>
              <a:rPr sz="1500" b="1" i="0">
                <a:solidFill>
                  <a:srgbClr val="FFFFFF"/>
                </a:solidFill>
              </a:rPr>
              <a:t>KDDI株式会社（au）</a:t>
            </a:r>
          </a:p>
        </p:txBody>
      </p:sp>
      <p:sp>
        <p:nvSpPr>
          <p:cNvPr id="19" name="TextBox 18"/>
          <p:cNvSpPr txBox="1"/>
          <p:nvPr/>
        </p:nvSpPr>
        <p:spPr>
          <a:xfrm>
            <a:off x="4572000" y="4828032"/>
            <a:ext cx="3291840" cy="274320"/>
          </a:xfrm>
          <a:prstGeom prst="rect">
            <a:avLst/>
          </a:prstGeom>
          <a:noFill/>
        </p:spPr>
        <p:txBody>
          <a:bodyPr wrap="square">
            <a:spAutoFit/>
          </a:bodyPr>
          <a:lstStyle/>
          <a:p>
            <a:pPr algn="l"/>
            <a:r>
              <a:rPr sz="1100" b="0" i="0">
                <a:solidFill>
                  <a:srgbClr val="6A8AAA"/>
                </a:solidFill>
              </a:rPr>
              <a:t>法人向けStarlinkサービス提供</a:t>
            </a:r>
          </a:p>
        </p:txBody>
      </p:sp>
      <p:sp>
        <p:nvSpPr>
          <p:cNvPr id="20" name="Rectangle 19"/>
          <p:cNvSpPr/>
          <p:nvPr/>
        </p:nvSpPr>
        <p:spPr>
          <a:xfrm>
            <a:off x="8229600" y="4160520"/>
            <a:ext cx="3566160" cy="1371600"/>
          </a:xfrm>
          <a:prstGeom prst="rect">
            <a:avLst/>
          </a:prstGeom>
          <a:solidFill>
            <a:srgbClr val="111827"/>
          </a:solidFill>
          <a:ln w="1524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66760" y="4251960"/>
            <a:ext cx="3291840" cy="256032"/>
          </a:xfrm>
          <a:prstGeom prst="rect">
            <a:avLst/>
          </a:prstGeom>
          <a:noFill/>
        </p:spPr>
        <p:txBody>
          <a:bodyPr wrap="square">
            <a:spAutoFit/>
          </a:bodyPr>
          <a:lstStyle/>
          <a:p>
            <a:pPr algn="l"/>
            <a:r>
              <a:rPr sz="1000" b="0" i="0">
                <a:solidFill>
                  <a:srgbClr val="00A8FF"/>
                </a:solidFill>
              </a:rPr>
              <a:t>DATE</a:t>
            </a:r>
          </a:p>
        </p:txBody>
      </p:sp>
      <p:sp>
        <p:nvSpPr>
          <p:cNvPr id="22" name="TextBox 21"/>
          <p:cNvSpPr txBox="1"/>
          <p:nvPr/>
        </p:nvSpPr>
        <p:spPr>
          <a:xfrm>
            <a:off x="8366760" y="4507992"/>
            <a:ext cx="3291840" cy="320040"/>
          </a:xfrm>
          <a:prstGeom prst="rect">
            <a:avLst/>
          </a:prstGeom>
          <a:noFill/>
        </p:spPr>
        <p:txBody>
          <a:bodyPr wrap="square">
            <a:spAutoFit/>
          </a:bodyPr>
          <a:lstStyle/>
          <a:p>
            <a:pPr algn="l"/>
            <a:r>
              <a:rPr sz="1500" b="1" i="0">
                <a:solidFill>
                  <a:srgbClr val="FFFFFF"/>
                </a:solidFill>
              </a:rPr>
              <a:t>2026年6月25日</a:t>
            </a:r>
          </a:p>
        </p:txBody>
      </p:sp>
      <p:sp>
        <p:nvSpPr>
          <p:cNvPr id="23" name="TextBox 22"/>
          <p:cNvSpPr txBox="1"/>
          <p:nvPr/>
        </p:nvSpPr>
        <p:spPr>
          <a:xfrm>
            <a:off x="8366760" y="4828032"/>
            <a:ext cx="3291840" cy="274320"/>
          </a:xfrm>
          <a:prstGeom prst="rect">
            <a:avLst/>
          </a:prstGeom>
          <a:noFill/>
        </p:spPr>
        <p:txBody>
          <a:bodyPr wrap="square">
            <a:spAutoFit/>
          </a:bodyPr>
          <a:lstStyle/>
          <a:p>
            <a:pPr algn="l"/>
            <a:r>
              <a:rPr sz="1100" b="0" i="0">
                <a:solidFill>
                  <a:srgbClr val="6A8AAA"/>
                </a:solidFill>
              </a:rPr>
              <a:t>本資料の有効期限：3ヶ月</a:t>
            </a:r>
          </a:p>
        </p:txBody>
      </p:sp>
      <p:sp>
        <p:nvSpPr>
          <p:cNvPr id="24" name="TextBox 23"/>
          <p:cNvSpPr txBox="1"/>
          <p:nvPr/>
        </p:nvSpPr>
        <p:spPr>
          <a:xfrm>
            <a:off x="10817352" y="6446520"/>
            <a:ext cx="1188720" cy="274320"/>
          </a:xfrm>
          <a:prstGeom prst="rect">
            <a:avLst/>
          </a:prstGeom>
          <a:noFill/>
        </p:spPr>
        <p:txBody>
          <a:bodyPr wrap="square">
            <a:spAutoFit/>
          </a:bodyPr>
          <a:lstStyle/>
          <a:p>
            <a:pPr algn="r"/>
            <a:r>
              <a:rPr sz="1100" b="0" i="0">
                <a:solidFill>
                  <a:srgbClr val="6A8AAA"/>
                </a:solidFill>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