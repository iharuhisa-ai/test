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F3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85800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73152"/>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784848"/>
            <a:ext cx="12188952" cy="73152"/>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114800" y="548640"/>
            <a:ext cx="3959352" cy="384048"/>
          </a:xfrm>
          <a:prstGeom prst="rect">
            <a:avLst/>
          </a:prstGeom>
          <a:solidFill>
            <a:srgbClr val="E945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0" y="548640"/>
            <a:ext cx="3959352" cy="384048"/>
          </a:xfrm>
          <a:prstGeom prst="rect">
            <a:avLst/>
          </a:prstGeom>
          <a:noFill/>
        </p:spPr>
        <p:txBody>
          <a:bodyPr wrap="square">
            <a:spAutoFit/>
          </a:bodyPr>
          <a:lstStyle/>
          <a:p>
            <a:pPr algn="ctr"/>
            <a:r>
              <a:rPr sz="1100" b="1" i="0">
                <a:solidFill>
                  <a:srgbClr val="FFFFFF"/>
                </a:solidFill>
              </a:rPr>
              <a:t>提 案 資 料　　CONFIDENTIAL</a:t>
            </a:r>
          </a:p>
        </p:txBody>
      </p:sp>
      <p:sp>
        <p:nvSpPr>
          <p:cNvPr id="8" name="Rectangle 7"/>
          <p:cNvSpPr/>
          <p:nvPr/>
        </p:nvSpPr>
        <p:spPr>
          <a:xfrm>
            <a:off x="3474720" y="1051560"/>
            <a:ext cx="5239512" cy="347472"/>
          </a:xfrm>
          <a:prstGeom prst="rect">
            <a:avLst/>
          </a:prstGeom>
          <a:solidFill>
            <a:srgbClr val="0A2845"/>
          </a:solidFill>
          <a:ln w="1270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4720" y="1051560"/>
            <a:ext cx="5239512" cy="347472"/>
          </a:xfrm>
          <a:prstGeom prst="rect">
            <a:avLst/>
          </a:prstGeom>
          <a:noFill/>
        </p:spPr>
        <p:txBody>
          <a:bodyPr wrap="square">
            <a:spAutoFit/>
          </a:bodyPr>
          <a:lstStyle/>
          <a:p>
            <a:pPr algn="ctr"/>
            <a:r>
              <a:rPr sz="1100" b="0" i="0">
                <a:solidFill>
                  <a:srgbClr val="00D4FF"/>
                </a:solidFill>
              </a:rPr>
              <a:t>★ au スターリンク対応スマートフォン活用提案</a:t>
            </a:r>
          </a:p>
        </p:txBody>
      </p:sp>
      <p:sp>
        <p:nvSpPr>
          <p:cNvPr id="10" name="TextBox 9"/>
          <p:cNvSpPr txBox="1"/>
          <p:nvPr/>
        </p:nvSpPr>
        <p:spPr>
          <a:xfrm>
            <a:off x="1371600" y="1554480"/>
            <a:ext cx="9445752" cy="640080"/>
          </a:xfrm>
          <a:prstGeom prst="rect">
            <a:avLst/>
          </a:prstGeom>
          <a:noFill/>
        </p:spPr>
        <p:txBody>
          <a:bodyPr wrap="square">
            <a:spAutoFit/>
          </a:bodyPr>
          <a:lstStyle/>
          <a:p>
            <a:pPr algn="ctr"/>
            <a:r>
              <a:rPr sz="3200" b="1" i="0">
                <a:solidFill>
                  <a:srgbClr val="FFFFFF"/>
                </a:solidFill>
              </a:rPr>
              <a:t>データセンター警備における</a:t>
            </a:r>
          </a:p>
        </p:txBody>
      </p:sp>
      <p:sp>
        <p:nvSpPr>
          <p:cNvPr id="11" name="TextBox 10"/>
          <p:cNvSpPr txBox="1"/>
          <p:nvPr/>
        </p:nvSpPr>
        <p:spPr>
          <a:xfrm>
            <a:off x="1371600" y="2148840"/>
            <a:ext cx="9445752" cy="822960"/>
          </a:xfrm>
          <a:prstGeom prst="rect">
            <a:avLst/>
          </a:prstGeom>
          <a:noFill/>
        </p:spPr>
        <p:txBody>
          <a:bodyPr wrap="square">
            <a:spAutoFit/>
          </a:bodyPr>
          <a:lstStyle/>
          <a:p>
            <a:pPr algn="ctr"/>
            <a:r>
              <a:rPr sz="4200" b="1" i="0">
                <a:solidFill>
                  <a:srgbClr val="00D4FF"/>
                </a:solidFill>
              </a:rPr>
              <a:t>通信冗長化ソリューション</a:t>
            </a:r>
          </a:p>
        </p:txBody>
      </p:sp>
      <p:sp>
        <p:nvSpPr>
          <p:cNvPr id="12" name="TextBox 11"/>
          <p:cNvSpPr txBox="1"/>
          <p:nvPr/>
        </p:nvSpPr>
        <p:spPr>
          <a:xfrm>
            <a:off x="1371600" y="3108960"/>
            <a:ext cx="9445752" cy="457200"/>
          </a:xfrm>
          <a:prstGeom prst="rect">
            <a:avLst/>
          </a:prstGeom>
          <a:noFill/>
        </p:spPr>
        <p:txBody>
          <a:bodyPr wrap="square">
            <a:spAutoFit/>
          </a:bodyPr>
          <a:lstStyle/>
          <a:p>
            <a:pPr algn="ctr"/>
            <a:r>
              <a:rPr sz="1800" b="0" i="0">
                <a:solidFill>
                  <a:srgbClr val="A0C4E8"/>
                </a:solidFill>
              </a:rPr>
              <a:t>災害時でも途絶えない警備体制を衛星通信技術で実現します</a:t>
            </a:r>
          </a:p>
        </p:txBody>
      </p:sp>
      <p:sp>
        <p:nvSpPr>
          <p:cNvPr id="13" name="Rectangle 12"/>
          <p:cNvSpPr/>
          <p:nvPr/>
        </p:nvSpPr>
        <p:spPr>
          <a:xfrm>
            <a:off x="2743200" y="3749039"/>
            <a:ext cx="6702552" cy="27432"/>
          </a:xfrm>
          <a:prstGeom prst="rect">
            <a:avLst/>
          </a:prstGeom>
          <a:solidFill>
            <a:srgbClr val="406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71600" y="3886200"/>
            <a:ext cx="9445752" cy="365760"/>
          </a:xfrm>
          <a:prstGeom prst="rect">
            <a:avLst/>
          </a:prstGeom>
          <a:noFill/>
        </p:spPr>
        <p:txBody>
          <a:bodyPr wrap="square">
            <a:spAutoFit/>
          </a:bodyPr>
          <a:lstStyle/>
          <a:p>
            <a:pPr algn="ctr"/>
            <a:r>
              <a:rPr sz="1400" b="0" i="0">
                <a:solidFill>
                  <a:srgbClr val="7FB3D3"/>
                </a:solidFill>
              </a:rPr>
              <a:t>📅 2026年6月　　　🏢 ○○警備株式会社　　　👤 営業部 提案資料</a:t>
            </a:r>
          </a:p>
        </p:txBody>
      </p:sp>
      <p:sp>
        <p:nvSpPr>
          <p:cNvPr id="15" name="TextBox 14"/>
          <p:cNvSpPr txBox="1"/>
          <p:nvPr/>
        </p:nvSpPr>
        <p:spPr>
          <a:xfrm>
            <a:off x="5212080" y="4572000"/>
            <a:ext cx="1828800" cy="1645920"/>
          </a:xfrm>
          <a:prstGeom prst="rect">
            <a:avLst/>
          </a:prstGeom>
          <a:noFill/>
        </p:spPr>
        <p:txBody>
          <a:bodyPr wrap="square">
            <a:spAutoFit/>
          </a:bodyPr>
          <a:lstStyle/>
          <a:p>
            <a:pPr algn="ctr"/>
            <a:r>
              <a:rPr sz="7200" b="0" i="0">
                <a:solidFill>
                  <a:srgbClr val="FFFFFF"/>
                </a:solidFill>
              </a:rPr>
              <a: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14400"/>
          </a:xfrm>
          <a:prstGeom prst="rect">
            <a:avLst/>
          </a:prstGeom>
          <a:solidFill>
            <a:srgbClr val="0F3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37160"/>
            <a:ext cx="10515600" cy="640080"/>
          </a:xfrm>
          <a:prstGeom prst="rect">
            <a:avLst/>
          </a:prstGeom>
          <a:noFill/>
        </p:spPr>
        <p:txBody>
          <a:bodyPr wrap="square">
            <a:spAutoFit/>
          </a:bodyPr>
          <a:lstStyle/>
          <a:p>
            <a:pPr algn="l"/>
            <a:r>
              <a:rPr sz="2200" b="1" i="0">
                <a:solidFill>
                  <a:srgbClr val="FFFFFF"/>
                </a:solidFill>
              </a:rPr>
              <a:t>01 ｜ 現状の課題 ── データセンター警備が抱えるリスク</a:t>
            </a:r>
          </a:p>
        </p:txBody>
      </p:sp>
      <p:sp>
        <p:nvSpPr>
          <p:cNvPr id="5" name="Oval 4"/>
          <p:cNvSpPr/>
          <p:nvPr/>
        </p:nvSpPr>
        <p:spPr>
          <a:xfrm>
            <a:off x="11521440" y="182880"/>
            <a:ext cx="502920" cy="502920"/>
          </a:xfrm>
          <a:prstGeom prst="ellipse">
            <a:avLst/>
          </a:prstGeom>
          <a:solidFill>
            <a:srgbClr val="E945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rPr>
              <a:t>2</a:t>
            </a:r>
          </a:p>
        </p:txBody>
      </p:sp>
      <p:sp>
        <p:nvSpPr>
          <p:cNvPr id="6" name="Rectangle 5"/>
          <p:cNvSpPr/>
          <p:nvPr/>
        </p:nvSpPr>
        <p:spPr>
          <a:xfrm>
            <a:off x="274320" y="1005840"/>
            <a:ext cx="5669280" cy="2286000"/>
          </a:xfrm>
          <a:prstGeom prst="rect">
            <a:avLst/>
          </a:prstGeom>
          <a:solidFill>
            <a:srgbClr val="FFFFFF"/>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79" y="1115568"/>
            <a:ext cx="5394960" cy="411480"/>
          </a:xfrm>
          <a:prstGeom prst="rect">
            <a:avLst/>
          </a:prstGeom>
          <a:noFill/>
        </p:spPr>
        <p:txBody>
          <a:bodyPr wrap="square">
            <a:spAutoFit/>
          </a:bodyPr>
          <a:lstStyle/>
          <a:p>
            <a:pPr algn="l"/>
            <a:r>
              <a:rPr sz="1400" b="1" i="0">
                <a:solidFill>
                  <a:srgbClr val="E94560"/>
                </a:solidFill>
              </a:rPr>
              <a:t>🌐 通信インフラへの依存</a:t>
            </a:r>
          </a:p>
        </p:txBody>
      </p:sp>
      <p:sp>
        <p:nvSpPr>
          <p:cNvPr id="8" name="TextBox 7"/>
          <p:cNvSpPr txBox="1"/>
          <p:nvPr/>
        </p:nvSpPr>
        <p:spPr>
          <a:xfrm>
            <a:off x="411479" y="1554480"/>
            <a:ext cx="5394960" cy="1645920"/>
          </a:xfrm>
          <a:prstGeom prst="rect">
            <a:avLst/>
          </a:prstGeom>
          <a:noFill/>
        </p:spPr>
        <p:txBody>
          <a:bodyPr wrap="square">
            <a:spAutoFit/>
          </a:bodyPr>
          <a:lstStyle/>
          <a:p>
            <a:pPr algn="l"/>
            <a:r>
              <a:rPr sz="1200" b="0" i="0">
                <a:solidFill>
                  <a:srgbClr val="444444"/>
                </a:solidFill>
              </a:rPr>
              <a:t>固定電話・地上波携帯回線に依存。地震・水害・停電時に
基地局がダウンすると警備本部や警察との連絡が完全に途絶するリスク。</a:t>
            </a:r>
          </a:p>
        </p:txBody>
      </p:sp>
      <p:sp>
        <p:nvSpPr>
          <p:cNvPr id="9" name="Rectangle 8"/>
          <p:cNvSpPr/>
          <p:nvPr/>
        </p:nvSpPr>
        <p:spPr>
          <a:xfrm>
            <a:off x="6309360" y="1005840"/>
            <a:ext cx="5669280" cy="2286000"/>
          </a:xfrm>
          <a:prstGeom prst="rect">
            <a:avLst/>
          </a:prstGeom>
          <a:solidFill>
            <a:srgbClr val="FFFFFF"/>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115568"/>
            <a:ext cx="5394960" cy="411480"/>
          </a:xfrm>
          <a:prstGeom prst="rect">
            <a:avLst/>
          </a:prstGeom>
          <a:noFill/>
        </p:spPr>
        <p:txBody>
          <a:bodyPr wrap="square">
            <a:spAutoFit/>
          </a:bodyPr>
          <a:lstStyle/>
          <a:p>
            <a:pPr algn="l"/>
            <a:r>
              <a:rPr sz="1400" b="1" i="0">
                <a:solidFill>
                  <a:srgbClr val="E94560"/>
                </a:solidFill>
              </a:rPr>
              <a:t>🏗️ 単一障害点（SPOF）の存在</a:t>
            </a:r>
          </a:p>
        </p:txBody>
      </p:sp>
      <p:sp>
        <p:nvSpPr>
          <p:cNvPr id="11" name="TextBox 10"/>
          <p:cNvSpPr txBox="1"/>
          <p:nvPr/>
        </p:nvSpPr>
        <p:spPr>
          <a:xfrm>
            <a:off x="6446520" y="1554480"/>
            <a:ext cx="5394960" cy="1645920"/>
          </a:xfrm>
          <a:prstGeom prst="rect">
            <a:avLst/>
          </a:prstGeom>
          <a:noFill/>
        </p:spPr>
        <p:txBody>
          <a:bodyPr wrap="square">
            <a:spAutoFit/>
          </a:bodyPr>
          <a:lstStyle/>
          <a:p>
            <a:pPr algn="l"/>
            <a:r>
              <a:rPr sz="1200" b="0" i="0">
                <a:solidFill>
                  <a:srgbClr val="444444"/>
                </a:solidFill>
              </a:rPr>
              <a:t>通信手段が1系統のみの場合、単一障害点が警備体制全体の
崩壊につながる。24時間365日稼働のデータセンターでは致命的。</a:t>
            </a:r>
          </a:p>
        </p:txBody>
      </p:sp>
      <p:sp>
        <p:nvSpPr>
          <p:cNvPr id="12" name="Rectangle 11"/>
          <p:cNvSpPr/>
          <p:nvPr/>
        </p:nvSpPr>
        <p:spPr>
          <a:xfrm>
            <a:off x="274320" y="3474720"/>
            <a:ext cx="5669280" cy="2286000"/>
          </a:xfrm>
          <a:prstGeom prst="rect">
            <a:avLst/>
          </a:prstGeom>
          <a:solidFill>
            <a:srgbClr val="FFFFFF"/>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79" y="3584448"/>
            <a:ext cx="5394960" cy="411480"/>
          </a:xfrm>
          <a:prstGeom prst="rect">
            <a:avLst/>
          </a:prstGeom>
          <a:noFill/>
        </p:spPr>
        <p:txBody>
          <a:bodyPr wrap="square">
            <a:spAutoFit/>
          </a:bodyPr>
          <a:lstStyle/>
          <a:p>
            <a:pPr algn="l"/>
            <a:r>
              <a:rPr sz="1400" b="1" i="0">
                <a:solidFill>
                  <a:srgbClr val="E94560"/>
                </a:solidFill>
              </a:rPr>
              <a:t>🔥 災害時の初動対応の遅れ</a:t>
            </a:r>
          </a:p>
        </p:txBody>
      </p:sp>
      <p:sp>
        <p:nvSpPr>
          <p:cNvPr id="14" name="TextBox 13"/>
          <p:cNvSpPr txBox="1"/>
          <p:nvPr/>
        </p:nvSpPr>
        <p:spPr>
          <a:xfrm>
            <a:off x="411479" y="4023359"/>
            <a:ext cx="5394960" cy="1645920"/>
          </a:xfrm>
          <a:prstGeom prst="rect">
            <a:avLst/>
          </a:prstGeom>
          <a:noFill/>
        </p:spPr>
        <p:txBody>
          <a:bodyPr wrap="square">
            <a:spAutoFit/>
          </a:bodyPr>
          <a:lstStyle/>
          <a:p>
            <a:pPr algn="l"/>
            <a:r>
              <a:rPr sz="1200" b="0" i="0">
                <a:solidFill>
                  <a:srgbClr val="444444"/>
                </a:solidFill>
              </a:rPr>
              <a:t>東日本大震災・能登半島地震でも証明された通り、大規模災害時は
地上通信回線が数日〜数週間不通になるケースが多発する。</a:t>
            </a:r>
          </a:p>
        </p:txBody>
      </p:sp>
      <p:sp>
        <p:nvSpPr>
          <p:cNvPr id="15" name="Rectangle 14"/>
          <p:cNvSpPr/>
          <p:nvPr/>
        </p:nvSpPr>
        <p:spPr>
          <a:xfrm>
            <a:off x="6309360" y="3474720"/>
            <a:ext cx="5669280" cy="2286000"/>
          </a:xfrm>
          <a:prstGeom prst="rect">
            <a:avLst/>
          </a:prstGeom>
          <a:solidFill>
            <a:srgbClr val="FFFFFF"/>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3584448"/>
            <a:ext cx="5394960" cy="411480"/>
          </a:xfrm>
          <a:prstGeom prst="rect">
            <a:avLst/>
          </a:prstGeom>
          <a:noFill/>
        </p:spPr>
        <p:txBody>
          <a:bodyPr wrap="square">
            <a:spAutoFit/>
          </a:bodyPr>
          <a:lstStyle/>
          <a:p>
            <a:pPr algn="l"/>
            <a:r>
              <a:rPr sz="1400" b="1" i="0">
                <a:solidFill>
                  <a:srgbClr val="E94560"/>
                </a:solidFill>
              </a:rPr>
              <a:t>📋 BCP対応の不備</a:t>
            </a:r>
          </a:p>
        </p:txBody>
      </p:sp>
      <p:sp>
        <p:nvSpPr>
          <p:cNvPr id="17" name="TextBox 16"/>
          <p:cNvSpPr txBox="1"/>
          <p:nvPr/>
        </p:nvSpPr>
        <p:spPr>
          <a:xfrm>
            <a:off x="6446520" y="4023359"/>
            <a:ext cx="5394960" cy="1645920"/>
          </a:xfrm>
          <a:prstGeom prst="rect">
            <a:avLst/>
          </a:prstGeom>
          <a:noFill/>
        </p:spPr>
        <p:txBody>
          <a:bodyPr wrap="square">
            <a:spAutoFit/>
          </a:bodyPr>
          <a:lstStyle/>
          <a:p>
            <a:pPr algn="l"/>
            <a:r>
              <a:rPr sz="1200" b="0" i="0">
                <a:solidFill>
                  <a:srgbClr val="444444"/>
                </a:solidFill>
              </a:rPr>
              <a:t>顧客企業のBCPが高度化する中、警備会社側の通信冗長化が
未整備なままでは契約継続・新規受注で競合他社に劣後する。</a:t>
            </a:r>
          </a:p>
        </p:txBody>
      </p:sp>
      <p:sp>
        <p:nvSpPr>
          <p:cNvPr id="18" name="Rectangle 17"/>
          <p:cNvSpPr/>
          <p:nvPr/>
        </p:nvSpPr>
        <p:spPr>
          <a:xfrm>
            <a:off x="274320" y="5897880"/>
            <a:ext cx="11640312" cy="658368"/>
          </a:xfrm>
          <a:prstGeom prst="rect">
            <a:avLst/>
          </a:prstGeom>
          <a:solidFill>
            <a:srgbClr val="FFF0F0"/>
          </a:solidFill>
          <a:ln w="1270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5943600"/>
            <a:ext cx="11430000" cy="548640"/>
          </a:xfrm>
          <a:prstGeom prst="rect">
            <a:avLst/>
          </a:prstGeom>
          <a:noFill/>
        </p:spPr>
        <p:txBody>
          <a:bodyPr wrap="square">
            <a:spAutoFit/>
          </a:bodyPr>
          <a:lstStyle/>
          <a:p>
            <a:pPr algn="ctr"/>
            <a:r>
              <a:rPr sz="1300" b="1" i="0">
                <a:solidFill>
                  <a:srgbClr val="C0392B"/>
                </a:solidFill>
              </a:rPr>
              <a:t>⚠️  「つながらない警備」は、警備していないに等しい  ──  通信途絶 ＝ 侵入検知の報告不能 ／ 緊急連絡不能 ／ 記録・証拠の取得不能</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14400"/>
          </a:xfrm>
          <a:prstGeom prst="rect">
            <a:avLst/>
          </a:prstGeom>
          <a:solidFill>
            <a:srgbClr val="0F3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37160"/>
            <a:ext cx="10515600" cy="640080"/>
          </a:xfrm>
          <a:prstGeom prst="rect">
            <a:avLst/>
          </a:prstGeom>
          <a:noFill/>
        </p:spPr>
        <p:txBody>
          <a:bodyPr wrap="square">
            <a:spAutoFit/>
          </a:bodyPr>
          <a:lstStyle/>
          <a:p>
            <a:pPr algn="l"/>
            <a:r>
              <a:rPr sz="2200" b="1" i="0">
                <a:solidFill>
                  <a:srgbClr val="FFFFFF"/>
                </a:solidFill>
              </a:rPr>
              <a:t>02 ｜ ソリューション概要 ── 3層冗長通信体制の構築</a:t>
            </a:r>
          </a:p>
        </p:txBody>
      </p:sp>
      <p:sp>
        <p:nvSpPr>
          <p:cNvPr id="5" name="Oval 4"/>
          <p:cNvSpPr/>
          <p:nvPr/>
        </p:nvSpPr>
        <p:spPr>
          <a:xfrm>
            <a:off x="11521440" y="182880"/>
            <a:ext cx="502920" cy="502920"/>
          </a:xfrm>
          <a:prstGeom prst="ellipse">
            <a:avLst/>
          </a:prstGeom>
          <a:solidFill>
            <a:srgbClr val="E945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rPr>
              <a:t>3</a:t>
            </a:r>
          </a:p>
        </p:txBody>
      </p:sp>
      <p:sp>
        <p:nvSpPr>
          <p:cNvPr id="6" name="Rectangle 5"/>
          <p:cNvSpPr/>
          <p:nvPr/>
        </p:nvSpPr>
        <p:spPr>
          <a:xfrm>
            <a:off x="457200" y="1051560"/>
            <a:ext cx="2377440" cy="1554480"/>
          </a:xfrm>
          <a:prstGeom prst="rect">
            <a:avLst/>
          </a:prstGeom>
          <a:solidFill>
            <a:srgbClr val="0F3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097280"/>
            <a:ext cx="2377440" cy="502920"/>
          </a:xfrm>
          <a:prstGeom prst="rect">
            <a:avLst/>
          </a:prstGeom>
          <a:noFill/>
        </p:spPr>
        <p:txBody>
          <a:bodyPr wrap="square">
            <a:spAutoFit/>
          </a:bodyPr>
          <a:lstStyle/>
          <a:p>
            <a:pPr algn="ctr"/>
            <a:r>
              <a:rPr sz="2600" b="0" i="0">
                <a:solidFill>
                  <a:srgbClr val="FFFFFF"/>
                </a:solidFill>
              </a:rPr>
              <a:t>🏢</a:t>
            </a:r>
          </a:p>
        </p:txBody>
      </p:sp>
      <p:sp>
        <p:nvSpPr>
          <p:cNvPr id="8" name="TextBox 7"/>
          <p:cNvSpPr txBox="1"/>
          <p:nvPr/>
        </p:nvSpPr>
        <p:spPr>
          <a:xfrm>
            <a:off x="457200" y="1600200"/>
            <a:ext cx="2377440" cy="347472"/>
          </a:xfrm>
          <a:prstGeom prst="rect">
            <a:avLst/>
          </a:prstGeom>
          <a:noFill/>
        </p:spPr>
        <p:txBody>
          <a:bodyPr wrap="square">
            <a:spAutoFit/>
          </a:bodyPr>
          <a:lstStyle/>
          <a:p>
            <a:pPr algn="ctr"/>
            <a:r>
              <a:rPr sz="1200" b="1" i="0">
                <a:solidFill>
                  <a:srgbClr val="FFFFFF"/>
                </a:solidFill>
              </a:rPr>
              <a:t>第1回線</a:t>
            </a:r>
          </a:p>
        </p:txBody>
      </p:sp>
      <p:sp>
        <p:nvSpPr>
          <p:cNvPr id="9" name="TextBox 8"/>
          <p:cNvSpPr txBox="1"/>
          <p:nvPr/>
        </p:nvSpPr>
        <p:spPr>
          <a:xfrm>
            <a:off x="457200" y="1920240"/>
            <a:ext cx="2377440" cy="640080"/>
          </a:xfrm>
          <a:prstGeom prst="rect">
            <a:avLst/>
          </a:prstGeom>
          <a:noFill/>
        </p:spPr>
        <p:txBody>
          <a:bodyPr wrap="square">
            <a:spAutoFit/>
          </a:bodyPr>
          <a:lstStyle/>
          <a:p>
            <a:pPr algn="ctr"/>
            <a:r>
              <a:rPr sz="1100" b="0" i="0">
                <a:solidFill>
                  <a:srgbClr val="D0E8F5"/>
                </a:solidFill>
              </a:rPr>
              <a:t>固定回線
（通常時メイン）</a:t>
            </a:r>
          </a:p>
        </p:txBody>
      </p:sp>
      <p:sp>
        <p:nvSpPr>
          <p:cNvPr id="10" name="Rectangle 9"/>
          <p:cNvSpPr/>
          <p:nvPr/>
        </p:nvSpPr>
        <p:spPr>
          <a:xfrm>
            <a:off x="3200400" y="1051560"/>
            <a:ext cx="2377440" cy="1554480"/>
          </a:xfrm>
          <a:prstGeom prst="rect">
            <a:avLst/>
          </a:prstGeom>
          <a:solidFill>
            <a:srgbClr val="0F3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0" y="1097280"/>
            <a:ext cx="2377440" cy="502920"/>
          </a:xfrm>
          <a:prstGeom prst="rect">
            <a:avLst/>
          </a:prstGeom>
          <a:noFill/>
        </p:spPr>
        <p:txBody>
          <a:bodyPr wrap="square">
            <a:spAutoFit/>
          </a:bodyPr>
          <a:lstStyle/>
          <a:p>
            <a:pPr algn="ctr"/>
            <a:r>
              <a:rPr sz="2600" b="0" i="0">
                <a:solidFill>
                  <a:srgbClr val="FFFFFF"/>
                </a:solidFill>
              </a:rPr>
              <a:t>📱</a:t>
            </a:r>
          </a:p>
        </p:txBody>
      </p:sp>
      <p:sp>
        <p:nvSpPr>
          <p:cNvPr id="12" name="TextBox 11"/>
          <p:cNvSpPr txBox="1"/>
          <p:nvPr/>
        </p:nvSpPr>
        <p:spPr>
          <a:xfrm>
            <a:off x="3200400" y="1600200"/>
            <a:ext cx="2377440" cy="347472"/>
          </a:xfrm>
          <a:prstGeom prst="rect">
            <a:avLst/>
          </a:prstGeom>
          <a:noFill/>
        </p:spPr>
        <p:txBody>
          <a:bodyPr wrap="square">
            <a:spAutoFit/>
          </a:bodyPr>
          <a:lstStyle/>
          <a:p>
            <a:pPr algn="ctr"/>
            <a:r>
              <a:rPr sz="1200" b="1" i="0">
                <a:solidFill>
                  <a:srgbClr val="FFFFFF"/>
                </a:solidFill>
              </a:rPr>
              <a:t>第2回線</a:t>
            </a:r>
          </a:p>
        </p:txBody>
      </p:sp>
      <p:sp>
        <p:nvSpPr>
          <p:cNvPr id="13" name="TextBox 12"/>
          <p:cNvSpPr txBox="1"/>
          <p:nvPr/>
        </p:nvSpPr>
        <p:spPr>
          <a:xfrm>
            <a:off x="3200400" y="1920240"/>
            <a:ext cx="2377440" cy="640080"/>
          </a:xfrm>
          <a:prstGeom prst="rect">
            <a:avLst/>
          </a:prstGeom>
          <a:noFill/>
        </p:spPr>
        <p:txBody>
          <a:bodyPr wrap="square">
            <a:spAutoFit/>
          </a:bodyPr>
          <a:lstStyle/>
          <a:p>
            <a:pPr algn="ctr"/>
            <a:r>
              <a:rPr sz="1100" b="0" i="0">
                <a:solidFill>
                  <a:srgbClr val="D0E8F5"/>
                </a:solidFill>
              </a:rPr>
              <a:t>地上波携帯
（4G/5G）</a:t>
            </a:r>
          </a:p>
        </p:txBody>
      </p:sp>
      <p:sp>
        <p:nvSpPr>
          <p:cNvPr id="14" name="Rectangle 13"/>
          <p:cNvSpPr/>
          <p:nvPr/>
        </p:nvSpPr>
        <p:spPr>
          <a:xfrm>
            <a:off x="5943600" y="1051560"/>
            <a:ext cx="2377440" cy="1554480"/>
          </a:xfrm>
          <a:prstGeom prst="rect">
            <a:avLst/>
          </a:prstGeom>
          <a:solidFill>
            <a:srgbClr val="E945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0" y="1097280"/>
            <a:ext cx="2377440" cy="502920"/>
          </a:xfrm>
          <a:prstGeom prst="rect">
            <a:avLst/>
          </a:prstGeom>
          <a:noFill/>
        </p:spPr>
        <p:txBody>
          <a:bodyPr wrap="square">
            <a:spAutoFit/>
          </a:bodyPr>
          <a:lstStyle/>
          <a:p>
            <a:pPr algn="ctr"/>
            <a:r>
              <a:rPr sz="2600" b="0" i="0">
                <a:solidFill>
                  <a:srgbClr val="FFFFFF"/>
                </a:solidFill>
              </a:rPr>
              <a:t>🛰️</a:t>
            </a:r>
          </a:p>
        </p:txBody>
      </p:sp>
      <p:sp>
        <p:nvSpPr>
          <p:cNvPr id="16" name="TextBox 15"/>
          <p:cNvSpPr txBox="1"/>
          <p:nvPr/>
        </p:nvSpPr>
        <p:spPr>
          <a:xfrm>
            <a:off x="5943600" y="1600200"/>
            <a:ext cx="2377440" cy="347472"/>
          </a:xfrm>
          <a:prstGeom prst="rect">
            <a:avLst/>
          </a:prstGeom>
          <a:noFill/>
        </p:spPr>
        <p:txBody>
          <a:bodyPr wrap="square">
            <a:spAutoFit/>
          </a:bodyPr>
          <a:lstStyle/>
          <a:p>
            <a:pPr algn="ctr"/>
            <a:r>
              <a:rPr sz="1200" b="1" i="0">
                <a:solidFill>
                  <a:srgbClr val="FFFFFF"/>
                </a:solidFill>
              </a:rPr>
              <a:t>第3回線【新設】</a:t>
            </a:r>
          </a:p>
        </p:txBody>
      </p:sp>
      <p:sp>
        <p:nvSpPr>
          <p:cNvPr id="17" name="TextBox 16"/>
          <p:cNvSpPr txBox="1"/>
          <p:nvPr/>
        </p:nvSpPr>
        <p:spPr>
          <a:xfrm>
            <a:off x="5943600" y="1920240"/>
            <a:ext cx="2377440" cy="640080"/>
          </a:xfrm>
          <a:prstGeom prst="rect">
            <a:avLst/>
          </a:prstGeom>
          <a:noFill/>
        </p:spPr>
        <p:txBody>
          <a:bodyPr wrap="square">
            <a:spAutoFit/>
          </a:bodyPr>
          <a:lstStyle/>
          <a:p>
            <a:pPr algn="ctr"/>
            <a:r>
              <a:rPr sz="1100" b="0" i="0">
                <a:solidFill>
                  <a:srgbClr val="D0E8F5"/>
                </a:solidFill>
              </a:rPr>
              <a:t>au Starlink
対応スマートフォン</a:t>
            </a:r>
          </a:p>
        </p:txBody>
      </p:sp>
      <p:sp>
        <p:nvSpPr>
          <p:cNvPr id="18" name="Rectangle 17"/>
          <p:cNvSpPr/>
          <p:nvPr/>
        </p:nvSpPr>
        <p:spPr>
          <a:xfrm>
            <a:off x="8686800" y="1051560"/>
            <a:ext cx="2377440" cy="155448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0" y="1097280"/>
            <a:ext cx="2377440" cy="502920"/>
          </a:xfrm>
          <a:prstGeom prst="rect">
            <a:avLst/>
          </a:prstGeom>
          <a:noFill/>
        </p:spPr>
        <p:txBody>
          <a:bodyPr wrap="square">
            <a:spAutoFit/>
          </a:bodyPr>
          <a:lstStyle/>
          <a:p>
            <a:pPr algn="ctr"/>
            <a:r>
              <a:rPr sz="2600" b="0" i="0">
                <a:solidFill>
                  <a:srgbClr val="FFFFFF"/>
                </a:solidFill>
              </a:rPr>
              <a:t>✅</a:t>
            </a:r>
          </a:p>
        </p:txBody>
      </p:sp>
      <p:sp>
        <p:nvSpPr>
          <p:cNvPr id="20" name="TextBox 19"/>
          <p:cNvSpPr txBox="1"/>
          <p:nvPr/>
        </p:nvSpPr>
        <p:spPr>
          <a:xfrm>
            <a:off x="8686800" y="1600200"/>
            <a:ext cx="2377440" cy="347472"/>
          </a:xfrm>
          <a:prstGeom prst="rect">
            <a:avLst/>
          </a:prstGeom>
          <a:noFill/>
        </p:spPr>
        <p:txBody>
          <a:bodyPr wrap="square">
            <a:spAutoFit/>
          </a:bodyPr>
          <a:lstStyle/>
          <a:p>
            <a:pPr algn="ctr"/>
            <a:r>
              <a:rPr sz="1200" b="1" i="0">
                <a:solidFill>
                  <a:srgbClr val="FFFFFF"/>
                </a:solidFill>
              </a:rPr>
              <a:t>完全冗長化</a:t>
            </a:r>
          </a:p>
        </p:txBody>
      </p:sp>
      <p:sp>
        <p:nvSpPr>
          <p:cNvPr id="21" name="TextBox 20"/>
          <p:cNvSpPr txBox="1"/>
          <p:nvPr/>
        </p:nvSpPr>
        <p:spPr>
          <a:xfrm>
            <a:off x="8686800" y="1920240"/>
            <a:ext cx="2377440" cy="640080"/>
          </a:xfrm>
          <a:prstGeom prst="rect">
            <a:avLst/>
          </a:prstGeom>
          <a:noFill/>
        </p:spPr>
        <p:txBody>
          <a:bodyPr wrap="square">
            <a:spAutoFit/>
          </a:bodyPr>
          <a:lstStyle/>
          <a:p>
            <a:pPr algn="ctr"/>
            <a:r>
              <a:rPr sz="1100" b="0" i="0">
                <a:solidFill>
                  <a:srgbClr val="D0E8F5"/>
                </a:solidFill>
              </a:rPr>
              <a:t>いかなる災害時も
通信を確保</a:t>
            </a:r>
          </a:p>
        </p:txBody>
      </p:sp>
      <p:sp>
        <p:nvSpPr>
          <p:cNvPr id="22" name="TextBox 21"/>
          <p:cNvSpPr txBox="1"/>
          <p:nvPr/>
        </p:nvSpPr>
        <p:spPr>
          <a:xfrm>
            <a:off x="2880360" y="1508760"/>
            <a:ext cx="274320" cy="548640"/>
          </a:xfrm>
          <a:prstGeom prst="rect">
            <a:avLst/>
          </a:prstGeom>
          <a:noFill/>
        </p:spPr>
        <p:txBody>
          <a:bodyPr wrap="square">
            <a:spAutoFit/>
          </a:bodyPr>
          <a:lstStyle/>
          <a:p>
            <a:pPr algn="ctr"/>
            <a:r>
              <a:rPr sz="2000" b="0" i="0">
                <a:solidFill>
                  <a:srgbClr val="00D4FF"/>
                </a:solidFill>
              </a:rPr>
              <a:t>▶</a:t>
            </a:r>
          </a:p>
        </p:txBody>
      </p:sp>
      <p:sp>
        <p:nvSpPr>
          <p:cNvPr id="23" name="TextBox 22"/>
          <p:cNvSpPr txBox="1"/>
          <p:nvPr/>
        </p:nvSpPr>
        <p:spPr>
          <a:xfrm>
            <a:off x="5623560" y="1508760"/>
            <a:ext cx="274320" cy="548640"/>
          </a:xfrm>
          <a:prstGeom prst="rect">
            <a:avLst/>
          </a:prstGeom>
          <a:noFill/>
        </p:spPr>
        <p:txBody>
          <a:bodyPr wrap="square">
            <a:spAutoFit/>
          </a:bodyPr>
          <a:lstStyle/>
          <a:p>
            <a:pPr algn="ctr"/>
            <a:r>
              <a:rPr sz="2000" b="0" i="0">
                <a:solidFill>
                  <a:srgbClr val="00D4FF"/>
                </a:solidFill>
              </a:rPr>
              <a:t>▶</a:t>
            </a:r>
          </a:p>
        </p:txBody>
      </p:sp>
      <p:sp>
        <p:nvSpPr>
          <p:cNvPr id="24" name="TextBox 23"/>
          <p:cNvSpPr txBox="1"/>
          <p:nvPr/>
        </p:nvSpPr>
        <p:spPr>
          <a:xfrm>
            <a:off x="8366760" y="1508760"/>
            <a:ext cx="274320" cy="548640"/>
          </a:xfrm>
          <a:prstGeom prst="rect">
            <a:avLst/>
          </a:prstGeom>
          <a:noFill/>
        </p:spPr>
        <p:txBody>
          <a:bodyPr wrap="square">
            <a:spAutoFit/>
          </a:bodyPr>
          <a:lstStyle/>
          <a:p>
            <a:pPr algn="ctr"/>
            <a:r>
              <a:rPr sz="2000" b="0" i="0">
                <a:solidFill>
                  <a:srgbClr val="00D4FF"/>
                </a:solidFill>
              </a:rPr>
              <a:t>▶</a:t>
            </a:r>
          </a:p>
        </p:txBody>
      </p:sp>
      <p:sp>
        <p:nvSpPr>
          <p:cNvPr id="25" name="Rectangle 24"/>
          <p:cNvSpPr/>
          <p:nvPr/>
        </p:nvSpPr>
        <p:spPr>
          <a:xfrm>
            <a:off x="274320" y="2880360"/>
            <a:ext cx="3703320" cy="3749039"/>
          </a:xfrm>
          <a:prstGeom prst="rect">
            <a:avLst/>
          </a:prstGeom>
          <a:solidFill>
            <a:srgbClr val="0F3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4320" y="2926080"/>
            <a:ext cx="3703320" cy="594360"/>
          </a:xfrm>
          <a:prstGeom prst="rect">
            <a:avLst/>
          </a:prstGeom>
          <a:noFill/>
        </p:spPr>
        <p:txBody>
          <a:bodyPr wrap="square">
            <a:spAutoFit/>
          </a:bodyPr>
          <a:lstStyle/>
          <a:p>
            <a:pPr algn="ctr"/>
            <a:r>
              <a:rPr sz="3000" b="0" i="0">
                <a:solidFill>
                  <a:srgbClr val="FFFFFF"/>
                </a:solidFill>
              </a:rPr>
              <a:t>🛰️</a:t>
            </a:r>
          </a:p>
        </p:txBody>
      </p:sp>
      <p:sp>
        <p:nvSpPr>
          <p:cNvPr id="27" name="TextBox 26"/>
          <p:cNvSpPr txBox="1"/>
          <p:nvPr/>
        </p:nvSpPr>
        <p:spPr>
          <a:xfrm>
            <a:off x="274320" y="3520440"/>
            <a:ext cx="3703320" cy="411480"/>
          </a:xfrm>
          <a:prstGeom prst="rect">
            <a:avLst/>
          </a:prstGeom>
          <a:noFill/>
        </p:spPr>
        <p:txBody>
          <a:bodyPr wrap="square">
            <a:spAutoFit/>
          </a:bodyPr>
          <a:lstStyle/>
          <a:p>
            <a:pPr algn="ctr"/>
            <a:r>
              <a:rPr sz="1400" b="1" i="0">
                <a:solidFill>
                  <a:srgbClr val="00D4FF"/>
                </a:solidFill>
              </a:rPr>
              <a:t>衛星直接通信</a:t>
            </a:r>
          </a:p>
        </p:txBody>
      </p:sp>
      <p:sp>
        <p:nvSpPr>
          <p:cNvPr id="28" name="TextBox 27"/>
          <p:cNvSpPr txBox="1"/>
          <p:nvPr/>
        </p:nvSpPr>
        <p:spPr>
          <a:xfrm>
            <a:off x="411479" y="3977639"/>
            <a:ext cx="3429000" cy="2560320"/>
          </a:xfrm>
          <a:prstGeom prst="rect">
            <a:avLst/>
          </a:prstGeom>
          <a:noFill/>
        </p:spPr>
        <p:txBody>
          <a:bodyPr wrap="square">
            <a:spAutoFit/>
          </a:bodyPr>
          <a:lstStyle/>
          <a:p>
            <a:pPr algn="l"/>
            <a:r>
              <a:rPr sz="1200" b="0" i="0">
                <a:solidFill>
                  <a:srgbClr val="A0C4E8"/>
                </a:solidFill>
              </a:rPr>
              <a:t>地上のインフラに依存しない衛星回線により、地震・水害・停電など地上インフラが壊滅した状況でも通信を維持します。</a:t>
            </a:r>
          </a:p>
        </p:txBody>
      </p:sp>
      <p:sp>
        <p:nvSpPr>
          <p:cNvPr id="29" name="Rectangle 28"/>
          <p:cNvSpPr/>
          <p:nvPr/>
        </p:nvSpPr>
        <p:spPr>
          <a:xfrm>
            <a:off x="4251959" y="2880360"/>
            <a:ext cx="3703320" cy="3749039"/>
          </a:xfrm>
          <a:prstGeom prst="rect">
            <a:avLst/>
          </a:prstGeom>
          <a:solidFill>
            <a:srgbClr val="0F3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51959" y="2926080"/>
            <a:ext cx="3703320" cy="594360"/>
          </a:xfrm>
          <a:prstGeom prst="rect">
            <a:avLst/>
          </a:prstGeom>
          <a:noFill/>
        </p:spPr>
        <p:txBody>
          <a:bodyPr wrap="square">
            <a:spAutoFit/>
          </a:bodyPr>
          <a:lstStyle/>
          <a:p>
            <a:pPr algn="ctr"/>
            <a:r>
              <a:rPr sz="3000" b="0" i="0">
                <a:solidFill>
                  <a:srgbClr val="FFFFFF"/>
                </a:solidFill>
              </a:rPr>
              <a:t>📲</a:t>
            </a:r>
          </a:p>
        </p:txBody>
      </p:sp>
      <p:sp>
        <p:nvSpPr>
          <p:cNvPr id="31" name="TextBox 30"/>
          <p:cNvSpPr txBox="1"/>
          <p:nvPr/>
        </p:nvSpPr>
        <p:spPr>
          <a:xfrm>
            <a:off x="4251959" y="3520440"/>
            <a:ext cx="3703320" cy="411480"/>
          </a:xfrm>
          <a:prstGeom prst="rect">
            <a:avLst/>
          </a:prstGeom>
          <a:noFill/>
        </p:spPr>
        <p:txBody>
          <a:bodyPr wrap="square">
            <a:spAutoFit/>
          </a:bodyPr>
          <a:lstStyle/>
          <a:p>
            <a:pPr algn="ctr"/>
            <a:r>
              <a:rPr sz="1400" b="1" i="0">
                <a:solidFill>
                  <a:srgbClr val="00D4FF"/>
                </a:solidFill>
              </a:rPr>
              <a:t>スマートフォン1台で完結</a:t>
            </a:r>
          </a:p>
        </p:txBody>
      </p:sp>
      <p:sp>
        <p:nvSpPr>
          <p:cNvPr id="32" name="TextBox 31"/>
          <p:cNvSpPr txBox="1"/>
          <p:nvPr/>
        </p:nvSpPr>
        <p:spPr>
          <a:xfrm>
            <a:off x="4389120" y="3977639"/>
            <a:ext cx="3429000" cy="2560320"/>
          </a:xfrm>
          <a:prstGeom prst="rect">
            <a:avLst/>
          </a:prstGeom>
          <a:noFill/>
        </p:spPr>
        <p:txBody>
          <a:bodyPr wrap="square">
            <a:spAutoFit/>
          </a:bodyPr>
          <a:lstStyle/>
          <a:p>
            <a:pPr algn="l"/>
            <a:r>
              <a:rPr sz="1200" b="0" i="0">
                <a:solidFill>
                  <a:srgbClr val="A0C4E8"/>
                </a:solidFill>
              </a:rPr>
              <a:t>大型アンテナ設備不要。au対応Starlink機能内蔵スマートフォンを現場に配備するだけで即座に運用開始が可能です。</a:t>
            </a:r>
          </a:p>
        </p:txBody>
      </p:sp>
      <p:sp>
        <p:nvSpPr>
          <p:cNvPr id="33" name="Rectangle 32"/>
          <p:cNvSpPr/>
          <p:nvPr/>
        </p:nvSpPr>
        <p:spPr>
          <a:xfrm>
            <a:off x="8229600" y="2880360"/>
            <a:ext cx="3703320" cy="3749039"/>
          </a:xfrm>
          <a:prstGeom prst="rect">
            <a:avLst/>
          </a:prstGeom>
          <a:solidFill>
            <a:srgbClr val="0F3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600" y="2926080"/>
            <a:ext cx="3703320" cy="594360"/>
          </a:xfrm>
          <a:prstGeom prst="rect">
            <a:avLst/>
          </a:prstGeom>
          <a:noFill/>
        </p:spPr>
        <p:txBody>
          <a:bodyPr wrap="square">
            <a:spAutoFit/>
          </a:bodyPr>
          <a:lstStyle/>
          <a:p>
            <a:pPr algn="ctr"/>
            <a:r>
              <a:rPr sz="3000" b="0" i="0">
                <a:solidFill>
                  <a:srgbClr val="FFFFFF"/>
                </a:solidFill>
              </a:rPr>
              <a:t>🔄</a:t>
            </a:r>
          </a:p>
        </p:txBody>
      </p:sp>
      <p:sp>
        <p:nvSpPr>
          <p:cNvPr id="35" name="TextBox 34"/>
          <p:cNvSpPr txBox="1"/>
          <p:nvPr/>
        </p:nvSpPr>
        <p:spPr>
          <a:xfrm>
            <a:off x="8229600" y="3520440"/>
            <a:ext cx="3703320" cy="411480"/>
          </a:xfrm>
          <a:prstGeom prst="rect">
            <a:avLst/>
          </a:prstGeom>
          <a:noFill/>
        </p:spPr>
        <p:txBody>
          <a:bodyPr wrap="square">
            <a:spAutoFit/>
          </a:bodyPr>
          <a:lstStyle/>
          <a:p>
            <a:pPr algn="ctr"/>
            <a:r>
              <a:rPr sz="1400" b="1" i="0">
                <a:solidFill>
                  <a:srgbClr val="00D4FF"/>
                </a:solidFill>
              </a:rPr>
              <a:t>自動フェイルオーバー</a:t>
            </a:r>
          </a:p>
        </p:txBody>
      </p:sp>
      <p:sp>
        <p:nvSpPr>
          <p:cNvPr id="36" name="TextBox 35"/>
          <p:cNvSpPr txBox="1"/>
          <p:nvPr/>
        </p:nvSpPr>
        <p:spPr>
          <a:xfrm>
            <a:off x="8366760" y="3977639"/>
            <a:ext cx="3429000" cy="2560320"/>
          </a:xfrm>
          <a:prstGeom prst="rect">
            <a:avLst/>
          </a:prstGeom>
          <a:noFill/>
        </p:spPr>
        <p:txBody>
          <a:bodyPr wrap="square">
            <a:spAutoFit/>
          </a:bodyPr>
          <a:lstStyle/>
          <a:p>
            <a:pPr algn="l"/>
            <a:r>
              <a:rPr sz="1200" b="0" i="0">
                <a:solidFill>
                  <a:srgbClr val="A0C4E8"/>
                </a:solidFill>
              </a:rPr>
              <a:t>通常時は地上回線を優先使用し、通信断を検知した際に自動的に衛星回線へ切り替え。警備員の操作は不要です。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14400"/>
          </a:xfrm>
          <a:prstGeom prst="rect">
            <a:avLst/>
          </a:prstGeom>
          <a:solidFill>
            <a:srgbClr val="0F3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37160"/>
            <a:ext cx="10515600" cy="640080"/>
          </a:xfrm>
          <a:prstGeom prst="rect">
            <a:avLst/>
          </a:prstGeom>
          <a:noFill/>
        </p:spPr>
        <p:txBody>
          <a:bodyPr wrap="square">
            <a:spAutoFit/>
          </a:bodyPr>
          <a:lstStyle/>
          <a:p>
            <a:pPr algn="l"/>
            <a:r>
              <a:rPr sz="2200" b="1" i="0">
                <a:solidFill>
                  <a:srgbClr val="FFFFFF"/>
                </a:solidFill>
              </a:rPr>
              <a:t>03 ｜ Starlink 衛星通信 ── なぜ災害に強いのか</a:t>
            </a:r>
          </a:p>
        </p:txBody>
      </p:sp>
      <p:sp>
        <p:nvSpPr>
          <p:cNvPr id="5" name="Oval 4"/>
          <p:cNvSpPr/>
          <p:nvPr/>
        </p:nvSpPr>
        <p:spPr>
          <a:xfrm>
            <a:off x="11521440" y="182880"/>
            <a:ext cx="502920" cy="502920"/>
          </a:xfrm>
          <a:prstGeom prst="ellipse">
            <a:avLst/>
          </a:prstGeom>
          <a:solidFill>
            <a:srgbClr val="E945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rPr>
              <a:t>4</a:t>
            </a:r>
          </a:p>
        </p:txBody>
      </p:sp>
      <p:sp>
        <p:nvSpPr>
          <p:cNvPr id="6" name="Rectangle 5"/>
          <p:cNvSpPr/>
          <p:nvPr/>
        </p:nvSpPr>
        <p:spPr>
          <a:xfrm>
            <a:off x="274320" y="1005840"/>
            <a:ext cx="5486400" cy="5577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1097280"/>
            <a:ext cx="5212080" cy="411480"/>
          </a:xfrm>
          <a:prstGeom prst="rect">
            <a:avLst/>
          </a:prstGeom>
          <a:noFill/>
        </p:spPr>
        <p:txBody>
          <a:bodyPr wrap="square">
            <a:spAutoFit/>
          </a:bodyPr>
          <a:lstStyle/>
          <a:p>
            <a:pPr algn="l"/>
            <a:r>
              <a:rPr sz="1400" b="1" i="0">
                <a:solidFill>
                  <a:srgbClr val="0F3460"/>
                </a:solidFill>
              </a:rPr>
              <a:t>🛰️  Starlink（スペースX）の基本スペック</a:t>
            </a:r>
          </a:p>
        </p:txBody>
      </p:sp>
      <p:sp>
        <p:nvSpPr>
          <p:cNvPr id="8" name="Rectangle 7"/>
          <p:cNvSpPr/>
          <p:nvPr/>
        </p:nvSpPr>
        <p:spPr>
          <a:xfrm>
            <a:off x="274320" y="1508760"/>
            <a:ext cx="5486400" cy="36576"/>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645920"/>
            <a:ext cx="5486400" cy="402336"/>
          </a:xfrm>
          <a:prstGeom prst="rect">
            <a:avLst/>
          </a:prstGeom>
          <a:solidFill>
            <a:srgbClr val="F0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700784"/>
            <a:ext cx="2560320" cy="320040"/>
          </a:xfrm>
          <a:prstGeom prst="rect">
            <a:avLst/>
          </a:prstGeom>
          <a:noFill/>
        </p:spPr>
        <p:txBody>
          <a:bodyPr wrap="square">
            <a:spAutoFit/>
          </a:bodyPr>
          <a:lstStyle/>
          <a:p>
            <a:pPr algn="l"/>
            <a:r>
              <a:rPr sz="1200" b="0" i="0">
                <a:solidFill>
                  <a:srgbClr val="555555"/>
                </a:solidFill>
              </a:rPr>
              <a:t>衛星軌道</a:t>
            </a:r>
          </a:p>
        </p:txBody>
      </p:sp>
      <p:sp>
        <p:nvSpPr>
          <p:cNvPr id="11" name="TextBox 10"/>
          <p:cNvSpPr txBox="1"/>
          <p:nvPr/>
        </p:nvSpPr>
        <p:spPr>
          <a:xfrm>
            <a:off x="3017520" y="1700784"/>
            <a:ext cx="2560320" cy="320040"/>
          </a:xfrm>
          <a:prstGeom prst="rect">
            <a:avLst/>
          </a:prstGeom>
          <a:noFill/>
        </p:spPr>
        <p:txBody>
          <a:bodyPr wrap="square">
            <a:spAutoFit/>
          </a:bodyPr>
          <a:lstStyle/>
          <a:p>
            <a:pPr algn="l"/>
            <a:r>
              <a:rPr sz="1200" b="1" i="0">
                <a:solidFill>
                  <a:srgbClr val="27AE60"/>
                </a:solidFill>
              </a:rPr>
              <a:t>低軌道（高度 550km）</a:t>
            </a:r>
          </a:p>
        </p:txBody>
      </p:sp>
      <p:sp>
        <p:nvSpPr>
          <p:cNvPr id="12" name="Rectangle 11"/>
          <p:cNvSpPr/>
          <p:nvPr/>
        </p:nvSpPr>
        <p:spPr>
          <a:xfrm>
            <a:off x="274320" y="2057400"/>
            <a:ext cx="5486400" cy="40233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2112264"/>
            <a:ext cx="2560320" cy="320040"/>
          </a:xfrm>
          <a:prstGeom prst="rect">
            <a:avLst/>
          </a:prstGeom>
          <a:noFill/>
        </p:spPr>
        <p:txBody>
          <a:bodyPr wrap="square">
            <a:spAutoFit/>
          </a:bodyPr>
          <a:lstStyle/>
          <a:p>
            <a:pPr algn="l"/>
            <a:r>
              <a:rPr sz="1200" b="0" i="0">
                <a:solidFill>
                  <a:srgbClr val="555555"/>
                </a:solidFill>
              </a:rPr>
              <a:t>通信遅延</a:t>
            </a:r>
          </a:p>
        </p:txBody>
      </p:sp>
      <p:sp>
        <p:nvSpPr>
          <p:cNvPr id="14" name="TextBox 13"/>
          <p:cNvSpPr txBox="1"/>
          <p:nvPr/>
        </p:nvSpPr>
        <p:spPr>
          <a:xfrm>
            <a:off x="3017520" y="2112264"/>
            <a:ext cx="2560320" cy="320040"/>
          </a:xfrm>
          <a:prstGeom prst="rect">
            <a:avLst/>
          </a:prstGeom>
          <a:noFill/>
        </p:spPr>
        <p:txBody>
          <a:bodyPr wrap="square">
            <a:spAutoFit/>
          </a:bodyPr>
          <a:lstStyle/>
          <a:p>
            <a:pPr algn="l"/>
            <a:r>
              <a:rPr sz="1200" b="1" i="0">
                <a:solidFill>
                  <a:srgbClr val="27AE60"/>
                </a:solidFill>
              </a:rPr>
              <a:t>20〜40ms（低遅延）</a:t>
            </a:r>
          </a:p>
        </p:txBody>
      </p:sp>
      <p:sp>
        <p:nvSpPr>
          <p:cNvPr id="15" name="Rectangle 14"/>
          <p:cNvSpPr/>
          <p:nvPr/>
        </p:nvSpPr>
        <p:spPr>
          <a:xfrm>
            <a:off x="274320" y="2468880"/>
            <a:ext cx="5486400" cy="402336"/>
          </a:xfrm>
          <a:prstGeom prst="rect">
            <a:avLst/>
          </a:prstGeom>
          <a:solidFill>
            <a:srgbClr val="F0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1480" y="2523744"/>
            <a:ext cx="2560320" cy="320040"/>
          </a:xfrm>
          <a:prstGeom prst="rect">
            <a:avLst/>
          </a:prstGeom>
          <a:noFill/>
        </p:spPr>
        <p:txBody>
          <a:bodyPr wrap="square">
            <a:spAutoFit/>
          </a:bodyPr>
          <a:lstStyle/>
          <a:p>
            <a:pPr algn="l"/>
            <a:r>
              <a:rPr sz="1200" b="0" i="0">
                <a:solidFill>
                  <a:srgbClr val="555555"/>
                </a:solidFill>
              </a:rPr>
              <a:t>ダウンロード速度</a:t>
            </a:r>
          </a:p>
        </p:txBody>
      </p:sp>
      <p:sp>
        <p:nvSpPr>
          <p:cNvPr id="17" name="TextBox 16"/>
          <p:cNvSpPr txBox="1"/>
          <p:nvPr/>
        </p:nvSpPr>
        <p:spPr>
          <a:xfrm>
            <a:off x="3017520" y="2523744"/>
            <a:ext cx="2560320" cy="320040"/>
          </a:xfrm>
          <a:prstGeom prst="rect">
            <a:avLst/>
          </a:prstGeom>
          <a:noFill/>
        </p:spPr>
        <p:txBody>
          <a:bodyPr wrap="square">
            <a:spAutoFit/>
          </a:bodyPr>
          <a:lstStyle/>
          <a:p>
            <a:pPr algn="l"/>
            <a:r>
              <a:rPr sz="1200" b="1" i="0">
                <a:solidFill>
                  <a:srgbClr val="27AE60"/>
                </a:solidFill>
              </a:rPr>
              <a:t>最大 220 Mbps</a:t>
            </a:r>
          </a:p>
        </p:txBody>
      </p:sp>
      <p:sp>
        <p:nvSpPr>
          <p:cNvPr id="18" name="Rectangle 17"/>
          <p:cNvSpPr/>
          <p:nvPr/>
        </p:nvSpPr>
        <p:spPr>
          <a:xfrm>
            <a:off x="274320" y="2880360"/>
            <a:ext cx="5486400" cy="40233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2935224"/>
            <a:ext cx="2560320" cy="320040"/>
          </a:xfrm>
          <a:prstGeom prst="rect">
            <a:avLst/>
          </a:prstGeom>
          <a:noFill/>
        </p:spPr>
        <p:txBody>
          <a:bodyPr wrap="square">
            <a:spAutoFit/>
          </a:bodyPr>
          <a:lstStyle/>
          <a:p>
            <a:pPr algn="l"/>
            <a:r>
              <a:rPr sz="1200" b="0" i="0">
                <a:solidFill>
                  <a:srgbClr val="555555"/>
                </a:solidFill>
              </a:rPr>
              <a:t>アップロード速度</a:t>
            </a:r>
          </a:p>
        </p:txBody>
      </p:sp>
      <p:sp>
        <p:nvSpPr>
          <p:cNvPr id="20" name="TextBox 19"/>
          <p:cNvSpPr txBox="1"/>
          <p:nvPr/>
        </p:nvSpPr>
        <p:spPr>
          <a:xfrm>
            <a:off x="3017520" y="2935224"/>
            <a:ext cx="2560320" cy="320040"/>
          </a:xfrm>
          <a:prstGeom prst="rect">
            <a:avLst/>
          </a:prstGeom>
          <a:noFill/>
        </p:spPr>
        <p:txBody>
          <a:bodyPr wrap="square">
            <a:spAutoFit/>
          </a:bodyPr>
          <a:lstStyle/>
          <a:p>
            <a:pPr algn="l"/>
            <a:r>
              <a:rPr sz="1200" b="1" i="0">
                <a:solidFill>
                  <a:srgbClr val="27AE60"/>
                </a:solidFill>
              </a:rPr>
              <a:t>最大 20 Mbps</a:t>
            </a:r>
          </a:p>
        </p:txBody>
      </p:sp>
      <p:sp>
        <p:nvSpPr>
          <p:cNvPr id="21" name="Rectangle 20"/>
          <p:cNvSpPr/>
          <p:nvPr/>
        </p:nvSpPr>
        <p:spPr>
          <a:xfrm>
            <a:off x="274320" y="3291840"/>
            <a:ext cx="5486400" cy="402336"/>
          </a:xfrm>
          <a:prstGeom prst="rect">
            <a:avLst/>
          </a:prstGeom>
          <a:solidFill>
            <a:srgbClr val="F0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80" y="3346704"/>
            <a:ext cx="2560320" cy="320040"/>
          </a:xfrm>
          <a:prstGeom prst="rect">
            <a:avLst/>
          </a:prstGeom>
          <a:noFill/>
        </p:spPr>
        <p:txBody>
          <a:bodyPr wrap="square">
            <a:spAutoFit/>
          </a:bodyPr>
          <a:lstStyle/>
          <a:p>
            <a:pPr algn="l"/>
            <a:r>
              <a:rPr sz="1200" b="0" i="0">
                <a:solidFill>
                  <a:srgbClr val="555555"/>
                </a:solidFill>
              </a:rPr>
              <a:t>通信可能エリア</a:t>
            </a:r>
          </a:p>
        </p:txBody>
      </p:sp>
      <p:sp>
        <p:nvSpPr>
          <p:cNvPr id="23" name="TextBox 22"/>
          <p:cNvSpPr txBox="1"/>
          <p:nvPr/>
        </p:nvSpPr>
        <p:spPr>
          <a:xfrm>
            <a:off x="3017520" y="3346704"/>
            <a:ext cx="2560320" cy="320040"/>
          </a:xfrm>
          <a:prstGeom prst="rect">
            <a:avLst/>
          </a:prstGeom>
          <a:noFill/>
        </p:spPr>
        <p:txBody>
          <a:bodyPr wrap="square">
            <a:spAutoFit/>
          </a:bodyPr>
          <a:lstStyle/>
          <a:p>
            <a:pPr algn="l"/>
            <a:r>
              <a:rPr sz="1200" b="1" i="0">
                <a:solidFill>
                  <a:srgbClr val="27AE60"/>
                </a:solidFill>
              </a:rPr>
              <a:t>日本全国（山間部含む）</a:t>
            </a:r>
          </a:p>
        </p:txBody>
      </p:sp>
      <p:sp>
        <p:nvSpPr>
          <p:cNvPr id="24" name="Rectangle 23"/>
          <p:cNvSpPr/>
          <p:nvPr/>
        </p:nvSpPr>
        <p:spPr>
          <a:xfrm>
            <a:off x="274320" y="3703320"/>
            <a:ext cx="5486400" cy="40233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80" y="3758183"/>
            <a:ext cx="2560320" cy="320040"/>
          </a:xfrm>
          <a:prstGeom prst="rect">
            <a:avLst/>
          </a:prstGeom>
          <a:noFill/>
        </p:spPr>
        <p:txBody>
          <a:bodyPr wrap="square">
            <a:spAutoFit/>
          </a:bodyPr>
          <a:lstStyle/>
          <a:p>
            <a:pPr algn="l"/>
            <a:r>
              <a:rPr sz="1200" b="0" i="0">
                <a:solidFill>
                  <a:srgbClr val="555555"/>
                </a:solidFill>
              </a:rPr>
              <a:t>地上インフラ依存</a:t>
            </a:r>
          </a:p>
        </p:txBody>
      </p:sp>
      <p:sp>
        <p:nvSpPr>
          <p:cNvPr id="26" name="TextBox 25"/>
          <p:cNvSpPr txBox="1"/>
          <p:nvPr/>
        </p:nvSpPr>
        <p:spPr>
          <a:xfrm>
            <a:off x="3017520" y="3758183"/>
            <a:ext cx="2560320" cy="320040"/>
          </a:xfrm>
          <a:prstGeom prst="rect">
            <a:avLst/>
          </a:prstGeom>
          <a:noFill/>
        </p:spPr>
        <p:txBody>
          <a:bodyPr wrap="square">
            <a:spAutoFit/>
          </a:bodyPr>
          <a:lstStyle/>
          <a:p>
            <a:pPr algn="l"/>
            <a:r>
              <a:rPr sz="1200" b="1" i="0">
                <a:solidFill>
                  <a:srgbClr val="27AE60"/>
                </a:solidFill>
              </a:rPr>
              <a:t>なし（衛星直接接続）</a:t>
            </a:r>
          </a:p>
        </p:txBody>
      </p:sp>
      <p:sp>
        <p:nvSpPr>
          <p:cNvPr id="27" name="Rectangle 26"/>
          <p:cNvSpPr/>
          <p:nvPr/>
        </p:nvSpPr>
        <p:spPr>
          <a:xfrm>
            <a:off x="274320" y="4114800"/>
            <a:ext cx="5486400" cy="402336"/>
          </a:xfrm>
          <a:prstGeom prst="rect">
            <a:avLst/>
          </a:prstGeom>
          <a:solidFill>
            <a:srgbClr val="F0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4169663"/>
            <a:ext cx="2560320" cy="320040"/>
          </a:xfrm>
          <a:prstGeom prst="rect">
            <a:avLst/>
          </a:prstGeom>
          <a:noFill/>
        </p:spPr>
        <p:txBody>
          <a:bodyPr wrap="square">
            <a:spAutoFit/>
          </a:bodyPr>
          <a:lstStyle/>
          <a:p>
            <a:pPr algn="l"/>
            <a:r>
              <a:rPr sz="1200" b="0" i="0">
                <a:solidFill>
                  <a:srgbClr val="555555"/>
                </a:solidFill>
              </a:rPr>
              <a:t>悪天候耐性</a:t>
            </a:r>
          </a:p>
        </p:txBody>
      </p:sp>
      <p:sp>
        <p:nvSpPr>
          <p:cNvPr id="29" name="TextBox 28"/>
          <p:cNvSpPr txBox="1"/>
          <p:nvPr/>
        </p:nvSpPr>
        <p:spPr>
          <a:xfrm>
            <a:off x="3017520" y="4169663"/>
            <a:ext cx="2560320" cy="320040"/>
          </a:xfrm>
          <a:prstGeom prst="rect">
            <a:avLst/>
          </a:prstGeom>
          <a:noFill/>
        </p:spPr>
        <p:txBody>
          <a:bodyPr wrap="square">
            <a:spAutoFit/>
          </a:bodyPr>
          <a:lstStyle/>
          <a:p>
            <a:pPr algn="l"/>
            <a:r>
              <a:rPr sz="1200" b="1" i="0">
                <a:solidFill>
                  <a:srgbClr val="27AE60"/>
                </a:solidFill>
              </a:rPr>
              <a:t>豪雨・台風下でも通信維持</a:t>
            </a:r>
          </a:p>
        </p:txBody>
      </p:sp>
      <p:sp>
        <p:nvSpPr>
          <p:cNvPr id="30" name="Rectangle 29"/>
          <p:cNvSpPr/>
          <p:nvPr/>
        </p:nvSpPr>
        <p:spPr>
          <a:xfrm>
            <a:off x="274320" y="4526280"/>
            <a:ext cx="5486400" cy="40233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11480" y="4581144"/>
            <a:ext cx="2560320" cy="320040"/>
          </a:xfrm>
          <a:prstGeom prst="rect">
            <a:avLst/>
          </a:prstGeom>
          <a:noFill/>
        </p:spPr>
        <p:txBody>
          <a:bodyPr wrap="square">
            <a:spAutoFit/>
          </a:bodyPr>
          <a:lstStyle/>
          <a:p>
            <a:pPr algn="l"/>
            <a:r>
              <a:rPr sz="1200" b="0" i="0">
                <a:solidFill>
                  <a:srgbClr val="555555"/>
                </a:solidFill>
              </a:rPr>
              <a:t>運用衛星数</a:t>
            </a:r>
          </a:p>
        </p:txBody>
      </p:sp>
      <p:sp>
        <p:nvSpPr>
          <p:cNvPr id="32" name="TextBox 31"/>
          <p:cNvSpPr txBox="1"/>
          <p:nvPr/>
        </p:nvSpPr>
        <p:spPr>
          <a:xfrm>
            <a:off x="3017520" y="4581144"/>
            <a:ext cx="2560320" cy="320040"/>
          </a:xfrm>
          <a:prstGeom prst="rect">
            <a:avLst/>
          </a:prstGeom>
          <a:noFill/>
        </p:spPr>
        <p:txBody>
          <a:bodyPr wrap="square">
            <a:spAutoFit/>
          </a:bodyPr>
          <a:lstStyle/>
          <a:p>
            <a:pPr algn="l"/>
            <a:r>
              <a:rPr sz="1200" b="1" i="0">
                <a:solidFill>
                  <a:srgbClr val="27AE60"/>
                </a:solidFill>
              </a:rPr>
              <a:t>7,000機以上（拡張中）</a:t>
            </a:r>
          </a:p>
        </p:txBody>
      </p:sp>
      <p:sp>
        <p:nvSpPr>
          <p:cNvPr id="33" name="Rectangle 32"/>
          <p:cNvSpPr/>
          <p:nvPr/>
        </p:nvSpPr>
        <p:spPr>
          <a:xfrm>
            <a:off x="274320" y="4983480"/>
            <a:ext cx="5486400" cy="1188720"/>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5074920"/>
            <a:ext cx="5212080" cy="1005840"/>
          </a:xfrm>
          <a:prstGeom prst="rect">
            <a:avLst/>
          </a:prstGeom>
          <a:noFill/>
        </p:spPr>
        <p:txBody>
          <a:bodyPr wrap="square">
            <a:spAutoFit/>
          </a:bodyPr>
          <a:lstStyle/>
          <a:p>
            <a:pPr algn="l"/>
            <a:r>
              <a:rPr sz="1200" b="1" i="0">
                <a:solidFill>
                  <a:srgbClr val="0F3460"/>
                </a:solidFill>
              </a:rPr>
              <a:t>🔑 最大の強み：地震で光ファイバーが断線しても、台風で基地局が倒壊しても、衛星は宇宙から通信を届け続ける</a:t>
            </a:r>
          </a:p>
        </p:txBody>
      </p:sp>
      <p:sp>
        <p:nvSpPr>
          <p:cNvPr id="35" name="Rectangle 34"/>
          <p:cNvSpPr/>
          <p:nvPr/>
        </p:nvSpPr>
        <p:spPr>
          <a:xfrm>
            <a:off x="6126480" y="1005840"/>
            <a:ext cx="5788152" cy="5577840"/>
          </a:xfrm>
          <a:prstGeom prst="rect">
            <a:avLst/>
          </a:prstGeom>
          <a:solidFill>
            <a:srgbClr val="0F3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63640" y="1097280"/>
            <a:ext cx="5486400" cy="411480"/>
          </a:xfrm>
          <a:prstGeom prst="rect">
            <a:avLst/>
          </a:prstGeom>
          <a:noFill/>
        </p:spPr>
        <p:txBody>
          <a:bodyPr wrap="square">
            <a:spAutoFit/>
          </a:bodyPr>
          <a:lstStyle/>
          <a:p>
            <a:pPr algn="l"/>
            <a:r>
              <a:rPr sz="1400" b="1" i="0">
                <a:solidFill>
                  <a:srgbClr val="00D4FF"/>
                </a:solidFill>
              </a:rPr>
              <a:t>💡  従来の衛星通信との違い</a:t>
            </a:r>
          </a:p>
        </p:txBody>
      </p:sp>
      <p:sp>
        <p:nvSpPr>
          <p:cNvPr id="37" name="Rectangle 36"/>
          <p:cNvSpPr/>
          <p:nvPr/>
        </p:nvSpPr>
        <p:spPr>
          <a:xfrm>
            <a:off x="6126480" y="1508760"/>
            <a:ext cx="5788152" cy="36576"/>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63640" y="1691640"/>
            <a:ext cx="228600" cy="320040"/>
          </a:xfrm>
          <a:prstGeom prst="rect">
            <a:avLst/>
          </a:prstGeom>
          <a:noFill/>
        </p:spPr>
        <p:txBody>
          <a:bodyPr wrap="square">
            <a:spAutoFit/>
          </a:bodyPr>
          <a:lstStyle/>
          <a:p>
            <a:pPr algn="l"/>
            <a:r>
              <a:rPr sz="1400" b="0" i="0">
                <a:solidFill>
                  <a:srgbClr val="00D4FF"/>
                </a:solidFill>
              </a:rPr>
              <a:t>●</a:t>
            </a:r>
          </a:p>
        </p:txBody>
      </p:sp>
      <p:sp>
        <p:nvSpPr>
          <p:cNvPr id="39" name="TextBox 38"/>
          <p:cNvSpPr txBox="1"/>
          <p:nvPr/>
        </p:nvSpPr>
        <p:spPr>
          <a:xfrm>
            <a:off x="6492240" y="1691640"/>
            <a:ext cx="5212080" cy="320040"/>
          </a:xfrm>
          <a:prstGeom prst="rect">
            <a:avLst/>
          </a:prstGeom>
          <a:noFill/>
        </p:spPr>
        <p:txBody>
          <a:bodyPr wrap="square">
            <a:spAutoFit/>
          </a:bodyPr>
          <a:lstStyle/>
          <a:p>
            <a:pPr algn="l"/>
            <a:r>
              <a:rPr sz="1200" b="1" i="0">
                <a:solidFill>
                  <a:srgbClr val="FFFFFF"/>
                </a:solidFill>
              </a:rPr>
              <a:t>低軌道衛星のため遅延が小さい</a:t>
            </a:r>
          </a:p>
        </p:txBody>
      </p:sp>
      <p:sp>
        <p:nvSpPr>
          <p:cNvPr id="40" name="TextBox 39"/>
          <p:cNvSpPr txBox="1"/>
          <p:nvPr/>
        </p:nvSpPr>
        <p:spPr>
          <a:xfrm>
            <a:off x="6492240" y="2011680"/>
            <a:ext cx="5212080" cy="502920"/>
          </a:xfrm>
          <a:prstGeom prst="rect">
            <a:avLst/>
          </a:prstGeom>
          <a:noFill/>
        </p:spPr>
        <p:txBody>
          <a:bodyPr wrap="square">
            <a:spAutoFit/>
          </a:bodyPr>
          <a:lstStyle/>
          <a:p>
            <a:pPr algn="l"/>
            <a:r>
              <a:rPr sz="1100" b="0" i="0">
                <a:solidFill>
                  <a:srgbClr val="A0C4E8"/>
                </a:solidFill>
              </a:rPr>
              <a:t>静止衛星（36,000km）と比べ遅延が1/20以下。リアルタイム音声通話・映像監視に対応。</a:t>
            </a:r>
          </a:p>
        </p:txBody>
      </p:sp>
      <p:sp>
        <p:nvSpPr>
          <p:cNvPr id="41" name="TextBox 40"/>
          <p:cNvSpPr txBox="1"/>
          <p:nvPr/>
        </p:nvSpPr>
        <p:spPr>
          <a:xfrm>
            <a:off x="6263640" y="2587752"/>
            <a:ext cx="228600" cy="320040"/>
          </a:xfrm>
          <a:prstGeom prst="rect">
            <a:avLst/>
          </a:prstGeom>
          <a:noFill/>
        </p:spPr>
        <p:txBody>
          <a:bodyPr wrap="square">
            <a:spAutoFit/>
          </a:bodyPr>
          <a:lstStyle/>
          <a:p>
            <a:pPr algn="l"/>
            <a:r>
              <a:rPr sz="1400" b="0" i="0">
                <a:solidFill>
                  <a:srgbClr val="00D4FF"/>
                </a:solidFill>
              </a:rPr>
              <a:t>●</a:t>
            </a:r>
          </a:p>
        </p:txBody>
      </p:sp>
      <p:sp>
        <p:nvSpPr>
          <p:cNvPr id="42" name="TextBox 41"/>
          <p:cNvSpPr txBox="1"/>
          <p:nvPr/>
        </p:nvSpPr>
        <p:spPr>
          <a:xfrm>
            <a:off x="6492240" y="2587752"/>
            <a:ext cx="5212080" cy="320040"/>
          </a:xfrm>
          <a:prstGeom prst="rect">
            <a:avLst/>
          </a:prstGeom>
          <a:noFill/>
        </p:spPr>
        <p:txBody>
          <a:bodyPr wrap="square">
            <a:spAutoFit/>
          </a:bodyPr>
          <a:lstStyle/>
          <a:p>
            <a:pPr algn="l"/>
            <a:r>
              <a:rPr sz="1200" b="1" i="0">
                <a:solidFill>
                  <a:srgbClr val="FFFFFF"/>
                </a:solidFill>
              </a:rPr>
              <a:t>スマートフォンから直接接続</a:t>
            </a:r>
          </a:p>
        </p:txBody>
      </p:sp>
      <p:sp>
        <p:nvSpPr>
          <p:cNvPr id="43" name="TextBox 42"/>
          <p:cNvSpPr txBox="1"/>
          <p:nvPr/>
        </p:nvSpPr>
        <p:spPr>
          <a:xfrm>
            <a:off x="6492240" y="2907792"/>
            <a:ext cx="5212080" cy="502920"/>
          </a:xfrm>
          <a:prstGeom prst="rect">
            <a:avLst/>
          </a:prstGeom>
          <a:noFill/>
        </p:spPr>
        <p:txBody>
          <a:bodyPr wrap="square">
            <a:spAutoFit/>
          </a:bodyPr>
          <a:lstStyle/>
          <a:p>
            <a:pPr algn="l"/>
            <a:r>
              <a:rPr sz="1100" b="0" i="0">
                <a:solidFill>
                  <a:srgbClr val="A0C4E8"/>
                </a:solidFill>
              </a:rPr>
              <a:t>大型アンテナ不要。Direct to Cell技術によりスマホだけで衛星と直接通信が可能。</a:t>
            </a:r>
          </a:p>
        </p:txBody>
      </p:sp>
      <p:sp>
        <p:nvSpPr>
          <p:cNvPr id="44" name="TextBox 43"/>
          <p:cNvSpPr txBox="1"/>
          <p:nvPr/>
        </p:nvSpPr>
        <p:spPr>
          <a:xfrm>
            <a:off x="6263640" y="3483864"/>
            <a:ext cx="228600" cy="320040"/>
          </a:xfrm>
          <a:prstGeom prst="rect">
            <a:avLst/>
          </a:prstGeom>
          <a:noFill/>
        </p:spPr>
        <p:txBody>
          <a:bodyPr wrap="square">
            <a:spAutoFit/>
          </a:bodyPr>
          <a:lstStyle/>
          <a:p>
            <a:pPr algn="l"/>
            <a:r>
              <a:rPr sz="1400" b="0" i="0">
                <a:solidFill>
                  <a:srgbClr val="00D4FF"/>
                </a:solidFill>
              </a:rPr>
              <a:t>●</a:t>
            </a:r>
          </a:p>
        </p:txBody>
      </p:sp>
      <p:sp>
        <p:nvSpPr>
          <p:cNvPr id="45" name="TextBox 44"/>
          <p:cNvSpPr txBox="1"/>
          <p:nvPr/>
        </p:nvSpPr>
        <p:spPr>
          <a:xfrm>
            <a:off x="6492240" y="3483864"/>
            <a:ext cx="5212080" cy="320040"/>
          </a:xfrm>
          <a:prstGeom prst="rect">
            <a:avLst/>
          </a:prstGeom>
          <a:noFill/>
        </p:spPr>
        <p:txBody>
          <a:bodyPr wrap="square">
            <a:spAutoFit/>
          </a:bodyPr>
          <a:lstStyle/>
          <a:p>
            <a:pPr algn="l"/>
            <a:r>
              <a:rPr sz="1200" b="1" i="0">
                <a:solidFill>
                  <a:srgbClr val="FFFFFF"/>
                </a:solidFill>
              </a:rPr>
              <a:t>東日本大震災級でも通信継続</a:t>
            </a:r>
          </a:p>
        </p:txBody>
      </p:sp>
      <p:sp>
        <p:nvSpPr>
          <p:cNvPr id="46" name="TextBox 45"/>
          <p:cNvSpPr txBox="1"/>
          <p:nvPr/>
        </p:nvSpPr>
        <p:spPr>
          <a:xfrm>
            <a:off x="6492240" y="3803904"/>
            <a:ext cx="5212080" cy="502920"/>
          </a:xfrm>
          <a:prstGeom prst="rect">
            <a:avLst/>
          </a:prstGeom>
          <a:noFill/>
        </p:spPr>
        <p:txBody>
          <a:bodyPr wrap="square">
            <a:spAutoFit/>
          </a:bodyPr>
          <a:lstStyle/>
          <a:p>
            <a:pPr algn="l"/>
            <a:r>
              <a:rPr sz="1100" b="0" i="0">
                <a:solidFill>
                  <a:srgbClr val="A0C4E8"/>
                </a:solidFill>
              </a:rPr>
              <a:t>地上インフラ全滅シミュレーション下でも安定した通信を実証済み。</a:t>
            </a:r>
          </a:p>
        </p:txBody>
      </p:sp>
      <p:sp>
        <p:nvSpPr>
          <p:cNvPr id="47" name="TextBox 46"/>
          <p:cNvSpPr txBox="1"/>
          <p:nvPr/>
        </p:nvSpPr>
        <p:spPr>
          <a:xfrm>
            <a:off x="6263640" y="4379976"/>
            <a:ext cx="228600" cy="320040"/>
          </a:xfrm>
          <a:prstGeom prst="rect">
            <a:avLst/>
          </a:prstGeom>
          <a:noFill/>
        </p:spPr>
        <p:txBody>
          <a:bodyPr wrap="square">
            <a:spAutoFit/>
          </a:bodyPr>
          <a:lstStyle/>
          <a:p>
            <a:pPr algn="l"/>
            <a:r>
              <a:rPr sz="1400" b="0" i="0">
                <a:solidFill>
                  <a:srgbClr val="00D4FF"/>
                </a:solidFill>
              </a:rPr>
              <a:t>●</a:t>
            </a:r>
          </a:p>
        </p:txBody>
      </p:sp>
      <p:sp>
        <p:nvSpPr>
          <p:cNvPr id="48" name="TextBox 47"/>
          <p:cNvSpPr txBox="1"/>
          <p:nvPr/>
        </p:nvSpPr>
        <p:spPr>
          <a:xfrm>
            <a:off x="6492240" y="4379976"/>
            <a:ext cx="5212080" cy="320040"/>
          </a:xfrm>
          <a:prstGeom prst="rect">
            <a:avLst/>
          </a:prstGeom>
          <a:noFill/>
        </p:spPr>
        <p:txBody>
          <a:bodyPr wrap="square">
            <a:spAutoFit/>
          </a:bodyPr>
          <a:lstStyle/>
          <a:p>
            <a:pPr algn="l"/>
            <a:r>
              <a:rPr sz="1200" b="1" i="0">
                <a:solidFill>
                  <a:srgbClr val="FFFFFF"/>
                </a:solidFill>
              </a:rPr>
              <a:t>auネットワークとの統合管理</a:t>
            </a:r>
          </a:p>
        </p:txBody>
      </p:sp>
      <p:sp>
        <p:nvSpPr>
          <p:cNvPr id="49" name="TextBox 48"/>
          <p:cNvSpPr txBox="1"/>
          <p:nvPr/>
        </p:nvSpPr>
        <p:spPr>
          <a:xfrm>
            <a:off x="6492240" y="4700016"/>
            <a:ext cx="5212080" cy="502920"/>
          </a:xfrm>
          <a:prstGeom prst="rect">
            <a:avLst/>
          </a:prstGeom>
          <a:noFill/>
        </p:spPr>
        <p:txBody>
          <a:bodyPr wrap="square">
            <a:spAutoFit/>
          </a:bodyPr>
          <a:lstStyle/>
          <a:p>
            <a:pPr algn="l"/>
            <a:r>
              <a:rPr sz="1100" b="0" i="0">
                <a:solidFill>
                  <a:srgbClr val="A0C4E8"/>
                </a:solidFill>
              </a:rPr>
              <a:t>au法人向けSIMと組み合わせ、一元的な通信・コスト管理が可能。</a:t>
            </a:r>
          </a:p>
        </p:txBody>
      </p:sp>
      <p:sp>
        <p:nvSpPr>
          <p:cNvPr id="50" name="TextBox 49"/>
          <p:cNvSpPr txBox="1"/>
          <p:nvPr/>
        </p:nvSpPr>
        <p:spPr>
          <a:xfrm>
            <a:off x="6263640" y="5276088"/>
            <a:ext cx="228600" cy="320040"/>
          </a:xfrm>
          <a:prstGeom prst="rect">
            <a:avLst/>
          </a:prstGeom>
          <a:noFill/>
        </p:spPr>
        <p:txBody>
          <a:bodyPr wrap="square">
            <a:spAutoFit/>
          </a:bodyPr>
          <a:lstStyle/>
          <a:p>
            <a:pPr algn="l"/>
            <a:r>
              <a:rPr sz="1400" b="0" i="0">
                <a:solidFill>
                  <a:srgbClr val="00D4FF"/>
                </a:solidFill>
              </a:rPr>
              <a:t>●</a:t>
            </a:r>
          </a:p>
        </p:txBody>
      </p:sp>
      <p:sp>
        <p:nvSpPr>
          <p:cNvPr id="51" name="TextBox 50"/>
          <p:cNvSpPr txBox="1"/>
          <p:nvPr/>
        </p:nvSpPr>
        <p:spPr>
          <a:xfrm>
            <a:off x="6492240" y="5276088"/>
            <a:ext cx="5212080" cy="320040"/>
          </a:xfrm>
          <a:prstGeom prst="rect">
            <a:avLst/>
          </a:prstGeom>
          <a:noFill/>
        </p:spPr>
        <p:txBody>
          <a:bodyPr wrap="square">
            <a:spAutoFit/>
          </a:bodyPr>
          <a:lstStyle/>
          <a:p>
            <a:pPr algn="l"/>
            <a:r>
              <a:rPr sz="1200" b="1" i="0">
                <a:solidFill>
                  <a:srgbClr val="FFFFFF"/>
                </a:solidFill>
              </a:rPr>
              <a:t>即時展開可能</a:t>
            </a:r>
          </a:p>
        </p:txBody>
      </p:sp>
      <p:sp>
        <p:nvSpPr>
          <p:cNvPr id="52" name="TextBox 51"/>
          <p:cNvSpPr txBox="1"/>
          <p:nvPr/>
        </p:nvSpPr>
        <p:spPr>
          <a:xfrm>
            <a:off x="6492240" y="5596127"/>
            <a:ext cx="5212080" cy="502920"/>
          </a:xfrm>
          <a:prstGeom prst="rect">
            <a:avLst/>
          </a:prstGeom>
          <a:noFill/>
        </p:spPr>
        <p:txBody>
          <a:bodyPr wrap="square">
            <a:spAutoFit/>
          </a:bodyPr>
          <a:lstStyle/>
          <a:p>
            <a:pPr algn="l"/>
            <a:r>
              <a:rPr sz="1100" b="0" i="0">
                <a:solidFill>
                  <a:srgbClr val="A0C4E8"/>
                </a:solidFill>
              </a:rPr>
              <a:t>工事不要。スマートフォンを配備するだけで翌日から運用開始できます。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14400"/>
          </a:xfrm>
          <a:prstGeom prst="rect">
            <a:avLst/>
          </a:prstGeom>
          <a:solidFill>
            <a:srgbClr val="0F3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37160"/>
            <a:ext cx="10515600" cy="640080"/>
          </a:xfrm>
          <a:prstGeom prst="rect">
            <a:avLst/>
          </a:prstGeom>
          <a:noFill/>
        </p:spPr>
        <p:txBody>
          <a:bodyPr wrap="square">
            <a:spAutoFit/>
          </a:bodyPr>
          <a:lstStyle/>
          <a:p>
            <a:pPr algn="l"/>
            <a:r>
              <a:rPr sz="2200" b="1" i="0">
                <a:solidFill>
                  <a:srgbClr val="FFFFFF"/>
                </a:solidFill>
              </a:rPr>
              <a:t>04 ｜ au スターリンク対応スマートフォン ── 現場配備の優位性</a:t>
            </a:r>
          </a:p>
        </p:txBody>
      </p:sp>
      <p:sp>
        <p:nvSpPr>
          <p:cNvPr id="5" name="Oval 4"/>
          <p:cNvSpPr/>
          <p:nvPr/>
        </p:nvSpPr>
        <p:spPr>
          <a:xfrm>
            <a:off x="11521440" y="182880"/>
            <a:ext cx="502920" cy="502920"/>
          </a:xfrm>
          <a:prstGeom prst="ellipse">
            <a:avLst/>
          </a:prstGeom>
          <a:solidFill>
            <a:srgbClr val="E945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rPr>
              <a:t>5</a:t>
            </a:r>
          </a:p>
        </p:txBody>
      </p:sp>
      <p:sp>
        <p:nvSpPr>
          <p:cNvPr id="6" name="Rectangle 5"/>
          <p:cNvSpPr/>
          <p:nvPr/>
        </p:nvSpPr>
        <p:spPr>
          <a:xfrm>
            <a:off x="274320" y="1005840"/>
            <a:ext cx="3291840" cy="55778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1371600"/>
            <a:ext cx="3291840" cy="1097280"/>
          </a:xfrm>
          <a:prstGeom prst="rect">
            <a:avLst/>
          </a:prstGeom>
          <a:noFill/>
        </p:spPr>
        <p:txBody>
          <a:bodyPr wrap="square">
            <a:spAutoFit/>
          </a:bodyPr>
          <a:lstStyle/>
          <a:p>
            <a:pPr algn="ctr"/>
            <a:r>
              <a:rPr sz="6000" b="0" i="0">
                <a:solidFill>
                  <a:srgbClr val="FFFFFF"/>
                </a:solidFill>
              </a:rPr>
              <a:t>📡</a:t>
            </a:r>
          </a:p>
        </p:txBody>
      </p:sp>
      <p:sp>
        <p:nvSpPr>
          <p:cNvPr id="8" name="TextBox 7"/>
          <p:cNvSpPr txBox="1"/>
          <p:nvPr/>
        </p:nvSpPr>
        <p:spPr>
          <a:xfrm>
            <a:off x="274320" y="2651760"/>
            <a:ext cx="3291840" cy="731520"/>
          </a:xfrm>
          <a:prstGeom prst="rect">
            <a:avLst/>
          </a:prstGeom>
          <a:noFill/>
        </p:spPr>
        <p:txBody>
          <a:bodyPr wrap="square">
            <a:spAutoFit/>
          </a:bodyPr>
          <a:lstStyle/>
          <a:p>
            <a:pPr algn="ctr"/>
            <a:r>
              <a:rPr sz="1400" b="1" i="0">
                <a:solidFill>
                  <a:srgbClr val="00D4FF"/>
                </a:solidFill>
              </a:rPr>
              <a:t>au Starlink対応
スマートフォン</a:t>
            </a:r>
          </a:p>
        </p:txBody>
      </p:sp>
      <p:sp>
        <p:nvSpPr>
          <p:cNvPr id="9" name="TextBox 8"/>
          <p:cNvSpPr txBox="1"/>
          <p:nvPr/>
        </p:nvSpPr>
        <p:spPr>
          <a:xfrm>
            <a:off x="274320" y="3429000"/>
            <a:ext cx="3291840" cy="640080"/>
          </a:xfrm>
          <a:prstGeom prst="rect">
            <a:avLst/>
          </a:prstGeom>
          <a:noFill/>
        </p:spPr>
        <p:txBody>
          <a:bodyPr wrap="square">
            <a:spAutoFit/>
          </a:bodyPr>
          <a:lstStyle/>
          <a:p>
            <a:pPr algn="ctr"/>
            <a:r>
              <a:rPr sz="1100" b="0" i="0">
                <a:solidFill>
                  <a:srgbClr val="A0C4E8"/>
                </a:solidFill>
              </a:rPr>
              <a:t>地上波4G/5G + 衛星通信を
1台で切り替え対応</a:t>
            </a:r>
          </a:p>
        </p:txBody>
      </p:sp>
      <p:sp>
        <p:nvSpPr>
          <p:cNvPr id="10" name="Rectangle 9"/>
          <p:cNvSpPr/>
          <p:nvPr/>
        </p:nvSpPr>
        <p:spPr>
          <a:xfrm>
            <a:off x="822960" y="4160520"/>
            <a:ext cx="2286000" cy="347472"/>
          </a:xfrm>
          <a:prstGeom prst="rect">
            <a:avLst/>
          </a:prstGeom>
          <a:solidFill>
            <a:srgbClr val="E945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4160520"/>
            <a:ext cx="2286000" cy="347472"/>
          </a:xfrm>
          <a:prstGeom prst="rect">
            <a:avLst/>
          </a:prstGeom>
          <a:noFill/>
        </p:spPr>
        <p:txBody>
          <a:bodyPr wrap="square">
            <a:spAutoFit/>
          </a:bodyPr>
          <a:lstStyle/>
          <a:p>
            <a:pPr algn="ctr"/>
            <a:r>
              <a:rPr sz="1100" b="1" i="0">
                <a:solidFill>
                  <a:srgbClr val="FFFFFF"/>
                </a:solidFill>
              </a:rPr>
              <a:t>au 法人向け推奨モデル</a:t>
            </a:r>
          </a:p>
        </p:txBody>
      </p:sp>
      <p:sp>
        <p:nvSpPr>
          <p:cNvPr id="12" name="Rectangle 11"/>
          <p:cNvSpPr/>
          <p:nvPr/>
        </p:nvSpPr>
        <p:spPr>
          <a:xfrm>
            <a:off x="411480" y="4617720"/>
            <a:ext cx="3017520" cy="1554480"/>
          </a:xfrm>
          <a:prstGeom prst="rect">
            <a:avLst/>
          </a:prstGeom>
          <a:solidFill>
            <a:srgbClr val="0A2845"/>
          </a:solidFill>
          <a:ln w="6350">
            <a:solidFill>
              <a:srgbClr val="306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4663440"/>
            <a:ext cx="2926080" cy="1463040"/>
          </a:xfrm>
          <a:prstGeom prst="rect">
            <a:avLst/>
          </a:prstGeom>
          <a:noFill/>
        </p:spPr>
        <p:txBody>
          <a:bodyPr wrap="square">
            <a:spAutoFit/>
          </a:bodyPr>
          <a:lstStyle/>
          <a:p>
            <a:pPr algn="ctr"/>
            <a:r>
              <a:rPr sz="1000" b="0" i="0">
                <a:solidFill>
                  <a:srgbClr val="A0C4E8"/>
                </a:solidFill>
              </a:rPr>
              <a:t>※ auが提供するStarlink
Direct to Cell対応端末
（機種は最新の法人向け
カタログをご参照ください）</a:t>
            </a:r>
          </a:p>
        </p:txBody>
      </p:sp>
      <p:sp>
        <p:nvSpPr>
          <p:cNvPr id="14" name="Rectangle 13"/>
          <p:cNvSpPr/>
          <p:nvPr/>
        </p:nvSpPr>
        <p:spPr>
          <a:xfrm>
            <a:off x="3749039" y="1051560"/>
            <a:ext cx="8229600"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94760" y="1143000"/>
            <a:ext cx="548640" cy="1097280"/>
          </a:xfrm>
          <a:prstGeom prst="rect">
            <a:avLst/>
          </a:prstGeom>
          <a:noFill/>
        </p:spPr>
        <p:txBody>
          <a:bodyPr wrap="square">
            <a:spAutoFit/>
          </a:bodyPr>
          <a:lstStyle/>
          <a:p>
            <a:pPr algn="ctr"/>
            <a:r>
              <a:rPr sz="2600" b="0" i="0">
                <a:solidFill>
                  <a:srgbClr val="FFFFFF"/>
                </a:solidFill>
              </a:rPr>
              <a:t>🛰️</a:t>
            </a:r>
          </a:p>
        </p:txBody>
      </p:sp>
      <p:sp>
        <p:nvSpPr>
          <p:cNvPr id="16" name="TextBox 15"/>
          <p:cNvSpPr txBox="1"/>
          <p:nvPr/>
        </p:nvSpPr>
        <p:spPr>
          <a:xfrm>
            <a:off x="4389120" y="1124712"/>
            <a:ext cx="7406640" cy="347472"/>
          </a:xfrm>
          <a:prstGeom prst="rect">
            <a:avLst/>
          </a:prstGeom>
          <a:noFill/>
        </p:spPr>
        <p:txBody>
          <a:bodyPr wrap="square">
            <a:spAutoFit/>
          </a:bodyPr>
          <a:lstStyle/>
          <a:p>
            <a:pPr algn="l"/>
            <a:r>
              <a:rPr sz="1300" b="1" i="0">
                <a:solidFill>
                  <a:srgbClr val="0F3460"/>
                </a:solidFill>
              </a:rPr>
              <a:t>Starlink Direct to Cell（衛星直接通信）</a:t>
            </a:r>
          </a:p>
        </p:txBody>
      </p:sp>
      <p:sp>
        <p:nvSpPr>
          <p:cNvPr id="17" name="TextBox 16"/>
          <p:cNvSpPr txBox="1"/>
          <p:nvPr/>
        </p:nvSpPr>
        <p:spPr>
          <a:xfrm>
            <a:off x="4389120" y="1463039"/>
            <a:ext cx="7406640" cy="640080"/>
          </a:xfrm>
          <a:prstGeom prst="rect">
            <a:avLst/>
          </a:prstGeom>
          <a:noFill/>
        </p:spPr>
        <p:txBody>
          <a:bodyPr wrap="square">
            <a:spAutoFit/>
          </a:bodyPr>
          <a:lstStyle/>
          <a:p>
            <a:pPr algn="l"/>
            <a:r>
              <a:rPr sz="1100" b="0" i="0">
                <a:solidFill>
                  <a:srgbClr val="444444"/>
                </a:solidFill>
              </a:rPr>
              <a:t>外付けアンテナ・専用機器なしで衛星と直接通信。既存の警備端末入れ替えだけで冗長回線を追加できます。</a:t>
            </a:r>
          </a:p>
        </p:txBody>
      </p:sp>
      <p:sp>
        <p:nvSpPr>
          <p:cNvPr id="18" name="Rectangle 17"/>
          <p:cNvSpPr/>
          <p:nvPr/>
        </p:nvSpPr>
        <p:spPr>
          <a:xfrm>
            <a:off x="4389120" y="2039112"/>
            <a:ext cx="1097280" cy="256032"/>
          </a:xfrm>
          <a:prstGeom prst="rect">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2039112"/>
            <a:ext cx="1005839" cy="256032"/>
          </a:xfrm>
          <a:prstGeom prst="rect">
            <a:avLst/>
          </a:prstGeom>
          <a:noFill/>
        </p:spPr>
        <p:txBody>
          <a:bodyPr wrap="square">
            <a:spAutoFit/>
          </a:bodyPr>
          <a:lstStyle/>
          <a:p>
            <a:pPr algn="l"/>
            <a:r>
              <a:rPr sz="1000" b="1" i="0">
                <a:solidFill>
                  <a:srgbClr val="0F3460"/>
                </a:solidFill>
              </a:rPr>
              <a:t>設備投資ゼロ</a:t>
            </a:r>
          </a:p>
        </p:txBody>
      </p:sp>
      <p:sp>
        <p:nvSpPr>
          <p:cNvPr id="20" name="Rectangle 19"/>
          <p:cNvSpPr/>
          <p:nvPr/>
        </p:nvSpPr>
        <p:spPr>
          <a:xfrm>
            <a:off x="5577840" y="2039112"/>
            <a:ext cx="822959" cy="256032"/>
          </a:xfrm>
          <a:prstGeom prst="rect">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23559" y="2039112"/>
            <a:ext cx="731520" cy="256032"/>
          </a:xfrm>
          <a:prstGeom prst="rect">
            <a:avLst/>
          </a:prstGeom>
          <a:noFill/>
        </p:spPr>
        <p:txBody>
          <a:bodyPr wrap="square">
            <a:spAutoFit/>
          </a:bodyPr>
          <a:lstStyle/>
          <a:p>
            <a:pPr algn="l"/>
            <a:r>
              <a:rPr sz="1000" b="1" i="0">
                <a:solidFill>
                  <a:srgbClr val="0F3460"/>
                </a:solidFill>
              </a:rPr>
              <a:t>工事不要</a:t>
            </a:r>
          </a:p>
        </p:txBody>
      </p:sp>
      <p:sp>
        <p:nvSpPr>
          <p:cNvPr id="22" name="Rectangle 21"/>
          <p:cNvSpPr/>
          <p:nvPr/>
        </p:nvSpPr>
        <p:spPr>
          <a:xfrm>
            <a:off x="3749039" y="2423160"/>
            <a:ext cx="8229600"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94760" y="2514600"/>
            <a:ext cx="548640" cy="1097280"/>
          </a:xfrm>
          <a:prstGeom prst="rect">
            <a:avLst/>
          </a:prstGeom>
          <a:noFill/>
        </p:spPr>
        <p:txBody>
          <a:bodyPr wrap="square">
            <a:spAutoFit/>
          </a:bodyPr>
          <a:lstStyle/>
          <a:p>
            <a:pPr algn="ctr"/>
            <a:r>
              <a:rPr sz="2600" b="0" i="0">
                <a:solidFill>
                  <a:srgbClr val="FFFFFF"/>
                </a:solidFill>
              </a:rPr>
              <a:t>🔋</a:t>
            </a:r>
          </a:p>
        </p:txBody>
      </p:sp>
      <p:sp>
        <p:nvSpPr>
          <p:cNvPr id="24" name="TextBox 23"/>
          <p:cNvSpPr txBox="1"/>
          <p:nvPr/>
        </p:nvSpPr>
        <p:spPr>
          <a:xfrm>
            <a:off x="4389120" y="2496312"/>
            <a:ext cx="7406640" cy="347472"/>
          </a:xfrm>
          <a:prstGeom prst="rect">
            <a:avLst/>
          </a:prstGeom>
          <a:noFill/>
        </p:spPr>
        <p:txBody>
          <a:bodyPr wrap="square">
            <a:spAutoFit/>
          </a:bodyPr>
          <a:lstStyle/>
          <a:p>
            <a:pPr algn="l"/>
            <a:r>
              <a:rPr sz="1300" b="1" i="0">
                <a:solidFill>
                  <a:srgbClr val="0F3460"/>
                </a:solidFill>
              </a:rPr>
              <a:t>長時間バッテリー ＆ UPS対応</a:t>
            </a:r>
          </a:p>
        </p:txBody>
      </p:sp>
      <p:sp>
        <p:nvSpPr>
          <p:cNvPr id="25" name="TextBox 24"/>
          <p:cNvSpPr txBox="1"/>
          <p:nvPr/>
        </p:nvSpPr>
        <p:spPr>
          <a:xfrm>
            <a:off x="4389120" y="2834640"/>
            <a:ext cx="7406640" cy="640080"/>
          </a:xfrm>
          <a:prstGeom prst="rect">
            <a:avLst/>
          </a:prstGeom>
          <a:noFill/>
        </p:spPr>
        <p:txBody>
          <a:bodyPr wrap="square">
            <a:spAutoFit/>
          </a:bodyPr>
          <a:lstStyle/>
          <a:p>
            <a:pPr algn="l"/>
            <a:r>
              <a:rPr sz="1100" b="0" i="0">
                <a:solidFill>
                  <a:srgbClr val="444444"/>
                </a:solidFill>
              </a:rPr>
              <a:t>連続通話24時間以上対応モデル。データセンター内の非常用電源（UPS）からの充電にも対応し停電時も継続稼働。</a:t>
            </a:r>
          </a:p>
        </p:txBody>
      </p:sp>
      <p:sp>
        <p:nvSpPr>
          <p:cNvPr id="26" name="Rectangle 25"/>
          <p:cNvSpPr/>
          <p:nvPr/>
        </p:nvSpPr>
        <p:spPr>
          <a:xfrm>
            <a:off x="4389120" y="3410712"/>
            <a:ext cx="822959" cy="256032"/>
          </a:xfrm>
          <a:prstGeom prst="rect">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34840" y="3410712"/>
            <a:ext cx="731520" cy="256032"/>
          </a:xfrm>
          <a:prstGeom prst="rect">
            <a:avLst/>
          </a:prstGeom>
          <a:noFill/>
        </p:spPr>
        <p:txBody>
          <a:bodyPr wrap="square">
            <a:spAutoFit/>
          </a:bodyPr>
          <a:lstStyle/>
          <a:p>
            <a:pPr algn="l"/>
            <a:r>
              <a:rPr sz="1000" b="1" i="0">
                <a:solidFill>
                  <a:srgbClr val="0F3460"/>
                </a:solidFill>
              </a:rPr>
              <a:t>停電対応</a:t>
            </a:r>
          </a:p>
        </p:txBody>
      </p:sp>
      <p:sp>
        <p:nvSpPr>
          <p:cNvPr id="28" name="Rectangle 27"/>
          <p:cNvSpPr/>
          <p:nvPr/>
        </p:nvSpPr>
        <p:spPr>
          <a:xfrm>
            <a:off x="5303520" y="3410712"/>
            <a:ext cx="1371600" cy="256032"/>
          </a:xfrm>
          <a:prstGeom prst="rect">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49240" y="3410712"/>
            <a:ext cx="1280160" cy="256032"/>
          </a:xfrm>
          <a:prstGeom prst="rect">
            <a:avLst/>
          </a:prstGeom>
          <a:noFill/>
        </p:spPr>
        <p:txBody>
          <a:bodyPr wrap="square">
            <a:spAutoFit/>
          </a:bodyPr>
          <a:lstStyle/>
          <a:p>
            <a:pPr algn="l"/>
            <a:r>
              <a:rPr sz="1000" b="1" i="0">
                <a:solidFill>
                  <a:srgbClr val="0F3460"/>
                </a:solidFill>
              </a:rPr>
              <a:t>72時間稼働可能</a:t>
            </a:r>
          </a:p>
        </p:txBody>
      </p:sp>
      <p:sp>
        <p:nvSpPr>
          <p:cNvPr id="30" name="Rectangle 29"/>
          <p:cNvSpPr/>
          <p:nvPr/>
        </p:nvSpPr>
        <p:spPr>
          <a:xfrm>
            <a:off x="3749039" y="3794760"/>
            <a:ext cx="8229600"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794760" y="3886200"/>
            <a:ext cx="548640" cy="1097280"/>
          </a:xfrm>
          <a:prstGeom prst="rect">
            <a:avLst/>
          </a:prstGeom>
          <a:noFill/>
        </p:spPr>
        <p:txBody>
          <a:bodyPr wrap="square">
            <a:spAutoFit/>
          </a:bodyPr>
          <a:lstStyle/>
          <a:p>
            <a:pPr algn="ctr"/>
            <a:r>
              <a:rPr sz="2600" b="0" i="0">
                <a:solidFill>
                  <a:srgbClr val="FFFFFF"/>
                </a:solidFill>
              </a:rPr>
              <a:t>🔒</a:t>
            </a:r>
          </a:p>
        </p:txBody>
      </p:sp>
      <p:sp>
        <p:nvSpPr>
          <p:cNvPr id="32" name="TextBox 31"/>
          <p:cNvSpPr txBox="1"/>
          <p:nvPr/>
        </p:nvSpPr>
        <p:spPr>
          <a:xfrm>
            <a:off x="4389120" y="3867912"/>
            <a:ext cx="7406640" cy="347472"/>
          </a:xfrm>
          <a:prstGeom prst="rect">
            <a:avLst/>
          </a:prstGeom>
          <a:noFill/>
        </p:spPr>
        <p:txBody>
          <a:bodyPr wrap="square">
            <a:spAutoFit/>
          </a:bodyPr>
          <a:lstStyle/>
          <a:p>
            <a:pPr algn="l"/>
            <a:r>
              <a:rPr sz="1300" b="1" i="0">
                <a:solidFill>
                  <a:srgbClr val="0F3460"/>
                </a:solidFill>
              </a:rPr>
              <a:t>法人向けセキュリティ機能</a:t>
            </a:r>
          </a:p>
        </p:txBody>
      </p:sp>
      <p:sp>
        <p:nvSpPr>
          <p:cNvPr id="33" name="TextBox 32"/>
          <p:cNvSpPr txBox="1"/>
          <p:nvPr/>
        </p:nvSpPr>
        <p:spPr>
          <a:xfrm>
            <a:off x="4389120" y="4206240"/>
            <a:ext cx="7406640" cy="640080"/>
          </a:xfrm>
          <a:prstGeom prst="rect">
            <a:avLst/>
          </a:prstGeom>
          <a:noFill/>
        </p:spPr>
        <p:txBody>
          <a:bodyPr wrap="square">
            <a:spAutoFit/>
          </a:bodyPr>
          <a:lstStyle/>
          <a:p>
            <a:pPr algn="l"/>
            <a:r>
              <a:rPr sz="1100" b="0" i="0">
                <a:solidFill>
                  <a:srgbClr val="444444"/>
                </a:solidFill>
              </a:rPr>
              <a:t>通話の暗号化・デバイス紛失時のリモートロック・MDM対応。データセンターのセキュリティポリシーへの準拠が容易。</a:t>
            </a:r>
          </a:p>
        </p:txBody>
      </p:sp>
      <p:sp>
        <p:nvSpPr>
          <p:cNvPr id="34" name="Rectangle 33"/>
          <p:cNvSpPr/>
          <p:nvPr/>
        </p:nvSpPr>
        <p:spPr>
          <a:xfrm>
            <a:off x="4389120" y="4782312"/>
            <a:ext cx="960120" cy="256032"/>
          </a:xfrm>
          <a:prstGeom prst="rect">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34840" y="4782312"/>
            <a:ext cx="868680" cy="256032"/>
          </a:xfrm>
          <a:prstGeom prst="rect">
            <a:avLst/>
          </a:prstGeom>
          <a:noFill/>
        </p:spPr>
        <p:txBody>
          <a:bodyPr wrap="square">
            <a:spAutoFit/>
          </a:bodyPr>
          <a:lstStyle/>
          <a:p>
            <a:pPr algn="l"/>
            <a:r>
              <a:rPr sz="1000" b="1" i="0">
                <a:solidFill>
                  <a:srgbClr val="0F3460"/>
                </a:solidFill>
              </a:rPr>
              <a:t>MDM対応</a:t>
            </a:r>
          </a:p>
        </p:txBody>
      </p:sp>
      <p:sp>
        <p:nvSpPr>
          <p:cNvPr id="36" name="Rectangle 35"/>
          <p:cNvSpPr/>
          <p:nvPr/>
        </p:nvSpPr>
        <p:spPr>
          <a:xfrm>
            <a:off x="5440679" y="4782312"/>
            <a:ext cx="960120" cy="256032"/>
          </a:xfrm>
          <a:prstGeom prst="rect">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399" y="4782312"/>
            <a:ext cx="868680" cy="256032"/>
          </a:xfrm>
          <a:prstGeom prst="rect">
            <a:avLst/>
          </a:prstGeom>
          <a:noFill/>
        </p:spPr>
        <p:txBody>
          <a:bodyPr wrap="square">
            <a:spAutoFit/>
          </a:bodyPr>
          <a:lstStyle/>
          <a:p>
            <a:pPr algn="l"/>
            <a:r>
              <a:rPr sz="1000" b="1" i="0">
                <a:solidFill>
                  <a:srgbClr val="0F3460"/>
                </a:solidFill>
              </a:rPr>
              <a:t>通話暗号化</a:t>
            </a:r>
          </a:p>
        </p:txBody>
      </p:sp>
      <p:sp>
        <p:nvSpPr>
          <p:cNvPr id="38" name="Rectangle 37"/>
          <p:cNvSpPr/>
          <p:nvPr/>
        </p:nvSpPr>
        <p:spPr>
          <a:xfrm>
            <a:off x="3749039" y="5166360"/>
            <a:ext cx="8229600"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794760" y="5257800"/>
            <a:ext cx="548640" cy="1097280"/>
          </a:xfrm>
          <a:prstGeom prst="rect">
            <a:avLst/>
          </a:prstGeom>
          <a:noFill/>
        </p:spPr>
        <p:txBody>
          <a:bodyPr wrap="square">
            <a:spAutoFit/>
          </a:bodyPr>
          <a:lstStyle/>
          <a:p>
            <a:pPr algn="ctr"/>
            <a:r>
              <a:rPr sz="2600" b="0" i="0">
                <a:solidFill>
                  <a:srgbClr val="FFFFFF"/>
                </a:solidFill>
              </a:rPr>
              <a:t>📹</a:t>
            </a:r>
          </a:p>
        </p:txBody>
      </p:sp>
      <p:sp>
        <p:nvSpPr>
          <p:cNvPr id="40" name="TextBox 39"/>
          <p:cNvSpPr txBox="1"/>
          <p:nvPr/>
        </p:nvSpPr>
        <p:spPr>
          <a:xfrm>
            <a:off x="4389120" y="5239512"/>
            <a:ext cx="7406640" cy="347472"/>
          </a:xfrm>
          <a:prstGeom prst="rect">
            <a:avLst/>
          </a:prstGeom>
          <a:noFill/>
        </p:spPr>
        <p:txBody>
          <a:bodyPr wrap="square">
            <a:spAutoFit/>
          </a:bodyPr>
          <a:lstStyle/>
          <a:p>
            <a:pPr algn="l"/>
            <a:r>
              <a:rPr sz="1300" b="1" i="0">
                <a:solidFill>
                  <a:srgbClr val="0F3460"/>
                </a:solidFill>
              </a:rPr>
              <a:t>映像・データ送信対応</a:t>
            </a:r>
          </a:p>
        </p:txBody>
      </p:sp>
      <p:sp>
        <p:nvSpPr>
          <p:cNvPr id="41" name="TextBox 40"/>
          <p:cNvSpPr txBox="1"/>
          <p:nvPr/>
        </p:nvSpPr>
        <p:spPr>
          <a:xfrm>
            <a:off x="4389120" y="5577840"/>
            <a:ext cx="7406640" cy="640080"/>
          </a:xfrm>
          <a:prstGeom prst="rect">
            <a:avLst/>
          </a:prstGeom>
          <a:noFill/>
        </p:spPr>
        <p:txBody>
          <a:bodyPr wrap="square">
            <a:spAutoFit/>
          </a:bodyPr>
          <a:lstStyle/>
          <a:p>
            <a:pPr algn="l"/>
            <a:r>
              <a:rPr sz="1100" b="0" i="0">
                <a:solidFill>
                  <a:srgbClr val="444444"/>
                </a:solidFill>
              </a:rPr>
              <a:t>衛星回線経由でも高画質映像（720p以上）のリアルタイム送信が可能。現場の状況を本部へ即時共有できます。</a:t>
            </a:r>
          </a:p>
        </p:txBody>
      </p:sp>
      <p:sp>
        <p:nvSpPr>
          <p:cNvPr id="42" name="Rectangle 41"/>
          <p:cNvSpPr/>
          <p:nvPr/>
        </p:nvSpPr>
        <p:spPr>
          <a:xfrm>
            <a:off x="4389120" y="6153912"/>
            <a:ext cx="1097280" cy="256032"/>
          </a:xfrm>
          <a:prstGeom prst="rect">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34840" y="6153912"/>
            <a:ext cx="1005839" cy="256032"/>
          </a:xfrm>
          <a:prstGeom prst="rect">
            <a:avLst/>
          </a:prstGeom>
          <a:noFill/>
        </p:spPr>
        <p:txBody>
          <a:bodyPr wrap="square">
            <a:spAutoFit/>
          </a:bodyPr>
          <a:lstStyle/>
          <a:p>
            <a:pPr algn="l"/>
            <a:r>
              <a:rPr sz="1000" b="1" i="0">
                <a:solidFill>
                  <a:srgbClr val="0F3460"/>
                </a:solidFill>
              </a:rPr>
              <a:t>映像監視対応</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14400"/>
          </a:xfrm>
          <a:prstGeom prst="rect">
            <a:avLst/>
          </a:prstGeom>
          <a:solidFill>
            <a:srgbClr val="0F3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37160"/>
            <a:ext cx="10515600" cy="640080"/>
          </a:xfrm>
          <a:prstGeom prst="rect">
            <a:avLst/>
          </a:prstGeom>
          <a:noFill/>
        </p:spPr>
        <p:txBody>
          <a:bodyPr wrap="square">
            <a:spAutoFit/>
          </a:bodyPr>
          <a:lstStyle/>
          <a:p>
            <a:pPr algn="l"/>
            <a:r>
              <a:rPr sz="2200" b="1" i="0">
                <a:solidFill>
                  <a:srgbClr val="FFFFFF"/>
                </a:solidFill>
              </a:rPr>
              <a:t>05 ｜ 導入効果 ── 定量的な改善指標</a:t>
            </a:r>
          </a:p>
        </p:txBody>
      </p:sp>
      <p:sp>
        <p:nvSpPr>
          <p:cNvPr id="5" name="Oval 4"/>
          <p:cNvSpPr/>
          <p:nvPr/>
        </p:nvSpPr>
        <p:spPr>
          <a:xfrm>
            <a:off x="11521440" y="182880"/>
            <a:ext cx="502920" cy="502920"/>
          </a:xfrm>
          <a:prstGeom prst="ellipse">
            <a:avLst/>
          </a:prstGeom>
          <a:solidFill>
            <a:srgbClr val="E945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rPr>
              <a:t>6</a:t>
            </a:r>
          </a:p>
        </p:txBody>
      </p:sp>
      <p:sp>
        <p:nvSpPr>
          <p:cNvPr id="6" name="Rectangle 5"/>
          <p:cNvSpPr/>
          <p:nvPr/>
        </p:nvSpPr>
        <p:spPr>
          <a:xfrm>
            <a:off x="274320" y="1005840"/>
            <a:ext cx="3730752" cy="1920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2889504"/>
            <a:ext cx="3730752" cy="54864"/>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051560"/>
            <a:ext cx="3730752" cy="1005840"/>
          </a:xfrm>
          <a:prstGeom prst="rect">
            <a:avLst/>
          </a:prstGeom>
          <a:noFill/>
        </p:spPr>
        <p:txBody>
          <a:bodyPr wrap="square">
            <a:spAutoFit/>
          </a:bodyPr>
          <a:lstStyle/>
          <a:p>
            <a:pPr algn="ctr"/>
            <a:r>
              <a:rPr sz="4400" b="1" i="0">
                <a:solidFill>
                  <a:srgbClr val="0F3460"/>
                </a:solidFill>
              </a:rPr>
              <a:t>99.9%</a:t>
            </a:r>
          </a:p>
        </p:txBody>
      </p:sp>
      <p:sp>
        <p:nvSpPr>
          <p:cNvPr id="9" name="TextBox 8"/>
          <p:cNvSpPr txBox="1"/>
          <p:nvPr/>
        </p:nvSpPr>
        <p:spPr>
          <a:xfrm>
            <a:off x="274320" y="2103120"/>
            <a:ext cx="3730752" cy="365760"/>
          </a:xfrm>
          <a:prstGeom prst="rect">
            <a:avLst/>
          </a:prstGeom>
          <a:noFill/>
        </p:spPr>
        <p:txBody>
          <a:bodyPr wrap="square">
            <a:spAutoFit/>
          </a:bodyPr>
          <a:lstStyle/>
          <a:p>
            <a:pPr algn="ctr"/>
            <a:r>
              <a:rPr sz="1300" b="1" i="0">
                <a:solidFill>
                  <a:srgbClr val="444444"/>
                </a:solidFill>
              </a:rPr>
              <a:t>通信可用性（目標値）</a:t>
            </a:r>
          </a:p>
        </p:txBody>
      </p:sp>
      <p:sp>
        <p:nvSpPr>
          <p:cNvPr id="10" name="TextBox 9"/>
          <p:cNvSpPr txBox="1"/>
          <p:nvPr/>
        </p:nvSpPr>
        <p:spPr>
          <a:xfrm>
            <a:off x="365760" y="2487168"/>
            <a:ext cx="3547872" cy="548640"/>
          </a:xfrm>
          <a:prstGeom prst="rect">
            <a:avLst/>
          </a:prstGeom>
          <a:noFill/>
        </p:spPr>
        <p:txBody>
          <a:bodyPr wrap="square">
            <a:spAutoFit/>
          </a:bodyPr>
          <a:lstStyle/>
          <a:p>
            <a:pPr algn="ctr"/>
            <a:r>
              <a:rPr sz="1100" b="0" i="0">
                <a:solidFill>
                  <a:srgbClr val="666666"/>
                </a:solidFill>
              </a:rPr>
              <a:t>3系統冗長化により
年間ダウンタイムを8.7時間以下に抑制</a:t>
            </a:r>
          </a:p>
        </p:txBody>
      </p:sp>
      <p:sp>
        <p:nvSpPr>
          <p:cNvPr id="11" name="Rectangle 10"/>
          <p:cNvSpPr/>
          <p:nvPr/>
        </p:nvSpPr>
        <p:spPr>
          <a:xfrm>
            <a:off x="4279392" y="1005840"/>
            <a:ext cx="3730752" cy="1920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79392" y="2889504"/>
            <a:ext cx="3730752" cy="54864"/>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79392" y="1051560"/>
            <a:ext cx="3730752" cy="1005840"/>
          </a:xfrm>
          <a:prstGeom prst="rect">
            <a:avLst/>
          </a:prstGeom>
          <a:noFill/>
        </p:spPr>
        <p:txBody>
          <a:bodyPr wrap="square">
            <a:spAutoFit/>
          </a:bodyPr>
          <a:lstStyle/>
          <a:p>
            <a:pPr algn="ctr"/>
            <a:r>
              <a:rPr sz="4400" b="1" i="0">
                <a:solidFill>
                  <a:srgbClr val="0F3460"/>
                </a:solidFill>
              </a:rPr>
              <a:t>0秒</a:t>
            </a:r>
          </a:p>
        </p:txBody>
      </p:sp>
      <p:sp>
        <p:nvSpPr>
          <p:cNvPr id="14" name="TextBox 13"/>
          <p:cNvSpPr txBox="1"/>
          <p:nvPr/>
        </p:nvSpPr>
        <p:spPr>
          <a:xfrm>
            <a:off x="4279392" y="2103120"/>
            <a:ext cx="3730752" cy="365760"/>
          </a:xfrm>
          <a:prstGeom prst="rect">
            <a:avLst/>
          </a:prstGeom>
          <a:noFill/>
        </p:spPr>
        <p:txBody>
          <a:bodyPr wrap="square">
            <a:spAutoFit/>
          </a:bodyPr>
          <a:lstStyle/>
          <a:p>
            <a:pPr algn="ctr"/>
            <a:r>
              <a:rPr sz="1300" b="1" i="0">
                <a:solidFill>
                  <a:srgbClr val="444444"/>
                </a:solidFill>
              </a:rPr>
              <a:t>手動切替操作</a:t>
            </a:r>
          </a:p>
        </p:txBody>
      </p:sp>
      <p:sp>
        <p:nvSpPr>
          <p:cNvPr id="15" name="TextBox 14"/>
          <p:cNvSpPr txBox="1"/>
          <p:nvPr/>
        </p:nvSpPr>
        <p:spPr>
          <a:xfrm>
            <a:off x="4370831" y="2487168"/>
            <a:ext cx="3547872" cy="548640"/>
          </a:xfrm>
          <a:prstGeom prst="rect">
            <a:avLst/>
          </a:prstGeom>
          <a:noFill/>
        </p:spPr>
        <p:txBody>
          <a:bodyPr wrap="square">
            <a:spAutoFit/>
          </a:bodyPr>
          <a:lstStyle/>
          <a:p>
            <a:pPr algn="ctr"/>
            <a:r>
              <a:rPr sz="1100" b="0" i="0">
                <a:solidFill>
                  <a:srgbClr val="666666"/>
                </a:solidFill>
              </a:rPr>
              <a:t>自動フェイルオーバーにより
警備員の操作なしで回線切替完了</a:t>
            </a:r>
          </a:p>
        </p:txBody>
      </p:sp>
      <p:sp>
        <p:nvSpPr>
          <p:cNvPr id="16" name="Rectangle 15"/>
          <p:cNvSpPr/>
          <p:nvPr/>
        </p:nvSpPr>
        <p:spPr>
          <a:xfrm>
            <a:off x="8284464" y="1005840"/>
            <a:ext cx="3730752" cy="1920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84464" y="2889504"/>
            <a:ext cx="3730752" cy="54864"/>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84464" y="1051560"/>
            <a:ext cx="3730752" cy="1005840"/>
          </a:xfrm>
          <a:prstGeom prst="rect">
            <a:avLst/>
          </a:prstGeom>
          <a:noFill/>
        </p:spPr>
        <p:txBody>
          <a:bodyPr wrap="square">
            <a:spAutoFit/>
          </a:bodyPr>
          <a:lstStyle/>
          <a:p>
            <a:pPr algn="ctr"/>
            <a:r>
              <a:rPr sz="4400" b="1" i="0">
                <a:solidFill>
                  <a:srgbClr val="0F3460"/>
                </a:solidFill>
              </a:rPr>
              <a:t>72h</a:t>
            </a:r>
          </a:p>
        </p:txBody>
      </p:sp>
      <p:sp>
        <p:nvSpPr>
          <p:cNvPr id="19" name="TextBox 18"/>
          <p:cNvSpPr txBox="1"/>
          <p:nvPr/>
        </p:nvSpPr>
        <p:spPr>
          <a:xfrm>
            <a:off x="8284464" y="2103120"/>
            <a:ext cx="3730752" cy="365760"/>
          </a:xfrm>
          <a:prstGeom prst="rect">
            <a:avLst/>
          </a:prstGeom>
          <a:noFill/>
        </p:spPr>
        <p:txBody>
          <a:bodyPr wrap="square">
            <a:spAutoFit/>
          </a:bodyPr>
          <a:lstStyle/>
          <a:p>
            <a:pPr algn="ctr"/>
            <a:r>
              <a:rPr sz="1300" b="1" i="0">
                <a:solidFill>
                  <a:srgbClr val="444444"/>
                </a:solidFill>
              </a:rPr>
              <a:t>連続稼働時間</a:t>
            </a:r>
          </a:p>
        </p:txBody>
      </p:sp>
      <p:sp>
        <p:nvSpPr>
          <p:cNvPr id="20" name="TextBox 19"/>
          <p:cNvSpPr txBox="1"/>
          <p:nvPr/>
        </p:nvSpPr>
        <p:spPr>
          <a:xfrm>
            <a:off x="8375904" y="2487168"/>
            <a:ext cx="3547872" cy="548640"/>
          </a:xfrm>
          <a:prstGeom prst="rect">
            <a:avLst/>
          </a:prstGeom>
          <a:noFill/>
        </p:spPr>
        <p:txBody>
          <a:bodyPr wrap="square">
            <a:spAutoFit/>
          </a:bodyPr>
          <a:lstStyle/>
          <a:p>
            <a:pPr algn="ctr"/>
            <a:r>
              <a:rPr sz="1100" b="0" i="0">
                <a:solidFill>
                  <a:srgbClr val="666666"/>
                </a:solidFill>
              </a:rPr>
              <a:t>UPS＋モバイルバッテリー併用で
72時間以上の通信維持を実現</a:t>
            </a:r>
          </a:p>
        </p:txBody>
      </p:sp>
      <p:sp>
        <p:nvSpPr>
          <p:cNvPr id="21" name="Rectangle 20"/>
          <p:cNvSpPr/>
          <p:nvPr/>
        </p:nvSpPr>
        <p:spPr>
          <a:xfrm>
            <a:off x="274320" y="3063240"/>
            <a:ext cx="4114800" cy="411480"/>
          </a:xfrm>
          <a:prstGeom prst="rect">
            <a:avLst/>
          </a:prstGeom>
          <a:solidFill>
            <a:srgbClr val="0F3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0040" y="3081528"/>
            <a:ext cx="4023360" cy="365760"/>
          </a:xfrm>
          <a:prstGeom prst="rect">
            <a:avLst/>
          </a:prstGeom>
          <a:noFill/>
        </p:spPr>
        <p:txBody>
          <a:bodyPr wrap="square">
            <a:spAutoFit/>
          </a:bodyPr>
          <a:lstStyle/>
          <a:p>
            <a:pPr algn="ctr"/>
            <a:r>
              <a:rPr sz="1200" b="1" i="0">
                <a:solidFill>
                  <a:srgbClr val="FFFFFF"/>
                </a:solidFill>
              </a:rPr>
              <a:t>比較項目</a:t>
            </a:r>
          </a:p>
        </p:txBody>
      </p:sp>
      <p:sp>
        <p:nvSpPr>
          <p:cNvPr id="23" name="Rectangle 22"/>
          <p:cNvSpPr/>
          <p:nvPr/>
        </p:nvSpPr>
        <p:spPr>
          <a:xfrm>
            <a:off x="4416552" y="3063240"/>
            <a:ext cx="3474720" cy="411480"/>
          </a:xfrm>
          <a:prstGeom prst="rect">
            <a:avLst/>
          </a:prstGeom>
          <a:solidFill>
            <a:srgbClr val="0F3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62272" y="3081528"/>
            <a:ext cx="3383279" cy="365760"/>
          </a:xfrm>
          <a:prstGeom prst="rect">
            <a:avLst/>
          </a:prstGeom>
          <a:noFill/>
        </p:spPr>
        <p:txBody>
          <a:bodyPr wrap="square">
            <a:spAutoFit/>
          </a:bodyPr>
          <a:lstStyle/>
          <a:p>
            <a:pPr algn="ctr"/>
            <a:r>
              <a:rPr sz="1200" b="1" i="0">
                <a:solidFill>
                  <a:srgbClr val="FFFFFF"/>
                </a:solidFill>
              </a:rPr>
              <a:t>現状（単一回線）</a:t>
            </a:r>
          </a:p>
        </p:txBody>
      </p:sp>
      <p:sp>
        <p:nvSpPr>
          <p:cNvPr id="25" name="Rectangle 24"/>
          <p:cNvSpPr/>
          <p:nvPr/>
        </p:nvSpPr>
        <p:spPr>
          <a:xfrm>
            <a:off x="7918704" y="3063240"/>
            <a:ext cx="3474720" cy="411480"/>
          </a:xfrm>
          <a:prstGeom prst="rect">
            <a:avLst/>
          </a:prstGeom>
          <a:solidFill>
            <a:srgbClr val="0F3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964424" y="3081528"/>
            <a:ext cx="3383279" cy="365760"/>
          </a:xfrm>
          <a:prstGeom prst="rect">
            <a:avLst/>
          </a:prstGeom>
          <a:noFill/>
        </p:spPr>
        <p:txBody>
          <a:bodyPr wrap="square">
            <a:spAutoFit/>
          </a:bodyPr>
          <a:lstStyle/>
          <a:p>
            <a:pPr algn="ctr"/>
            <a:r>
              <a:rPr sz="1200" b="1" i="0">
                <a:solidFill>
                  <a:srgbClr val="FFFFFF"/>
                </a:solidFill>
              </a:rPr>
              <a:t>導入後（3系統冗長）</a:t>
            </a:r>
          </a:p>
        </p:txBody>
      </p:sp>
      <p:sp>
        <p:nvSpPr>
          <p:cNvPr id="27" name="Rectangle 26"/>
          <p:cNvSpPr/>
          <p:nvPr/>
        </p:nvSpPr>
        <p:spPr>
          <a:xfrm>
            <a:off x="274320" y="3474720"/>
            <a:ext cx="4114800" cy="457200"/>
          </a:xfrm>
          <a:prstGeom prst="rect">
            <a:avLst/>
          </a:prstGeom>
          <a:solidFill>
            <a:srgbClr val="F0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3529584"/>
            <a:ext cx="3977639" cy="365760"/>
          </a:xfrm>
          <a:prstGeom prst="rect">
            <a:avLst/>
          </a:prstGeom>
          <a:noFill/>
        </p:spPr>
        <p:txBody>
          <a:bodyPr wrap="square">
            <a:spAutoFit/>
          </a:bodyPr>
          <a:lstStyle/>
          <a:p>
            <a:pPr algn="l"/>
            <a:r>
              <a:rPr sz="1100" b="1" i="0">
                <a:solidFill>
                  <a:srgbClr val="0F3460"/>
                </a:solidFill>
              </a:rPr>
              <a:t>大規模災害時の通信維持</a:t>
            </a:r>
          </a:p>
        </p:txBody>
      </p:sp>
      <p:sp>
        <p:nvSpPr>
          <p:cNvPr id="29" name="Rectangle 28"/>
          <p:cNvSpPr/>
          <p:nvPr/>
        </p:nvSpPr>
        <p:spPr>
          <a:xfrm>
            <a:off x="4416552" y="3474720"/>
            <a:ext cx="3474720" cy="457200"/>
          </a:xfrm>
          <a:prstGeom prst="rect">
            <a:avLst/>
          </a:prstGeom>
          <a:solidFill>
            <a:srgbClr val="F0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07992" y="3529584"/>
            <a:ext cx="3337560" cy="365760"/>
          </a:xfrm>
          <a:prstGeom prst="rect">
            <a:avLst/>
          </a:prstGeom>
          <a:noFill/>
        </p:spPr>
        <p:txBody>
          <a:bodyPr wrap="square">
            <a:spAutoFit/>
          </a:bodyPr>
          <a:lstStyle/>
          <a:p>
            <a:pPr algn="ctr"/>
            <a:r>
              <a:rPr sz="1100" b="0" i="0">
                <a:solidFill>
                  <a:srgbClr val="E94560"/>
                </a:solidFill>
              </a:rPr>
              <a:t>❌  途絶リスク大</a:t>
            </a:r>
          </a:p>
        </p:txBody>
      </p:sp>
      <p:sp>
        <p:nvSpPr>
          <p:cNvPr id="31" name="Rectangle 30"/>
          <p:cNvSpPr/>
          <p:nvPr/>
        </p:nvSpPr>
        <p:spPr>
          <a:xfrm>
            <a:off x="7918704" y="3474720"/>
            <a:ext cx="3474720" cy="457200"/>
          </a:xfrm>
          <a:prstGeom prst="rect">
            <a:avLst/>
          </a:prstGeom>
          <a:solidFill>
            <a:srgbClr val="F0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10144" y="3529584"/>
            <a:ext cx="3337560" cy="365760"/>
          </a:xfrm>
          <a:prstGeom prst="rect">
            <a:avLst/>
          </a:prstGeom>
          <a:noFill/>
        </p:spPr>
        <p:txBody>
          <a:bodyPr wrap="square">
            <a:spAutoFit/>
          </a:bodyPr>
          <a:lstStyle/>
          <a:p>
            <a:pPr algn="ctr"/>
            <a:r>
              <a:rPr sz="1100" b="0" i="0">
                <a:solidFill>
                  <a:srgbClr val="27AE60"/>
                </a:solidFill>
              </a:rPr>
              <a:t>✅  衛星回線で継続</a:t>
            </a:r>
          </a:p>
        </p:txBody>
      </p:sp>
      <p:sp>
        <p:nvSpPr>
          <p:cNvPr id="33" name="Rectangle 32"/>
          <p:cNvSpPr/>
          <p:nvPr/>
        </p:nvSpPr>
        <p:spPr>
          <a:xfrm>
            <a:off x="274320" y="3950208"/>
            <a:ext cx="41148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5760" y="4005072"/>
            <a:ext cx="3977639" cy="365760"/>
          </a:xfrm>
          <a:prstGeom prst="rect">
            <a:avLst/>
          </a:prstGeom>
          <a:noFill/>
        </p:spPr>
        <p:txBody>
          <a:bodyPr wrap="square">
            <a:spAutoFit/>
          </a:bodyPr>
          <a:lstStyle/>
          <a:p>
            <a:pPr algn="l"/>
            <a:r>
              <a:rPr sz="1100" b="1" i="0">
                <a:solidFill>
                  <a:srgbClr val="0F3460"/>
                </a:solidFill>
              </a:rPr>
              <a:t>基地局ダウン時の対応</a:t>
            </a:r>
          </a:p>
        </p:txBody>
      </p:sp>
      <p:sp>
        <p:nvSpPr>
          <p:cNvPr id="35" name="Rectangle 34"/>
          <p:cNvSpPr/>
          <p:nvPr/>
        </p:nvSpPr>
        <p:spPr>
          <a:xfrm>
            <a:off x="4416552" y="3950208"/>
            <a:ext cx="347472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07992" y="4005072"/>
            <a:ext cx="3337560" cy="365760"/>
          </a:xfrm>
          <a:prstGeom prst="rect">
            <a:avLst/>
          </a:prstGeom>
          <a:noFill/>
        </p:spPr>
        <p:txBody>
          <a:bodyPr wrap="square">
            <a:spAutoFit/>
          </a:bodyPr>
          <a:lstStyle/>
          <a:p>
            <a:pPr algn="ctr"/>
            <a:r>
              <a:rPr sz="1100" b="0" i="0">
                <a:solidFill>
                  <a:srgbClr val="E94560"/>
                </a:solidFill>
              </a:rPr>
              <a:t>❌  完全に通信不能</a:t>
            </a:r>
          </a:p>
        </p:txBody>
      </p:sp>
      <p:sp>
        <p:nvSpPr>
          <p:cNvPr id="37" name="Rectangle 36"/>
          <p:cNvSpPr/>
          <p:nvPr/>
        </p:nvSpPr>
        <p:spPr>
          <a:xfrm>
            <a:off x="7918704" y="3950208"/>
            <a:ext cx="347472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10144" y="4005072"/>
            <a:ext cx="3337560" cy="365760"/>
          </a:xfrm>
          <a:prstGeom prst="rect">
            <a:avLst/>
          </a:prstGeom>
          <a:noFill/>
        </p:spPr>
        <p:txBody>
          <a:bodyPr wrap="square">
            <a:spAutoFit/>
          </a:bodyPr>
          <a:lstStyle/>
          <a:p>
            <a:pPr algn="ctr"/>
            <a:r>
              <a:rPr sz="1100" b="0" i="0">
                <a:solidFill>
                  <a:srgbClr val="27AE60"/>
                </a:solidFill>
              </a:rPr>
              <a:t>✅  自動でStarlink切替</a:t>
            </a:r>
          </a:p>
        </p:txBody>
      </p:sp>
      <p:sp>
        <p:nvSpPr>
          <p:cNvPr id="39" name="Rectangle 38"/>
          <p:cNvSpPr/>
          <p:nvPr/>
        </p:nvSpPr>
        <p:spPr>
          <a:xfrm>
            <a:off x="274320" y="4425696"/>
            <a:ext cx="4114800" cy="457200"/>
          </a:xfrm>
          <a:prstGeom prst="rect">
            <a:avLst/>
          </a:prstGeom>
          <a:solidFill>
            <a:srgbClr val="F0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5760" y="4480559"/>
            <a:ext cx="3977639" cy="365760"/>
          </a:xfrm>
          <a:prstGeom prst="rect">
            <a:avLst/>
          </a:prstGeom>
          <a:noFill/>
        </p:spPr>
        <p:txBody>
          <a:bodyPr wrap="square">
            <a:spAutoFit/>
          </a:bodyPr>
          <a:lstStyle/>
          <a:p>
            <a:pPr algn="l"/>
            <a:r>
              <a:rPr sz="1100" b="1" i="0">
                <a:solidFill>
                  <a:srgbClr val="0F3460"/>
                </a:solidFill>
              </a:rPr>
              <a:t>山間部・地下フロアへの対応</a:t>
            </a:r>
          </a:p>
        </p:txBody>
      </p:sp>
      <p:sp>
        <p:nvSpPr>
          <p:cNvPr id="41" name="Rectangle 40"/>
          <p:cNvSpPr/>
          <p:nvPr/>
        </p:nvSpPr>
        <p:spPr>
          <a:xfrm>
            <a:off x="4416552" y="4425696"/>
            <a:ext cx="3474720" cy="457200"/>
          </a:xfrm>
          <a:prstGeom prst="rect">
            <a:avLst/>
          </a:prstGeom>
          <a:solidFill>
            <a:srgbClr val="F0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507992" y="4480559"/>
            <a:ext cx="3337560" cy="365760"/>
          </a:xfrm>
          <a:prstGeom prst="rect">
            <a:avLst/>
          </a:prstGeom>
          <a:noFill/>
        </p:spPr>
        <p:txBody>
          <a:bodyPr wrap="square">
            <a:spAutoFit/>
          </a:bodyPr>
          <a:lstStyle/>
          <a:p>
            <a:pPr algn="ctr"/>
            <a:r>
              <a:rPr sz="1100" b="0" i="0">
                <a:solidFill>
                  <a:srgbClr val="E94560"/>
                </a:solidFill>
              </a:rPr>
              <a:t>△  電波弱い場合あり</a:t>
            </a:r>
          </a:p>
        </p:txBody>
      </p:sp>
      <p:sp>
        <p:nvSpPr>
          <p:cNvPr id="43" name="Rectangle 42"/>
          <p:cNvSpPr/>
          <p:nvPr/>
        </p:nvSpPr>
        <p:spPr>
          <a:xfrm>
            <a:off x="7918704" y="4425696"/>
            <a:ext cx="3474720" cy="457200"/>
          </a:xfrm>
          <a:prstGeom prst="rect">
            <a:avLst/>
          </a:prstGeom>
          <a:solidFill>
            <a:srgbClr val="F0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10144" y="4480559"/>
            <a:ext cx="3337560" cy="365760"/>
          </a:xfrm>
          <a:prstGeom prst="rect">
            <a:avLst/>
          </a:prstGeom>
          <a:noFill/>
        </p:spPr>
        <p:txBody>
          <a:bodyPr wrap="square">
            <a:spAutoFit/>
          </a:bodyPr>
          <a:lstStyle/>
          <a:p>
            <a:pPr algn="ctr"/>
            <a:r>
              <a:rPr sz="1100" b="0" i="0">
                <a:solidFill>
                  <a:srgbClr val="27AE60"/>
                </a:solidFill>
              </a:rPr>
              <a:t>✅  衛星回線でカバー</a:t>
            </a:r>
          </a:p>
        </p:txBody>
      </p:sp>
      <p:sp>
        <p:nvSpPr>
          <p:cNvPr id="45" name="Rectangle 44"/>
          <p:cNvSpPr/>
          <p:nvPr/>
        </p:nvSpPr>
        <p:spPr>
          <a:xfrm>
            <a:off x="274320" y="4901183"/>
            <a:ext cx="41148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5760" y="4956047"/>
            <a:ext cx="3977639" cy="365760"/>
          </a:xfrm>
          <a:prstGeom prst="rect">
            <a:avLst/>
          </a:prstGeom>
          <a:noFill/>
        </p:spPr>
        <p:txBody>
          <a:bodyPr wrap="square">
            <a:spAutoFit/>
          </a:bodyPr>
          <a:lstStyle/>
          <a:p>
            <a:pPr algn="l"/>
            <a:r>
              <a:rPr sz="1100" b="1" i="0">
                <a:solidFill>
                  <a:srgbClr val="0F3460"/>
                </a:solidFill>
              </a:rPr>
              <a:t>BCP対応レベル</a:t>
            </a:r>
          </a:p>
        </p:txBody>
      </p:sp>
      <p:sp>
        <p:nvSpPr>
          <p:cNvPr id="47" name="Rectangle 46"/>
          <p:cNvSpPr/>
          <p:nvPr/>
        </p:nvSpPr>
        <p:spPr>
          <a:xfrm>
            <a:off x="4416552" y="4901183"/>
            <a:ext cx="347472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507992" y="4956047"/>
            <a:ext cx="3337560" cy="365760"/>
          </a:xfrm>
          <a:prstGeom prst="rect">
            <a:avLst/>
          </a:prstGeom>
          <a:noFill/>
        </p:spPr>
        <p:txBody>
          <a:bodyPr wrap="square">
            <a:spAutoFit/>
          </a:bodyPr>
          <a:lstStyle/>
          <a:p>
            <a:pPr algn="ctr"/>
            <a:r>
              <a:rPr sz="1100" b="0" i="0">
                <a:solidFill>
                  <a:srgbClr val="E94560"/>
                </a:solidFill>
              </a:rPr>
              <a:t>△  基準未達</a:t>
            </a:r>
          </a:p>
        </p:txBody>
      </p:sp>
      <p:sp>
        <p:nvSpPr>
          <p:cNvPr id="49" name="Rectangle 48"/>
          <p:cNvSpPr/>
          <p:nvPr/>
        </p:nvSpPr>
        <p:spPr>
          <a:xfrm>
            <a:off x="7918704" y="4901183"/>
            <a:ext cx="347472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010144" y="4956047"/>
            <a:ext cx="3337560" cy="365760"/>
          </a:xfrm>
          <a:prstGeom prst="rect">
            <a:avLst/>
          </a:prstGeom>
          <a:noFill/>
        </p:spPr>
        <p:txBody>
          <a:bodyPr wrap="square">
            <a:spAutoFit/>
          </a:bodyPr>
          <a:lstStyle/>
          <a:p>
            <a:pPr algn="ctr"/>
            <a:r>
              <a:rPr sz="1100" b="0" i="0">
                <a:solidFill>
                  <a:srgbClr val="27AE60"/>
                </a:solidFill>
              </a:rPr>
              <a:t>✅  最高水準BCP適合</a:t>
            </a:r>
          </a:p>
        </p:txBody>
      </p:sp>
      <p:sp>
        <p:nvSpPr>
          <p:cNvPr id="51" name="Rectangle 50"/>
          <p:cNvSpPr/>
          <p:nvPr/>
        </p:nvSpPr>
        <p:spPr>
          <a:xfrm>
            <a:off x="274320" y="5376672"/>
            <a:ext cx="4114800" cy="457200"/>
          </a:xfrm>
          <a:prstGeom prst="rect">
            <a:avLst/>
          </a:prstGeom>
          <a:solidFill>
            <a:srgbClr val="F0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65760" y="5431536"/>
            <a:ext cx="3977639" cy="365760"/>
          </a:xfrm>
          <a:prstGeom prst="rect">
            <a:avLst/>
          </a:prstGeom>
          <a:noFill/>
        </p:spPr>
        <p:txBody>
          <a:bodyPr wrap="square">
            <a:spAutoFit/>
          </a:bodyPr>
          <a:lstStyle/>
          <a:p>
            <a:pPr algn="l"/>
            <a:r>
              <a:rPr sz="1100" b="1" i="0">
                <a:solidFill>
                  <a:srgbClr val="0F3460"/>
                </a:solidFill>
              </a:rPr>
              <a:t>顧客への説明責任</a:t>
            </a:r>
          </a:p>
        </p:txBody>
      </p:sp>
      <p:sp>
        <p:nvSpPr>
          <p:cNvPr id="53" name="Rectangle 52"/>
          <p:cNvSpPr/>
          <p:nvPr/>
        </p:nvSpPr>
        <p:spPr>
          <a:xfrm>
            <a:off x="4416552" y="5376672"/>
            <a:ext cx="3474720" cy="457200"/>
          </a:xfrm>
          <a:prstGeom prst="rect">
            <a:avLst/>
          </a:prstGeom>
          <a:solidFill>
            <a:srgbClr val="F0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507992" y="5431536"/>
            <a:ext cx="3337560" cy="365760"/>
          </a:xfrm>
          <a:prstGeom prst="rect">
            <a:avLst/>
          </a:prstGeom>
          <a:noFill/>
        </p:spPr>
        <p:txBody>
          <a:bodyPr wrap="square">
            <a:spAutoFit/>
          </a:bodyPr>
          <a:lstStyle/>
          <a:p>
            <a:pPr algn="ctr"/>
            <a:r>
              <a:rPr sz="1100" b="0" i="0">
                <a:solidFill>
                  <a:srgbClr val="E94560"/>
                </a:solidFill>
              </a:rPr>
              <a:t>❌  通信冗長化の根拠なし</a:t>
            </a:r>
          </a:p>
        </p:txBody>
      </p:sp>
      <p:sp>
        <p:nvSpPr>
          <p:cNvPr id="55" name="Rectangle 54"/>
          <p:cNvSpPr/>
          <p:nvPr/>
        </p:nvSpPr>
        <p:spPr>
          <a:xfrm>
            <a:off x="7918704" y="5376672"/>
            <a:ext cx="3474720" cy="457200"/>
          </a:xfrm>
          <a:prstGeom prst="rect">
            <a:avLst/>
          </a:prstGeom>
          <a:solidFill>
            <a:srgbClr val="F0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010144" y="5431536"/>
            <a:ext cx="3337560" cy="365760"/>
          </a:xfrm>
          <a:prstGeom prst="rect">
            <a:avLst/>
          </a:prstGeom>
          <a:noFill/>
        </p:spPr>
        <p:txBody>
          <a:bodyPr wrap="square">
            <a:spAutoFit/>
          </a:bodyPr>
          <a:lstStyle/>
          <a:p>
            <a:pPr algn="ctr"/>
            <a:r>
              <a:rPr sz="1100" b="0" i="0">
                <a:solidFill>
                  <a:srgbClr val="27AE60"/>
                </a:solidFill>
              </a:rPr>
              <a:t>✅  明確な技術的根拠あり</a:t>
            </a:r>
          </a:p>
        </p:txBody>
      </p:sp>
      <p:sp>
        <p:nvSpPr>
          <p:cNvPr id="57" name="Rectangle 56"/>
          <p:cNvSpPr/>
          <p:nvPr/>
        </p:nvSpPr>
        <p:spPr>
          <a:xfrm>
            <a:off x="274320" y="5852160"/>
            <a:ext cx="41148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65760" y="5907024"/>
            <a:ext cx="3977639" cy="365760"/>
          </a:xfrm>
          <a:prstGeom prst="rect">
            <a:avLst/>
          </a:prstGeom>
          <a:noFill/>
        </p:spPr>
        <p:txBody>
          <a:bodyPr wrap="square">
            <a:spAutoFit/>
          </a:bodyPr>
          <a:lstStyle/>
          <a:p>
            <a:pPr algn="l"/>
            <a:r>
              <a:rPr sz="1100" b="1" i="0">
                <a:solidFill>
                  <a:srgbClr val="0F3460"/>
                </a:solidFill>
              </a:rPr>
              <a:t>新規契約獲得競争力</a:t>
            </a:r>
          </a:p>
        </p:txBody>
      </p:sp>
      <p:sp>
        <p:nvSpPr>
          <p:cNvPr id="59" name="Rectangle 58"/>
          <p:cNvSpPr/>
          <p:nvPr/>
        </p:nvSpPr>
        <p:spPr>
          <a:xfrm>
            <a:off x="4416552" y="5852160"/>
            <a:ext cx="347472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507992" y="5907024"/>
            <a:ext cx="3337560" cy="365760"/>
          </a:xfrm>
          <a:prstGeom prst="rect">
            <a:avLst/>
          </a:prstGeom>
          <a:noFill/>
        </p:spPr>
        <p:txBody>
          <a:bodyPr wrap="square">
            <a:spAutoFit/>
          </a:bodyPr>
          <a:lstStyle/>
          <a:p>
            <a:pPr algn="ctr"/>
            <a:r>
              <a:rPr sz="1100" b="0" i="0">
                <a:solidFill>
                  <a:srgbClr val="E94560"/>
                </a:solidFill>
              </a:rPr>
              <a:t>❌  競合と差別化困難</a:t>
            </a:r>
          </a:p>
        </p:txBody>
      </p:sp>
      <p:sp>
        <p:nvSpPr>
          <p:cNvPr id="61" name="Rectangle 60"/>
          <p:cNvSpPr/>
          <p:nvPr/>
        </p:nvSpPr>
        <p:spPr>
          <a:xfrm>
            <a:off x="7918704" y="5852160"/>
            <a:ext cx="347472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010144" y="5907024"/>
            <a:ext cx="3337560" cy="365760"/>
          </a:xfrm>
          <a:prstGeom prst="rect">
            <a:avLst/>
          </a:prstGeom>
          <a:noFill/>
        </p:spPr>
        <p:txBody>
          <a:bodyPr wrap="square">
            <a:spAutoFit/>
          </a:bodyPr>
          <a:lstStyle/>
          <a:p>
            <a:pPr algn="ctr"/>
            <a:r>
              <a:rPr sz="1100" b="0" i="0">
                <a:solidFill>
                  <a:srgbClr val="27AE60"/>
                </a:solidFill>
              </a:rPr>
              <a:t>✅  唯一の衛星冗長化対応</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14400"/>
          </a:xfrm>
          <a:prstGeom prst="rect">
            <a:avLst/>
          </a:prstGeom>
          <a:solidFill>
            <a:srgbClr val="0F3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37160"/>
            <a:ext cx="10515600" cy="640080"/>
          </a:xfrm>
          <a:prstGeom prst="rect">
            <a:avLst/>
          </a:prstGeom>
          <a:noFill/>
        </p:spPr>
        <p:txBody>
          <a:bodyPr wrap="square">
            <a:spAutoFit/>
          </a:bodyPr>
          <a:lstStyle/>
          <a:p>
            <a:pPr algn="l"/>
            <a:r>
              <a:rPr sz="2200" b="1" i="0">
                <a:solidFill>
                  <a:srgbClr val="FFFFFF"/>
                </a:solidFill>
              </a:rPr>
              <a:t>06 ｜ 導入シナリオ ── 災害発生時の実際の動き</a:t>
            </a:r>
          </a:p>
        </p:txBody>
      </p:sp>
      <p:sp>
        <p:nvSpPr>
          <p:cNvPr id="5" name="Oval 4"/>
          <p:cNvSpPr/>
          <p:nvPr/>
        </p:nvSpPr>
        <p:spPr>
          <a:xfrm>
            <a:off x="11521440" y="182880"/>
            <a:ext cx="502920" cy="502920"/>
          </a:xfrm>
          <a:prstGeom prst="ellipse">
            <a:avLst/>
          </a:prstGeom>
          <a:solidFill>
            <a:srgbClr val="E945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rPr>
              <a:t>7</a:t>
            </a:r>
          </a:p>
        </p:txBody>
      </p:sp>
      <p:sp>
        <p:nvSpPr>
          <p:cNvPr id="6" name="Rectangle 5"/>
          <p:cNvSpPr/>
          <p:nvPr/>
        </p:nvSpPr>
        <p:spPr>
          <a:xfrm>
            <a:off x="274320" y="1005840"/>
            <a:ext cx="5669280" cy="502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1005840"/>
            <a:ext cx="5669280" cy="502920"/>
          </a:xfrm>
          <a:prstGeom prst="rect">
            <a:avLst/>
          </a:prstGeom>
          <a:solidFill>
            <a:srgbClr val="0F3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79" y="1033271"/>
            <a:ext cx="4389120" cy="438912"/>
          </a:xfrm>
          <a:prstGeom prst="rect">
            <a:avLst/>
          </a:prstGeom>
          <a:noFill/>
        </p:spPr>
        <p:txBody>
          <a:bodyPr wrap="square">
            <a:spAutoFit/>
          </a:bodyPr>
          <a:lstStyle/>
          <a:p>
            <a:pPr algn="l"/>
            <a:r>
              <a:rPr sz="1300" b="1" i="0">
                <a:solidFill>
                  <a:srgbClr val="FFFFFF"/>
                </a:solidFill>
              </a:rPr>
              <a:t>🌊 シナリオA：大規模地震発生</a:t>
            </a:r>
          </a:p>
        </p:txBody>
      </p:sp>
      <p:sp>
        <p:nvSpPr>
          <p:cNvPr id="9" name="Rectangle 8"/>
          <p:cNvSpPr/>
          <p:nvPr/>
        </p:nvSpPr>
        <p:spPr>
          <a:xfrm>
            <a:off x="4709159" y="1097280"/>
            <a:ext cx="1097280" cy="274320"/>
          </a:xfrm>
          <a:prstGeom prst="rect">
            <a:avLst/>
          </a:prstGeom>
          <a:solidFill>
            <a:srgbClr val="E945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09159" y="1097280"/>
            <a:ext cx="1097280" cy="274320"/>
          </a:xfrm>
          <a:prstGeom prst="rect">
            <a:avLst/>
          </a:prstGeom>
          <a:noFill/>
        </p:spPr>
        <p:txBody>
          <a:bodyPr wrap="square">
            <a:spAutoFit/>
          </a:bodyPr>
          <a:lstStyle/>
          <a:p>
            <a:pPr algn="ctr"/>
            <a:r>
              <a:rPr sz="900" b="1" i="0">
                <a:solidFill>
                  <a:srgbClr val="FFFFFF"/>
                </a:solidFill>
              </a:rPr>
              <a:t>震度6強 想定</a:t>
            </a:r>
          </a:p>
        </p:txBody>
      </p:sp>
      <p:sp>
        <p:nvSpPr>
          <p:cNvPr id="11" name="Rectangle 10"/>
          <p:cNvSpPr/>
          <p:nvPr/>
        </p:nvSpPr>
        <p:spPr>
          <a:xfrm>
            <a:off x="731520" y="1691640"/>
            <a:ext cx="36576" cy="41148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94359" y="1764792"/>
            <a:ext cx="228600" cy="228600"/>
          </a:xfrm>
          <a:prstGeom prst="ellipse">
            <a:avLst/>
          </a:prstGeom>
          <a:solidFill>
            <a:srgbClr val="E945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1691640"/>
            <a:ext cx="4846320" cy="274320"/>
          </a:xfrm>
          <a:prstGeom prst="rect">
            <a:avLst/>
          </a:prstGeom>
          <a:noFill/>
        </p:spPr>
        <p:txBody>
          <a:bodyPr wrap="square">
            <a:spAutoFit/>
          </a:bodyPr>
          <a:lstStyle/>
          <a:p>
            <a:pPr algn="l"/>
            <a:r>
              <a:rPr sz="1000" b="1" i="0">
                <a:solidFill>
                  <a:srgbClr val="888888"/>
                </a:solidFill>
              </a:rPr>
              <a:t>発生直後（0分）</a:t>
            </a:r>
          </a:p>
        </p:txBody>
      </p:sp>
      <p:sp>
        <p:nvSpPr>
          <p:cNvPr id="14" name="TextBox 13"/>
          <p:cNvSpPr txBox="1"/>
          <p:nvPr/>
        </p:nvSpPr>
        <p:spPr>
          <a:xfrm>
            <a:off x="914400" y="1965960"/>
            <a:ext cx="4846320" cy="685800"/>
          </a:xfrm>
          <a:prstGeom prst="rect">
            <a:avLst/>
          </a:prstGeom>
          <a:noFill/>
        </p:spPr>
        <p:txBody>
          <a:bodyPr wrap="square">
            <a:spAutoFit/>
          </a:bodyPr>
          <a:lstStyle/>
          <a:p>
            <a:pPr algn="l"/>
            <a:r>
              <a:rPr sz="1100" b="0" i="0">
                <a:solidFill>
                  <a:srgbClr val="333333"/>
                </a:solidFill>
              </a:rPr>
              <a:t>地上回線・固定電話が断線。通常の通信手段が全て使用不能に。</a:t>
            </a:r>
          </a:p>
        </p:txBody>
      </p:sp>
      <p:sp>
        <p:nvSpPr>
          <p:cNvPr id="15" name="Oval 14"/>
          <p:cNvSpPr/>
          <p:nvPr/>
        </p:nvSpPr>
        <p:spPr>
          <a:xfrm>
            <a:off x="594359" y="2770632"/>
            <a:ext cx="228600" cy="228600"/>
          </a:xfrm>
          <a:prstGeom prst="ellipse">
            <a:avLst/>
          </a:prstGeom>
          <a:solidFill>
            <a:srgbClr val="0F3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2697480"/>
            <a:ext cx="4846320" cy="274320"/>
          </a:xfrm>
          <a:prstGeom prst="rect">
            <a:avLst/>
          </a:prstGeom>
          <a:noFill/>
        </p:spPr>
        <p:txBody>
          <a:bodyPr wrap="square">
            <a:spAutoFit/>
          </a:bodyPr>
          <a:lstStyle/>
          <a:p>
            <a:pPr algn="l"/>
            <a:r>
              <a:rPr sz="1000" b="1" i="0">
                <a:solidFill>
                  <a:srgbClr val="888888"/>
                </a:solidFill>
              </a:rPr>
              <a:t>30秒以内</a:t>
            </a:r>
          </a:p>
        </p:txBody>
      </p:sp>
      <p:sp>
        <p:nvSpPr>
          <p:cNvPr id="17" name="TextBox 16"/>
          <p:cNvSpPr txBox="1"/>
          <p:nvPr/>
        </p:nvSpPr>
        <p:spPr>
          <a:xfrm>
            <a:off x="914400" y="2971800"/>
            <a:ext cx="4846320" cy="685800"/>
          </a:xfrm>
          <a:prstGeom prst="rect">
            <a:avLst/>
          </a:prstGeom>
          <a:noFill/>
        </p:spPr>
        <p:txBody>
          <a:bodyPr wrap="square">
            <a:spAutoFit/>
          </a:bodyPr>
          <a:lstStyle/>
          <a:p>
            <a:pPr algn="l"/>
            <a:r>
              <a:rPr sz="1100" b="0" i="0">
                <a:solidFill>
                  <a:srgbClr val="333333"/>
                </a:solidFill>
              </a:rPr>
              <a:t>端末が通信断を検知し、自動でStarlink衛星回線へ切替。</a:t>
            </a:r>
          </a:p>
        </p:txBody>
      </p:sp>
      <p:sp>
        <p:nvSpPr>
          <p:cNvPr id="18" name="Oval 17"/>
          <p:cNvSpPr/>
          <p:nvPr/>
        </p:nvSpPr>
        <p:spPr>
          <a:xfrm>
            <a:off x="594359" y="3776472"/>
            <a:ext cx="228600" cy="228600"/>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3703320"/>
            <a:ext cx="4846320" cy="274320"/>
          </a:xfrm>
          <a:prstGeom prst="rect">
            <a:avLst/>
          </a:prstGeom>
          <a:noFill/>
        </p:spPr>
        <p:txBody>
          <a:bodyPr wrap="square">
            <a:spAutoFit/>
          </a:bodyPr>
          <a:lstStyle/>
          <a:p>
            <a:pPr algn="l"/>
            <a:r>
              <a:rPr sz="1000" b="1" i="0">
                <a:solidFill>
                  <a:srgbClr val="888888"/>
                </a:solidFill>
              </a:rPr>
              <a:t>1分以内</a:t>
            </a:r>
          </a:p>
        </p:txBody>
      </p:sp>
      <p:sp>
        <p:nvSpPr>
          <p:cNvPr id="20" name="TextBox 19"/>
          <p:cNvSpPr txBox="1"/>
          <p:nvPr/>
        </p:nvSpPr>
        <p:spPr>
          <a:xfrm>
            <a:off x="914400" y="3977640"/>
            <a:ext cx="4846320" cy="685800"/>
          </a:xfrm>
          <a:prstGeom prst="rect">
            <a:avLst/>
          </a:prstGeom>
          <a:noFill/>
        </p:spPr>
        <p:txBody>
          <a:bodyPr wrap="square">
            <a:spAutoFit/>
          </a:bodyPr>
          <a:lstStyle/>
          <a:p>
            <a:pPr algn="l"/>
            <a:r>
              <a:rPr sz="1100" b="0" i="0">
                <a:solidFill>
                  <a:srgbClr val="333333"/>
                </a:solidFill>
              </a:rPr>
              <a:t>警備本部へ現場映像・状況を衛星経由でリアルタイム送信。</a:t>
            </a:r>
          </a:p>
        </p:txBody>
      </p:sp>
      <p:sp>
        <p:nvSpPr>
          <p:cNvPr id="21" name="Oval 20"/>
          <p:cNvSpPr/>
          <p:nvPr/>
        </p:nvSpPr>
        <p:spPr>
          <a:xfrm>
            <a:off x="594359" y="4782312"/>
            <a:ext cx="228600" cy="228600"/>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4709160"/>
            <a:ext cx="4846320" cy="274320"/>
          </a:xfrm>
          <a:prstGeom prst="rect">
            <a:avLst/>
          </a:prstGeom>
          <a:noFill/>
        </p:spPr>
        <p:txBody>
          <a:bodyPr wrap="square">
            <a:spAutoFit/>
          </a:bodyPr>
          <a:lstStyle/>
          <a:p>
            <a:pPr algn="l"/>
            <a:r>
              <a:rPr sz="1000" b="1" i="0">
                <a:solidFill>
                  <a:srgbClr val="888888"/>
                </a:solidFill>
              </a:rPr>
              <a:t>継続（72時間以上）</a:t>
            </a:r>
          </a:p>
        </p:txBody>
      </p:sp>
      <p:sp>
        <p:nvSpPr>
          <p:cNvPr id="23" name="TextBox 22"/>
          <p:cNvSpPr txBox="1"/>
          <p:nvPr/>
        </p:nvSpPr>
        <p:spPr>
          <a:xfrm>
            <a:off x="914400" y="4983480"/>
            <a:ext cx="4846320" cy="685800"/>
          </a:xfrm>
          <a:prstGeom prst="rect">
            <a:avLst/>
          </a:prstGeom>
          <a:noFill/>
        </p:spPr>
        <p:txBody>
          <a:bodyPr wrap="square">
            <a:spAutoFit/>
          </a:bodyPr>
          <a:lstStyle/>
          <a:p>
            <a:pPr algn="l"/>
            <a:r>
              <a:rPr sz="1100" b="0" i="0">
                <a:solidFill>
                  <a:srgbClr val="333333"/>
                </a:solidFill>
              </a:rPr>
              <a:t>UPS給電で端末稼働継続。警察・消防・保守チームとの連携を維持。</a:t>
            </a:r>
          </a:p>
        </p:txBody>
      </p:sp>
      <p:sp>
        <p:nvSpPr>
          <p:cNvPr id="24" name="Rectangle 23"/>
          <p:cNvSpPr/>
          <p:nvPr/>
        </p:nvSpPr>
        <p:spPr>
          <a:xfrm>
            <a:off x="6263640" y="1005840"/>
            <a:ext cx="5669280" cy="502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63640" y="1005840"/>
            <a:ext cx="5669280" cy="502920"/>
          </a:xfrm>
          <a:prstGeom prst="rect">
            <a:avLst/>
          </a:prstGeom>
          <a:solidFill>
            <a:srgbClr val="0F3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0" y="1033271"/>
            <a:ext cx="4389120" cy="438912"/>
          </a:xfrm>
          <a:prstGeom prst="rect">
            <a:avLst/>
          </a:prstGeom>
          <a:noFill/>
        </p:spPr>
        <p:txBody>
          <a:bodyPr wrap="square">
            <a:spAutoFit/>
          </a:bodyPr>
          <a:lstStyle/>
          <a:p>
            <a:pPr algn="l"/>
            <a:r>
              <a:rPr sz="1300" b="1" i="0">
                <a:solidFill>
                  <a:srgbClr val="FFFFFF"/>
                </a:solidFill>
              </a:rPr>
              <a:t>⛈️ シナリオB：台風による停電・回線断</a:t>
            </a:r>
          </a:p>
        </p:txBody>
      </p:sp>
      <p:sp>
        <p:nvSpPr>
          <p:cNvPr id="27" name="Rectangle 26"/>
          <p:cNvSpPr/>
          <p:nvPr/>
        </p:nvSpPr>
        <p:spPr>
          <a:xfrm>
            <a:off x="10698480" y="1097280"/>
            <a:ext cx="1097280" cy="274320"/>
          </a:xfrm>
          <a:prstGeom prst="rect">
            <a:avLst/>
          </a:prstGeom>
          <a:solidFill>
            <a:srgbClr val="E945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698480" y="1097280"/>
            <a:ext cx="1097280" cy="274320"/>
          </a:xfrm>
          <a:prstGeom prst="rect">
            <a:avLst/>
          </a:prstGeom>
          <a:noFill/>
        </p:spPr>
        <p:txBody>
          <a:bodyPr wrap="square">
            <a:spAutoFit/>
          </a:bodyPr>
          <a:lstStyle/>
          <a:p>
            <a:pPr algn="ctr"/>
            <a:r>
              <a:rPr sz="900" b="1" i="0">
                <a:solidFill>
                  <a:srgbClr val="FFFFFF"/>
                </a:solidFill>
              </a:rPr>
              <a:t>大型台風 想定</a:t>
            </a:r>
          </a:p>
        </p:txBody>
      </p:sp>
      <p:sp>
        <p:nvSpPr>
          <p:cNvPr id="29" name="Rectangle 28"/>
          <p:cNvSpPr/>
          <p:nvPr/>
        </p:nvSpPr>
        <p:spPr>
          <a:xfrm>
            <a:off x="6720840" y="1691640"/>
            <a:ext cx="36576" cy="41148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583679" y="1764792"/>
            <a:ext cx="228600" cy="228600"/>
          </a:xfrm>
          <a:prstGeom prst="ellipse">
            <a:avLst/>
          </a:prstGeom>
          <a:solidFill>
            <a:srgbClr val="0F3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03720" y="1691640"/>
            <a:ext cx="4846320" cy="274320"/>
          </a:xfrm>
          <a:prstGeom prst="rect">
            <a:avLst/>
          </a:prstGeom>
          <a:noFill/>
        </p:spPr>
        <p:txBody>
          <a:bodyPr wrap="square">
            <a:spAutoFit/>
          </a:bodyPr>
          <a:lstStyle/>
          <a:p>
            <a:pPr algn="l"/>
            <a:r>
              <a:rPr sz="1000" b="1" i="0">
                <a:solidFill>
                  <a:srgbClr val="888888"/>
                </a:solidFill>
              </a:rPr>
              <a:t>警報発令前（事前）</a:t>
            </a:r>
          </a:p>
        </p:txBody>
      </p:sp>
      <p:sp>
        <p:nvSpPr>
          <p:cNvPr id="32" name="TextBox 31"/>
          <p:cNvSpPr txBox="1"/>
          <p:nvPr/>
        </p:nvSpPr>
        <p:spPr>
          <a:xfrm>
            <a:off x="6903720" y="1965960"/>
            <a:ext cx="4846320" cy="685800"/>
          </a:xfrm>
          <a:prstGeom prst="rect">
            <a:avLst/>
          </a:prstGeom>
          <a:noFill/>
        </p:spPr>
        <p:txBody>
          <a:bodyPr wrap="square">
            <a:spAutoFit/>
          </a:bodyPr>
          <a:lstStyle/>
          <a:p>
            <a:pPr algn="l"/>
            <a:r>
              <a:rPr sz="1100" b="0" i="0">
                <a:solidFill>
                  <a:srgbClr val="333333"/>
                </a:solidFill>
              </a:rPr>
              <a:t>警備員にau Starlinkスマホを事前配備。衛星通信の動作確認完了。</a:t>
            </a:r>
          </a:p>
        </p:txBody>
      </p:sp>
      <p:sp>
        <p:nvSpPr>
          <p:cNvPr id="33" name="Oval 32"/>
          <p:cNvSpPr/>
          <p:nvPr/>
        </p:nvSpPr>
        <p:spPr>
          <a:xfrm>
            <a:off x="6583679" y="2770632"/>
            <a:ext cx="228600" cy="228600"/>
          </a:xfrm>
          <a:prstGeom prst="ellipse">
            <a:avLst/>
          </a:prstGeom>
          <a:solidFill>
            <a:srgbClr val="E945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03720" y="2697480"/>
            <a:ext cx="4846320" cy="274320"/>
          </a:xfrm>
          <a:prstGeom prst="rect">
            <a:avLst/>
          </a:prstGeom>
          <a:noFill/>
        </p:spPr>
        <p:txBody>
          <a:bodyPr wrap="square">
            <a:spAutoFit/>
          </a:bodyPr>
          <a:lstStyle/>
          <a:p>
            <a:pPr algn="l"/>
            <a:r>
              <a:rPr sz="1000" b="1" i="0">
                <a:solidFill>
                  <a:srgbClr val="888888"/>
                </a:solidFill>
              </a:rPr>
              <a:t>台風上陸（0時間）</a:t>
            </a:r>
          </a:p>
        </p:txBody>
      </p:sp>
      <p:sp>
        <p:nvSpPr>
          <p:cNvPr id="35" name="TextBox 34"/>
          <p:cNvSpPr txBox="1"/>
          <p:nvPr/>
        </p:nvSpPr>
        <p:spPr>
          <a:xfrm>
            <a:off x="6903720" y="2971800"/>
            <a:ext cx="4846320" cy="685800"/>
          </a:xfrm>
          <a:prstGeom prst="rect">
            <a:avLst/>
          </a:prstGeom>
          <a:noFill/>
        </p:spPr>
        <p:txBody>
          <a:bodyPr wrap="square">
            <a:spAutoFit/>
          </a:bodyPr>
          <a:lstStyle/>
          <a:p>
            <a:pPr algn="l"/>
            <a:r>
              <a:rPr sz="1100" b="0" i="0">
                <a:solidFill>
                  <a:srgbClr val="333333"/>
                </a:solidFill>
              </a:rPr>
              <a:t>商用電源停電・携帯基地局ダウン。固定回線も断線。</a:t>
            </a:r>
          </a:p>
        </p:txBody>
      </p:sp>
      <p:sp>
        <p:nvSpPr>
          <p:cNvPr id="36" name="Oval 35"/>
          <p:cNvSpPr/>
          <p:nvPr/>
        </p:nvSpPr>
        <p:spPr>
          <a:xfrm>
            <a:off x="6583679" y="3776472"/>
            <a:ext cx="228600" cy="228600"/>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903720" y="3703320"/>
            <a:ext cx="4846320" cy="274320"/>
          </a:xfrm>
          <a:prstGeom prst="rect">
            <a:avLst/>
          </a:prstGeom>
          <a:noFill/>
        </p:spPr>
        <p:txBody>
          <a:bodyPr wrap="square">
            <a:spAutoFit/>
          </a:bodyPr>
          <a:lstStyle/>
          <a:p>
            <a:pPr algn="l"/>
            <a:r>
              <a:rPr sz="1000" b="1" i="0">
                <a:solidFill>
                  <a:srgbClr val="888888"/>
                </a:solidFill>
              </a:rPr>
              <a:t>即時対応</a:t>
            </a:r>
          </a:p>
        </p:txBody>
      </p:sp>
      <p:sp>
        <p:nvSpPr>
          <p:cNvPr id="38" name="TextBox 37"/>
          <p:cNvSpPr txBox="1"/>
          <p:nvPr/>
        </p:nvSpPr>
        <p:spPr>
          <a:xfrm>
            <a:off x="6903720" y="3977640"/>
            <a:ext cx="4846320" cy="685800"/>
          </a:xfrm>
          <a:prstGeom prst="rect">
            <a:avLst/>
          </a:prstGeom>
          <a:noFill/>
        </p:spPr>
        <p:txBody>
          <a:bodyPr wrap="square">
            <a:spAutoFit/>
          </a:bodyPr>
          <a:lstStyle/>
          <a:p>
            <a:pPr algn="l"/>
            <a:r>
              <a:rPr sz="1100" b="0" i="0">
                <a:solidFill>
                  <a:srgbClr val="333333"/>
                </a:solidFill>
              </a:rPr>
              <a:t>Starlink回線に自動切替。本部との連絡・巡回報告を継続。</a:t>
            </a:r>
          </a:p>
        </p:txBody>
      </p:sp>
      <p:sp>
        <p:nvSpPr>
          <p:cNvPr id="39" name="Oval 38"/>
          <p:cNvSpPr/>
          <p:nvPr/>
        </p:nvSpPr>
        <p:spPr>
          <a:xfrm>
            <a:off x="6583679" y="4782312"/>
            <a:ext cx="228600" cy="228600"/>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903720" y="4709160"/>
            <a:ext cx="4846320" cy="274320"/>
          </a:xfrm>
          <a:prstGeom prst="rect">
            <a:avLst/>
          </a:prstGeom>
          <a:noFill/>
        </p:spPr>
        <p:txBody>
          <a:bodyPr wrap="square">
            <a:spAutoFit/>
          </a:bodyPr>
          <a:lstStyle/>
          <a:p>
            <a:pPr algn="l"/>
            <a:r>
              <a:rPr sz="1000" b="1" i="0">
                <a:solidFill>
                  <a:srgbClr val="888888"/>
                </a:solidFill>
              </a:rPr>
              <a:t>復旧まで（最大72h）</a:t>
            </a:r>
          </a:p>
        </p:txBody>
      </p:sp>
      <p:sp>
        <p:nvSpPr>
          <p:cNvPr id="41" name="TextBox 40"/>
          <p:cNvSpPr txBox="1"/>
          <p:nvPr/>
        </p:nvSpPr>
        <p:spPr>
          <a:xfrm>
            <a:off x="6903720" y="4983480"/>
            <a:ext cx="4846320" cy="685800"/>
          </a:xfrm>
          <a:prstGeom prst="rect">
            <a:avLst/>
          </a:prstGeom>
          <a:noFill/>
        </p:spPr>
        <p:txBody>
          <a:bodyPr wrap="square">
            <a:spAutoFit/>
          </a:bodyPr>
          <a:lstStyle/>
          <a:p>
            <a:pPr algn="l"/>
            <a:r>
              <a:rPr sz="1100" b="0" i="0">
                <a:solidFill>
                  <a:srgbClr val="333333"/>
                </a:solidFill>
              </a:rPr>
              <a:t>非常用電源で給電継続。通常と同水準の警備業務を実施。</a:t>
            </a:r>
          </a:p>
        </p:txBody>
      </p:sp>
      <p:sp>
        <p:nvSpPr>
          <p:cNvPr id="42" name="Rectangle 41"/>
          <p:cNvSpPr/>
          <p:nvPr/>
        </p:nvSpPr>
        <p:spPr>
          <a:xfrm>
            <a:off x="274320" y="6108192"/>
            <a:ext cx="11640312" cy="566928"/>
          </a:xfrm>
          <a:prstGeom prst="rect">
            <a:avLst/>
          </a:prstGeom>
          <a:solidFill>
            <a:srgbClr val="0F3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11480" y="6144768"/>
            <a:ext cx="11430000" cy="502920"/>
          </a:xfrm>
          <a:prstGeom prst="rect">
            <a:avLst/>
          </a:prstGeom>
          <a:noFill/>
        </p:spPr>
        <p:txBody>
          <a:bodyPr wrap="square">
            <a:spAutoFit/>
          </a:bodyPr>
          <a:lstStyle/>
          <a:p>
            <a:pPr algn="l"/>
            <a:r>
              <a:rPr sz="1100" b="0" i="0">
                <a:solidFill>
                  <a:srgbClr val="A0C4E8"/>
                </a:solidFill>
              </a:rPr>
              <a:t>💬  顧客訴求：「御社データセンターは24時間365日稼働が求められます。我々はいかなる災害下でも警備本部との通信を絶やさない体制を整備しています。」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14400"/>
          </a:xfrm>
          <a:prstGeom prst="rect">
            <a:avLst/>
          </a:prstGeom>
          <a:solidFill>
            <a:srgbClr val="0F3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37160"/>
            <a:ext cx="10515600" cy="640080"/>
          </a:xfrm>
          <a:prstGeom prst="rect">
            <a:avLst/>
          </a:prstGeom>
          <a:noFill/>
        </p:spPr>
        <p:txBody>
          <a:bodyPr wrap="square">
            <a:spAutoFit/>
          </a:bodyPr>
          <a:lstStyle/>
          <a:p>
            <a:pPr algn="l"/>
            <a:r>
              <a:rPr sz="2200" b="1" i="0">
                <a:solidFill>
                  <a:srgbClr val="FFFFFF"/>
                </a:solidFill>
              </a:rPr>
              <a:t>07 ｜ 費用・投資対効果（ROI）── コスト構造と回収試算</a:t>
            </a:r>
          </a:p>
        </p:txBody>
      </p:sp>
      <p:sp>
        <p:nvSpPr>
          <p:cNvPr id="5" name="Oval 4"/>
          <p:cNvSpPr/>
          <p:nvPr/>
        </p:nvSpPr>
        <p:spPr>
          <a:xfrm>
            <a:off x="11521440" y="182880"/>
            <a:ext cx="502920" cy="502920"/>
          </a:xfrm>
          <a:prstGeom prst="ellipse">
            <a:avLst/>
          </a:prstGeom>
          <a:solidFill>
            <a:srgbClr val="E945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rPr>
              <a:t>8</a:t>
            </a:r>
          </a:p>
        </p:txBody>
      </p:sp>
      <p:sp>
        <p:nvSpPr>
          <p:cNvPr id="6" name="Rectangle 5"/>
          <p:cNvSpPr/>
          <p:nvPr/>
        </p:nvSpPr>
        <p:spPr>
          <a:xfrm>
            <a:off x="274320" y="1005840"/>
            <a:ext cx="5486400" cy="5577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1078992"/>
            <a:ext cx="5212080" cy="384048"/>
          </a:xfrm>
          <a:prstGeom prst="rect">
            <a:avLst/>
          </a:prstGeom>
          <a:noFill/>
        </p:spPr>
        <p:txBody>
          <a:bodyPr wrap="square">
            <a:spAutoFit/>
          </a:bodyPr>
          <a:lstStyle/>
          <a:p>
            <a:pPr algn="l"/>
            <a:r>
              <a:rPr sz="1300" b="1" i="0">
                <a:solidFill>
                  <a:srgbClr val="0F3460"/>
                </a:solidFill>
              </a:rPr>
              <a:t>💰  概算費用（1拠点・警備員2名体制）</a:t>
            </a:r>
          </a:p>
        </p:txBody>
      </p:sp>
      <p:sp>
        <p:nvSpPr>
          <p:cNvPr id="8" name="TextBox 7"/>
          <p:cNvSpPr txBox="1"/>
          <p:nvPr/>
        </p:nvSpPr>
        <p:spPr>
          <a:xfrm>
            <a:off x="411480" y="1481328"/>
            <a:ext cx="5212080" cy="274320"/>
          </a:xfrm>
          <a:prstGeom prst="rect">
            <a:avLst/>
          </a:prstGeom>
          <a:noFill/>
        </p:spPr>
        <p:txBody>
          <a:bodyPr wrap="square">
            <a:spAutoFit/>
          </a:bodyPr>
          <a:lstStyle/>
          <a:p>
            <a:pPr algn="l"/>
            <a:r>
              <a:rPr sz="1000" b="0" i="1">
                <a:solidFill>
                  <a:srgbClr val="888888"/>
                </a:solidFill>
              </a:rPr>
              <a:t>※ 正式見積は個別にご提示します。以下は参考目安です。</a:t>
            </a:r>
          </a:p>
        </p:txBody>
      </p:sp>
      <p:sp>
        <p:nvSpPr>
          <p:cNvPr id="9" name="TextBox 8"/>
          <p:cNvSpPr txBox="1"/>
          <p:nvPr/>
        </p:nvSpPr>
        <p:spPr>
          <a:xfrm>
            <a:off x="411480" y="1828800"/>
            <a:ext cx="5212080" cy="292608"/>
          </a:xfrm>
          <a:prstGeom prst="rect">
            <a:avLst/>
          </a:prstGeom>
          <a:noFill/>
        </p:spPr>
        <p:txBody>
          <a:bodyPr wrap="square">
            <a:spAutoFit/>
          </a:bodyPr>
          <a:lstStyle/>
          <a:p>
            <a:pPr algn="l"/>
            <a:r>
              <a:rPr sz="1200" b="1" i="0">
                <a:solidFill>
                  <a:srgbClr val="0F3460"/>
                </a:solidFill>
              </a:rPr>
              <a:t>【初期費用】</a:t>
            </a:r>
          </a:p>
        </p:txBody>
      </p:sp>
      <p:sp>
        <p:nvSpPr>
          <p:cNvPr id="10" name="Rectangle 9"/>
          <p:cNvSpPr/>
          <p:nvPr/>
        </p:nvSpPr>
        <p:spPr>
          <a:xfrm>
            <a:off x="274320" y="2176272"/>
            <a:ext cx="5486400" cy="36576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2221991"/>
            <a:ext cx="3840480" cy="292608"/>
          </a:xfrm>
          <a:prstGeom prst="rect">
            <a:avLst/>
          </a:prstGeom>
          <a:noFill/>
        </p:spPr>
        <p:txBody>
          <a:bodyPr wrap="square">
            <a:spAutoFit/>
          </a:bodyPr>
          <a:lstStyle/>
          <a:p>
            <a:pPr algn="l"/>
            <a:r>
              <a:rPr sz="1100" b="0" i="0">
                <a:solidFill>
                  <a:srgbClr val="444444"/>
                </a:solidFill>
              </a:rPr>
              <a:t>au Starlink対応スマートフォン × 2台</a:t>
            </a:r>
          </a:p>
        </p:txBody>
      </p:sp>
      <p:sp>
        <p:nvSpPr>
          <p:cNvPr id="12" name="TextBox 11"/>
          <p:cNvSpPr txBox="1"/>
          <p:nvPr/>
        </p:nvSpPr>
        <p:spPr>
          <a:xfrm>
            <a:off x="4251960" y="2221991"/>
            <a:ext cx="1371600" cy="292608"/>
          </a:xfrm>
          <a:prstGeom prst="rect">
            <a:avLst/>
          </a:prstGeom>
          <a:noFill/>
        </p:spPr>
        <p:txBody>
          <a:bodyPr wrap="square">
            <a:spAutoFit/>
          </a:bodyPr>
          <a:lstStyle/>
          <a:p>
            <a:pPr algn="r"/>
            <a:r>
              <a:rPr sz="1100" b="1" i="0">
                <a:solidFill>
                  <a:srgbClr val="0F3460"/>
                </a:solidFill>
              </a:rPr>
              <a:t>〜 ¥120,000</a:t>
            </a:r>
          </a:p>
        </p:txBody>
      </p:sp>
      <p:sp>
        <p:nvSpPr>
          <p:cNvPr id="13" name="Rectangle 12"/>
          <p:cNvSpPr/>
          <p:nvPr/>
        </p:nvSpPr>
        <p:spPr>
          <a:xfrm>
            <a:off x="274320" y="2560320"/>
            <a:ext cx="5486400" cy="3657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2606039"/>
            <a:ext cx="3840480" cy="292608"/>
          </a:xfrm>
          <a:prstGeom prst="rect">
            <a:avLst/>
          </a:prstGeom>
          <a:noFill/>
        </p:spPr>
        <p:txBody>
          <a:bodyPr wrap="square">
            <a:spAutoFit/>
          </a:bodyPr>
          <a:lstStyle/>
          <a:p>
            <a:pPr algn="l"/>
            <a:r>
              <a:rPr sz="1100" b="0" i="0">
                <a:solidFill>
                  <a:srgbClr val="444444"/>
                </a:solidFill>
              </a:rPr>
              <a:t>法人SIM発行・初期設定費</a:t>
            </a:r>
          </a:p>
        </p:txBody>
      </p:sp>
      <p:sp>
        <p:nvSpPr>
          <p:cNvPr id="15" name="TextBox 14"/>
          <p:cNvSpPr txBox="1"/>
          <p:nvPr/>
        </p:nvSpPr>
        <p:spPr>
          <a:xfrm>
            <a:off x="4251960" y="2606039"/>
            <a:ext cx="1371600" cy="292608"/>
          </a:xfrm>
          <a:prstGeom prst="rect">
            <a:avLst/>
          </a:prstGeom>
          <a:noFill/>
        </p:spPr>
        <p:txBody>
          <a:bodyPr wrap="square">
            <a:spAutoFit/>
          </a:bodyPr>
          <a:lstStyle/>
          <a:p>
            <a:pPr algn="r"/>
            <a:r>
              <a:rPr sz="1100" b="1" i="0">
                <a:solidFill>
                  <a:srgbClr val="0F3460"/>
                </a:solidFill>
              </a:rPr>
              <a:t>〜 ¥20,000</a:t>
            </a:r>
          </a:p>
        </p:txBody>
      </p:sp>
      <p:sp>
        <p:nvSpPr>
          <p:cNvPr id="16" name="Rectangle 15"/>
          <p:cNvSpPr/>
          <p:nvPr/>
        </p:nvSpPr>
        <p:spPr>
          <a:xfrm>
            <a:off x="274320" y="2944368"/>
            <a:ext cx="5486400" cy="36576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480" y="2990087"/>
            <a:ext cx="3840480" cy="292608"/>
          </a:xfrm>
          <a:prstGeom prst="rect">
            <a:avLst/>
          </a:prstGeom>
          <a:noFill/>
        </p:spPr>
        <p:txBody>
          <a:bodyPr wrap="square">
            <a:spAutoFit/>
          </a:bodyPr>
          <a:lstStyle/>
          <a:p>
            <a:pPr algn="l"/>
            <a:r>
              <a:rPr sz="1100" b="0" i="0">
                <a:solidFill>
                  <a:srgbClr val="444444"/>
                </a:solidFill>
              </a:rPr>
              <a:t>警備員向けトレーニング（半日）</a:t>
            </a:r>
          </a:p>
        </p:txBody>
      </p:sp>
      <p:sp>
        <p:nvSpPr>
          <p:cNvPr id="18" name="TextBox 17"/>
          <p:cNvSpPr txBox="1"/>
          <p:nvPr/>
        </p:nvSpPr>
        <p:spPr>
          <a:xfrm>
            <a:off x="4251960" y="2990087"/>
            <a:ext cx="1371600" cy="292608"/>
          </a:xfrm>
          <a:prstGeom prst="rect">
            <a:avLst/>
          </a:prstGeom>
          <a:noFill/>
        </p:spPr>
        <p:txBody>
          <a:bodyPr wrap="square">
            <a:spAutoFit/>
          </a:bodyPr>
          <a:lstStyle/>
          <a:p>
            <a:pPr algn="r"/>
            <a:r>
              <a:rPr sz="1100" b="1" i="0">
                <a:solidFill>
                  <a:srgbClr val="0F3460"/>
                </a:solidFill>
              </a:rPr>
              <a:t>〜 ¥30,000</a:t>
            </a:r>
          </a:p>
        </p:txBody>
      </p:sp>
      <p:sp>
        <p:nvSpPr>
          <p:cNvPr id="19" name="Rectangle 18"/>
          <p:cNvSpPr/>
          <p:nvPr/>
        </p:nvSpPr>
        <p:spPr>
          <a:xfrm>
            <a:off x="274320" y="3337560"/>
            <a:ext cx="5486400" cy="411480"/>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 y="3364992"/>
            <a:ext cx="3840480" cy="347472"/>
          </a:xfrm>
          <a:prstGeom prst="rect">
            <a:avLst/>
          </a:prstGeom>
          <a:noFill/>
        </p:spPr>
        <p:txBody>
          <a:bodyPr wrap="square">
            <a:spAutoFit/>
          </a:bodyPr>
          <a:lstStyle/>
          <a:p>
            <a:pPr algn="l"/>
            <a:r>
              <a:rPr sz="1300" b="1" i="0">
                <a:solidFill>
                  <a:srgbClr val="0F3460"/>
                </a:solidFill>
              </a:rPr>
              <a:t>初期費用 合計</a:t>
            </a:r>
          </a:p>
        </p:txBody>
      </p:sp>
      <p:sp>
        <p:nvSpPr>
          <p:cNvPr id="21" name="TextBox 20"/>
          <p:cNvSpPr txBox="1"/>
          <p:nvPr/>
        </p:nvSpPr>
        <p:spPr>
          <a:xfrm>
            <a:off x="4251960" y="3364992"/>
            <a:ext cx="1371600" cy="347472"/>
          </a:xfrm>
          <a:prstGeom prst="rect">
            <a:avLst/>
          </a:prstGeom>
          <a:noFill/>
        </p:spPr>
        <p:txBody>
          <a:bodyPr wrap="square">
            <a:spAutoFit/>
          </a:bodyPr>
          <a:lstStyle/>
          <a:p>
            <a:pPr algn="r"/>
            <a:r>
              <a:rPr sz="1400" b="1" i="0">
                <a:solidFill>
                  <a:srgbClr val="E94560"/>
                </a:solidFill>
              </a:rPr>
              <a:t>〜 ¥170,000</a:t>
            </a:r>
          </a:p>
        </p:txBody>
      </p:sp>
      <p:sp>
        <p:nvSpPr>
          <p:cNvPr id="22" name="TextBox 21"/>
          <p:cNvSpPr txBox="1"/>
          <p:nvPr/>
        </p:nvSpPr>
        <p:spPr>
          <a:xfrm>
            <a:off x="411480" y="3822191"/>
            <a:ext cx="5212080" cy="292608"/>
          </a:xfrm>
          <a:prstGeom prst="rect">
            <a:avLst/>
          </a:prstGeom>
          <a:noFill/>
        </p:spPr>
        <p:txBody>
          <a:bodyPr wrap="square">
            <a:spAutoFit/>
          </a:bodyPr>
          <a:lstStyle/>
          <a:p>
            <a:pPr algn="l"/>
            <a:r>
              <a:rPr sz="1200" b="1" i="0">
                <a:solidFill>
                  <a:srgbClr val="0F3460"/>
                </a:solidFill>
              </a:rPr>
              <a:t>【月次費用（ランニング）】</a:t>
            </a:r>
          </a:p>
        </p:txBody>
      </p:sp>
      <p:sp>
        <p:nvSpPr>
          <p:cNvPr id="23" name="Rectangle 22"/>
          <p:cNvSpPr/>
          <p:nvPr/>
        </p:nvSpPr>
        <p:spPr>
          <a:xfrm>
            <a:off x="274320" y="4169663"/>
            <a:ext cx="5486400" cy="36576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4215383"/>
            <a:ext cx="3840480" cy="292608"/>
          </a:xfrm>
          <a:prstGeom prst="rect">
            <a:avLst/>
          </a:prstGeom>
          <a:noFill/>
        </p:spPr>
        <p:txBody>
          <a:bodyPr wrap="square">
            <a:spAutoFit/>
          </a:bodyPr>
          <a:lstStyle/>
          <a:p>
            <a:pPr algn="l"/>
            <a:r>
              <a:rPr sz="1100" b="0" i="0">
                <a:solidFill>
                  <a:srgbClr val="444444"/>
                </a:solidFill>
              </a:rPr>
              <a:t>au法人プラン（Starlink含む）× 2回線</a:t>
            </a:r>
          </a:p>
        </p:txBody>
      </p:sp>
      <p:sp>
        <p:nvSpPr>
          <p:cNvPr id="25" name="TextBox 24"/>
          <p:cNvSpPr txBox="1"/>
          <p:nvPr/>
        </p:nvSpPr>
        <p:spPr>
          <a:xfrm>
            <a:off x="4251960" y="4215383"/>
            <a:ext cx="1371600" cy="292608"/>
          </a:xfrm>
          <a:prstGeom prst="rect">
            <a:avLst/>
          </a:prstGeom>
          <a:noFill/>
        </p:spPr>
        <p:txBody>
          <a:bodyPr wrap="square">
            <a:spAutoFit/>
          </a:bodyPr>
          <a:lstStyle/>
          <a:p>
            <a:pPr algn="r"/>
            <a:r>
              <a:rPr sz="1100" b="1" i="0">
                <a:solidFill>
                  <a:srgbClr val="0F3460"/>
                </a:solidFill>
              </a:rPr>
              <a:t>〜 ¥12,000/月</a:t>
            </a:r>
          </a:p>
        </p:txBody>
      </p:sp>
      <p:sp>
        <p:nvSpPr>
          <p:cNvPr id="26" name="Rectangle 25"/>
          <p:cNvSpPr/>
          <p:nvPr/>
        </p:nvSpPr>
        <p:spPr>
          <a:xfrm>
            <a:off x="274320" y="4553712"/>
            <a:ext cx="5486400" cy="3657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80" y="4599431"/>
            <a:ext cx="3840480" cy="292608"/>
          </a:xfrm>
          <a:prstGeom prst="rect">
            <a:avLst/>
          </a:prstGeom>
          <a:noFill/>
        </p:spPr>
        <p:txBody>
          <a:bodyPr wrap="square">
            <a:spAutoFit/>
          </a:bodyPr>
          <a:lstStyle/>
          <a:p>
            <a:pPr algn="l"/>
            <a:r>
              <a:rPr sz="1100" b="0" i="0">
                <a:solidFill>
                  <a:srgbClr val="444444"/>
                </a:solidFill>
              </a:rPr>
              <a:t>MDM管理費（オプション）</a:t>
            </a:r>
          </a:p>
        </p:txBody>
      </p:sp>
      <p:sp>
        <p:nvSpPr>
          <p:cNvPr id="28" name="TextBox 27"/>
          <p:cNvSpPr txBox="1"/>
          <p:nvPr/>
        </p:nvSpPr>
        <p:spPr>
          <a:xfrm>
            <a:off x="4251960" y="4599431"/>
            <a:ext cx="1371600" cy="292608"/>
          </a:xfrm>
          <a:prstGeom prst="rect">
            <a:avLst/>
          </a:prstGeom>
          <a:noFill/>
        </p:spPr>
        <p:txBody>
          <a:bodyPr wrap="square">
            <a:spAutoFit/>
          </a:bodyPr>
          <a:lstStyle/>
          <a:p>
            <a:pPr algn="r"/>
            <a:r>
              <a:rPr sz="1100" b="1" i="0">
                <a:solidFill>
                  <a:srgbClr val="0F3460"/>
                </a:solidFill>
              </a:rPr>
              <a:t>〜 ¥2,000/月</a:t>
            </a:r>
          </a:p>
        </p:txBody>
      </p:sp>
      <p:sp>
        <p:nvSpPr>
          <p:cNvPr id="29" name="Rectangle 28"/>
          <p:cNvSpPr/>
          <p:nvPr/>
        </p:nvSpPr>
        <p:spPr>
          <a:xfrm>
            <a:off x="274320" y="4956048"/>
            <a:ext cx="5486400" cy="411480"/>
          </a:xfrm>
          <a:prstGeom prst="rect">
            <a:avLst/>
          </a:prstGeom>
          <a:solidFill>
            <a:srgbClr val="E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1480" y="4983480"/>
            <a:ext cx="3840480" cy="347472"/>
          </a:xfrm>
          <a:prstGeom prst="rect">
            <a:avLst/>
          </a:prstGeom>
          <a:noFill/>
        </p:spPr>
        <p:txBody>
          <a:bodyPr wrap="square">
            <a:spAutoFit/>
          </a:bodyPr>
          <a:lstStyle/>
          <a:p>
            <a:pPr algn="l"/>
            <a:r>
              <a:rPr sz="1300" b="1" i="0">
                <a:solidFill>
                  <a:srgbClr val="0F3460"/>
                </a:solidFill>
              </a:rPr>
              <a:t>月次費用 合計</a:t>
            </a:r>
          </a:p>
        </p:txBody>
      </p:sp>
      <p:sp>
        <p:nvSpPr>
          <p:cNvPr id="31" name="TextBox 30"/>
          <p:cNvSpPr txBox="1"/>
          <p:nvPr/>
        </p:nvSpPr>
        <p:spPr>
          <a:xfrm>
            <a:off x="4251960" y="4983480"/>
            <a:ext cx="1371600" cy="347472"/>
          </a:xfrm>
          <a:prstGeom prst="rect">
            <a:avLst/>
          </a:prstGeom>
          <a:noFill/>
        </p:spPr>
        <p:txBody>
          <a:bodyPr wrap="square">
            <a:spAutoFit/>
          </a:bodyPr>
          <a:lstStyle/>
          <a:p>
            <a:pPr algn="r"/>
            <a:r>
              <a:rPr sz="1400" b="1" i="0">
                <a:solidFill>
                  <a:srgbClr val="E94560"/>
                </a:solidFill>
              </a:rPr>
              <a:t>〜 ¥14,000/月</a:t>
            </a:r>
          </a:p>
        </p:txBody>
      </p:sp>
      <p:sp>
        <p:nvSpPr>
          <p:cNvPr id="32" name="Rectangle 31"/>
          <p:cNvSpPr/>
          <p:nvPr/>
        </p:nvSpPr>
        <p:spPr>
          <a:xfrm>
            <a:off x="274320" y="5440680"/>
            <a:ext cx="5486400" cy="914400"/>
          </a:xfrm>
          <a:prstGeom prst="rect">
            <a:avLst/>
          </a:prstGeom>
          <a:solidFill>
            <a:srgbClr val="FFF5F5"/>
          </a:solidFill>
          <a:ln w="1270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5486400"/>
            <a:ext cx="5212080" cy="804672"/>
          </a:xfrm>
          <a:prstGeom prst="rect">
            <a:avLst/>
          </a:prstGeom>
          <a:noFill/>
        </p:spPr>
        <p:txBody>
          <a:bodyPr wrap="square">
            <a:spAutoFit/>
          </a:bodyPr>
          <a:lstStyle/>
          <a:p>
            <a:pPr algn="l"/>
            <a:r>
              <a:rPr sz="1200" b="1" i="0">
                <a:solidFill>
                  <a:srgbClr val="C0392B"/>
                </a:solidFill>
              </a:rPr>
              <a:t>年間総コスト（2年目以降）：約 ¥168,000
＝ 月 ¥14,000 × 12ヶ月</a:t>
            </a:r>
          </a:p>
        </p:txBody>
      </p:sp>
      <p:sp>
        <p:nvSpPr>
          <p:cNvPr id="34" name="Rectangle 33"/>
          <p:cNvSpPr/>
          <p:nvPr/>
        </p:nvSpPr>
        <p:spPr>
          <a:xfrm>
            <a:off x="6126480" y="1005840"/>
            <a:ext cx="5788152" cy="5577840"/>
          </a:xfrm>
          <a:prstGeom prst="rect">
            <a:avLst/>
          </a:prstGeom>
          <a:solidFill>
            <a:srgbClr val="0F3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63640" y="1078992"/>
            <a:ext cx="5486400" cy="384048"/>
          </a:xfrm>
          <a:prstGeom prst="rect">
            <a:avLst/>
          </a:prstGeom>
          <a:noFill/>
        </p:spPr>
        <p:txBody>
          <a:bodyPr wrap="square">
            <a:spAutoFit/>
          </a:bodyPr>
          <a:lstStyle/>
          <a:p>
            <a:pPr algn="l"/>
            <a:r>
              <a:rPr sz="1300" b="1" i="0">
                <a:solidFill>
                  <a:srgbClr val="00D4FF"/>
                </a:solidFill>
              </a:rPr>
              <a:t>📈  投資対効果（ROI）試算</a:t>
            </a:r>
          </a:p>
        </p:txBody>
      </p:sp>
      <p:sp>
        <p:nvSpPr>
          <p:cNvPr id="36" name="TextBox 35"/>
          <p:cNvSpPr txBox="1"/>
          <p:nvPr/>
        </p:nvSpPr>
        <p:spPr>
          <a:xfrm>
            <a:off x="6263640" y="1600200"/>
            <a:ext cx="5486400" cy="292608"/>
          </a:xfrm>
          <a:prstGeom prst="rect">
            <a:avLst/>
          </a:prstGeom>
          <a:noFill/>
        </p:spPr>
        <p:txBody>
          <a:bodyPr wrap="square">
            <a:spAutoFit/>
          </a:bodyPr>
          <a:lstStyle/>
          <a:p>
            <a:pPr algn="l"/>
            <a:r>
              <a:rPr sz="1100" b="0" i="0">
                <a:solidFill>
                  <a:srgbClr val="A0C4E8"/>
                </a:solidFill>
              </a:rPr>
              <a:t>想定リスク①  通信断による警備事故</a:t>
            </a:r>
          </a:p>
        </p:txBody>
      </p:sp>
      <p:sp>
        <p:nvSpPr>
          <p:cNvPr id="37" name="TextBox 36"/>
          <p:cNvSpPr txBox="1"/>
          <p:nvPr/>
        </p:nvSpPr>
        <p:spPr>
          <a:xfrm>
            <a:off x="6263640" y="1892807"/>
            <a:ext cx="5486400" cy="329184"/>
          </a:xfrm>
          <a:prstGeom prst="rect">
            <a:avLst/>
          </a:prstGeom>
          <a:noFill/>
        </p:spPr>
        <p:txBody>
          <a:bodyPr wrap="square">
            <a:spAutoFit/>
          </a:bodyPr>
          <a:lstStyle/>
          <a:p>
            <a:pPr algn="l"/>
            <a:r>
              <a:rPr sz="1300" b="1" i="0">
                <a:solidFill>
                  <a:srgbClr val="FFFFFF"/>
                </a:solidFill>
              </a:rPr>
              <a:t>賠償金・違約金リスク：数百万〜数千万円</a:t>
            </a:r>
          </a:p>
        </p:txBody>
      </p:sp>
      <p:sp>
        <p:nvSpPr>
          <p:cNvPr id="38" name="TextBox 37"/>
          <p:cNvSpPr txBox="1"/>
          <p:nvPr/>
        </p:nvSpPr>
        <p:spPr>
          <a:xfrm>
            <a:off x="6263640" y="2212848"/>
            <a:ext cx="5486400" cy="274320"/>
          </a:xfrm>
          <a:prstGeom prst="rect">
            <a:avLst/>
          </a:prstGeom>
          <a:noFill/>
        </p:spPr>
        <p:txBody>
          <a:bodyPr wrap="square">
            <a:spAutoFit/>
          </a:bodyPr>
          <a:lstStyle/>
          <a:p>
            <a:pPr algn="l"/>
            <a:r>
              <a:rPr sz="1000" b="0" i="0">
                <a:solidFill>
                  <a:srgbClr val="7FB3D3"/>
                </a:solidFill>
              </a:rPr>
              <a:t>通信不能中の不法侵入・セキュリティ事故は警備会社の責任問題に発展</a:t>
            </a:r>
          </a:p>
        </p:txBody>
      </p:sp>
      <p:sp>
        <p:nvSpPr>
          <p:cNvPr id="39" name="TextBox 38"/>
          <p:cNvSpPr txBox="1"/>
          <p:nvPr/>
        </p:nvSpPr>
        <p:spPr>
          <a:xfrm>
            <a:off x="6263640" y="2560320"/>
            <a:ext cx="5486400" cy="292608"/>
          </a:xfrm>
          <a:prstGeom prst="rect">
            <a:avLst/>
          </a:prstGeom>
          <a:noFill/>
        </p:spPr>
        <p:txBody>
          <a:bodyPr wrap="square">
            <a:spAutoFit/>
          </a:bodyPr>
          <a:lstStyle/>
          <a:p>
            <a:pPr algn="l"/>
            <a:r>
              <a:rPr sz="1100" b="0" i="0">
                <a:solidFill>
                  <a:srgbClr val="A0C4E8"/>
                </a:solidFill>
              </a:rPr>
              <a:t>想定リスク②  契約解除・逸失利益</a:t>
            </a:r>
          </a:p>
        </p:txBody>
      </p:sp>
      <p:sp>
        <p:nvSpPr>
          <p:cNvPr id="40" name="TextBox 39"/>
          <p:cNvSpPr txBox="1"/>
          <p:nvPr/>
        </p:nvSpPr>
        <p:spPr>
          <a:xfrm>
            <a:off x="6263640" y="2852927"/>
            <a:ext cx="5486400" cy="329184"/>
          </a:xfrm>
          <a:prstGeom prst="rect">
            <a:avLst/>
          </a:prstGeom>
          <a:noFill/>
        </p:spPr>
        <p:txBody>
          <a:bodyPr wrap="square">
            <a:spAutoFit/>
          </a:bodyPr>
          <a:lstStyle/>
          <a:p>
            <a:pPr algn="l"/>
            <a:r>
              <a:rPr sz="1300" b="1" i="0">
                <a:solidFill>
                  <a:srgbClr val="FFFFFF"/>
                </a:solidFill>
              </a:rPr>
              <a:t>DC1契約の年間価値：500万〜5,000万円</a:t>
            </a:r>
          </a:p>
        </p:txBody>
      </p:sp>
      <p:sp>
        <p:nvSpPr>
          <p:cNvPr id="41" name="TextBox 40"/>
          <p:cNvSpPr txBox="1"/>
          <p:nvPr/>
        </p:nvSpPr>
        <p:spPr>
          <a:xfrm>
            <a:off x="6263640" y="3172968"/>
            <a:ext cx="5486400" cy="274320"/>
          </a:xfrm>
          <a:prstGeom prst="rect">
            <a:avLst/>
          </a:prstGeom>
          <a:noFill/>
        </p:spPr>
        <p:txBody>
          <a:bodyPr wrap="square">
            <a:spAutoFit/>
          </a:bodyPr>
          <a:lstStyle/>
          <a:p>
            <a:pPr algn="l"/>
            <a:r>
              <a:rPr sz="1000" b="0" i="0">
                <a:solidFill>
                  <a:srgbClr val="7FB3D3"/>
                </a:solidFill>
              </a:rPr>
              <a:t>BCP要件不適合を理由とした契約打ち切りリスク</a:t>
            </a:r>
          </a:p>
        </p:txBody>
      </p:sp>
      <p:sp>
        <p:nvSpPr>
          <p:cNvPr id="42" name="TextBox 41"/>
          <p:cNvSpPr txBox="1"/>
          <p:nvPr/>
        </p:nvSpPr>
        <p:spPr>
          <a:xfrm>
            <a:off x="6263640" y="3520440"/>
            <a:ext cx="5486400" cy="292608"/>
          </a:xfrm>
          <a:prstGeom prst="rect">
            <a:avLst/>
          </a:prstGeom>
          <a:noFill/>
        </p:spPr>
        <p:txBody>
          <a:bodyPr wrap="square">
            <a:spAutoFit/>
          </a:bodyPr>
          <a:lstStyle/>
          <a:p>
            <a:pPr algn="l"/>
            <a:r>
              <a:rPr sz="1100" b="0" i="0">
                <a:solidFill>
                  <a:srgbClr val="A0C4E8"/>
                </a:solidFill>
              </a:rPr>
              <a:t>新規受注獲得効果</a:t>
            </a:r>
          </a:p>
        </p:txBody>
      </p:sp>
      <p:sp>
        <p:nvSpPr>
          <p:cNvPr id="43" name="TextBox 42"/>
          <p:cNvSpPr txBox="1"/>
          <p:nvPr/>
        </p:nvSpPr>
        <p:spPr>
          <a:xfrm>
            <a:off x="6263640" y="3813048"/>
            <a:ext cx="5486400" cy="329184"/>
          </a:xfrm>
          <a:prstGeom prst="rect">
            <a:avLst/>
          </a:prstGeom>
          <a:noFill/>
        </p:spPr>
        <p:txBody>
          <a:bodyPr wrap="square">
            <a:spAutoFit/>
          </a:bodyPr>
          <a:lstStyle/>
          <a:p>
            <a:pPr algn="l"/>
            <a:r>
              <a:rPr sz="1300" b="1" i="0">
                <a:solidFill>
                  <a:srgbClr val="FFFFFF"/>
                </a:solidFill>
              </a:rPr>
              <a:t>競合差別化による受注確度向上：＋20〜30%</a:t>
            </a:r>
          </a:p>
        </p:txBody>
      </p:sp>
      <p:sp>
        <p:nvSpPr>
          <p:cNvPr id="44" name="TextBox 43"/>
          <p:cNvSpPr txBox="1"/>
          <p:nvPr/>
        </p:nvSpPr>
        <p:spPr>
          <a:xfrm>
            <a:off x="6263640" y="4133088"/>
            <a:ext cx="5486400" cy="274320"/>
          </a:xfrm>
          <a:prstGeom prst="rect">
            <a:avLst/>
          </a:prstGeom>
          <a:noFill/>
        </p:spPr>
        <p:txBody>
          <a:bodyPr wrap="square">
            <a:spAutoFit/>
          </a:bodyPr>
          <a:lstStyle/>
          <a:p>
            <a:pPr algn="l"/>
            <a:r>
              <a:rPr sz="1000" b="0" i="0">
                <a:solidFill>
                  <a:srgbClr val="7FB3D3"/>
                </a:solidFill>
              </a:rPr>
              <a:t>「Starlink冗長化対応」は現状の競合他社には存在しない強み</a:t>
            </a:r>
          </a:p>
        </p:txBody>
      </p:sp>
      <p:sp>
        <p:nvSpPr>
          <p:cNvPr id="45" name="TextBox 44"/>
          <p:cNvSpPr txBox="1"/>
          <p:nvPr/>
        </p:nvSpPr>
        <p:spPr>
          <a:xfrm>
            <a:off x="6263640" y="4480560"/>
            <a:ext cx="5486400" cy="292608"/>
          </a:xfrm>
          <a:prstGeom prst="rect">
            <a:avLst/>
          </a:prstGeom>
          <a:noFill/>
        </p:spPr>
        <p:txBody>
          <a:bodyPr wrap="square">
            <a:spAutoFit/>
          </a:bodyPr>
          <a:lstStyle/>
          <a:p>
            <a:pPr algn="l"/>
            <a:r>
              <a:rPr sz="1100" b="0" i="0">
                <a:solidFill>
                  <a:srgbClr val="A0C4E8"/>
                </a:solidFill>
              </a:rPr>
              <a:t>警備サービス付加価値向上</a:t>
            </a:r>
          </a:p>
        </p:txBody>
      </p:sp>
      <p:sp>
        <p:nvSpPr>
          <p:cNvPr id="46" name="TextBox 45"/>
          <p:cNvSpPr txBox="1"/>
          <p:nvPr/>
        </p:nvSpPr>
        <p:spPr>
          <a:xfrm>
            <a:off x="6263640" y="4773168"/>
            <a:ext cx="5486400" cy="329184"/>
          </a:xfrm>
          <a:prstGeom prst="rect">
            <a:avLst/>
          </a:prstGeom>
          <a:noFill/>
        </p:spPr>
        <p:txBody>
          <a:bodyPr wrap="square">
            <a:spAutoFit/>
          </a:bodyPr>
          <a:lstStyle/>
          <a:p>
            <a:pPr algn="l"/>
            <a:r>
              <a:rPr sz="1300" b="1" i="0">
                <a:solidFill>
                  <a:srgbClr val="FFFFFF"/>
                </a:solidFill>
              </a:rPr>
              <a:t>契約単価アップ交渉の根拠：＋5〜15%</a:t>
            </a:r>
          </a:p>
        </p:txBody>
      </p:sp>
      <p:sp>
        <p:nvSpPr>
          <p:cNvPr id="47" name="TextBox 46"/>
          <p:cNvSpPr txBox="1"/>
          <p:nvPr/>
        </p:nvSpPr>
        <p:spPr>
          <a:xfrm>
            <a:off x="6263640" y="5093208"/>
            <a:ext cx="5486400" cy="274320"/>
          </a:xfrm>
          <a:prstGeom prst="rect">
            <a:avLst/>
          </a:prstGeom>
          <a:noFill/>
        </p:spPr>
        <p:txBody>
          <a:bodyPr wrap="square">
            <a:spAutoFit/>
          </a:bodyPr>
          <a:lstStyle/>
          <a:p>
            <a:pPr algn="l"/>
            <a:r>
              <a:rPr sz="1000" b="0" i="0">
                <a:solidFill>
                  <a:srgbClr val="7FB3D3"/>
                </a:solidFill>
              </a:rPr>
              <a:t>高度な通信インフラ整備を付加価値として料金に反映可能</a:t>
            </a:r>
          </a:p>
        </p:txBody>
      </p:sp>
      <p:sp>
        <p:nvSpPr>
          <p:cNvPr id="48" name="Rectangle 47"/>
          <p:cNvSpPr/>
          <p:nvPr/>
        </p:nvSpPr>
        <p:spPr>
          <a:xfrm>
            <a:off x="6263640" y="5486400"/>
            <a:ext cx="5486400" cy="914400"/>
          </a:xfrm>
          <a:prstGeom prst="rect">
            <a:avLst/>
          </a:prstGeom>
          <a:solidFill>
            <a:srgbClr val="083048"/>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63640" y="5559552"/>
            <a:ext cx="5486400" cy="457200"/>
          </a:xfrm>
          <a:prstGeom prst="rect">
            <a:avLst/>
          </a:prstGeom>
          <a:noFill/>
        </p:spPr>
        <p:txBody>
          <a:bodyPr wrap="square">
            <a:spAutoFit/>
          </a:bodyPr>
          <a:lstStyle/>
          <a:p>
            <a:pPr algn="ctr"/>
            <a:r>
              <a:rPr sz="1300" b="1" i="0">
                <a:solidFill>
                  <a:srgbClr val="00D4FF"/>
                </a:solidFill>
              </a:rPr>
              <a:t>年間コスト約17万円で  数百万〜数千万円のリスクを回避</a:t>
            </a:r>
          </a:p>
        </p:txBody>
      </p:sp>
      <p:sp>
        <p:nvSpPr>
          <p:cNvPr id="50" name="TextBox 49"/>
          <p:cNvSpPr txBox="1"/>
          <p:nvPr/>
        </p:nvSpPr>
        <p:spPr>
          <a:xfrm>
            <a:off x="6263640" y="6035040"/>
            <a:ext cx="5486400" cy="292608"/>
          </a:xfrm>
          <a:prstGeom prst="rect">
            <a:avLst/>
          </a:prstGeom>
          <a:noFill/>
        </p:spPr>
        <p:txBody>
          <a:bodyPr wrap="square">
            <a:spAutoFit/>
          </a:bodyPr>
          <a:lstStyle/>
          <a:p>
            <a:pPr algn="ctr"/>
            <a:r>
              <a:rPr sz="1100" b="0" i="0">
                <a:solidFill>
                  <a:srgbClr val="A0C4E8"/>
                </a:solidFill>
              </a:rPr>
              <a:t>ROI 1,000%超を達成</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14400"/>
          </a:xfrm>
          <a:prstGeom prst="rect">
            <a:avLst/>
          </a:prstGeom>
          <a:solidFill>
            <a:srgbClr val="0F3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37160"/>
            <a:ext cx="10515600" cy="640080"/>
          </a:xfrm>
          <a:prstGeom prst="rect">
            <a:avLst/>
          </a:prstGeom>
          <a:noFill/>
        </p:spPr>
        <p:txBody>
          <a:bodyPr wrap="square">
            <a:spAutoFit/>
          </a:bodyPr>
          <a:lstStyle/>
          <a:p>
            <a:pPr algn="l"/>
            <a:r>
              <a:rPr sz="2200" b="1" i="0">
                <a:solidFill>
                  <a:srgbClr val="FFFFFF"/>
                </a:solidFill>
              </a:rPr>
              <a:t>08 ｜ 導入ステップ ── 最短2週間で冗長化を実現</a:t>
            </a:r>
          </a:p>
        </p:txBody>
      </p:sp>
      <p:sp>
        <p:nvSpPr>
          <p:cNvPr id="5" name="Oval 4"/>
          <p:cNvSpPr/>
          <p:nvPr/>
        </p:nvSpPr>
        <p:spPr>
          <a:xfrm>
            <a:off x="11521440" y="182880"/>
            <a:ext cx="502920" cy="502920"/>
          </a:xfrm>
          <a:prstGeom prst="ellipse">
            <a:avLst/>
          </a:prstGeom>
          <a:solidFill>
            <a:srgbClr val="E945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rPr>
              <a:t>9</a:t>
            </a:r>
          </a:p>
        </p:txBody>
      </p:sp>
      <p:sp>
        <p:nvSpPr>
          <p:cNvPr id="6" name="Rectangle 5"/>
          <p:cNvSpPr/>
          <p:nvPr/>
        </p:nvSpPr>
        <p:spPr>
          <a:xfrm>
            <a:off x="274320" y="1024128"/>
            <a:ext cx="11640312" cy="9326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347472" y="1188720"/>
            <a:ext cx="594360" cy="594360"/>
          </a:xfrm>
          <a:prstGeom prst="ellipse">
            <a:avLst/>
          </a:prstGeom>
          <a:solidFill>
            <a:srgbClr val="0F3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rPr>
              <a:t>1</a:t>
            </a:r>
          </a:p>
        </p:txBody>
      </p:sp>
      <p:sp>
        <p:nvSpPr>
          <p:cNvPr id="8" name="TextBox 7"/>
          <p:cNvSpPr txBox="1"/>
          <p:nvPr/>
        </p:nvSpPr>
        <p:spPr>
          <a:xfrm>
            <a:off x="1051560" y="1097280"/>
            <a:ext cx="8046720" cy="347472"/>
          </a:xfrm>
          <a:prstGeom prst="rect">
            <a:avLst/>
          </a:prstGeom>
          <a:noFill/>
        </p:spPr>
        <p:txBody>
          <a:bodyPr wrap="square">
            <a:spAutoFit/>
          </a:bodyPr>
          <a:lstStyle/>
          <a:p>
            <a:pPr algn="l"/>
            <a:r>
              <a:rPr sz="1400" b="1" i="0">
                <a:solidFill>
                  <a:srgbClr val="0F3460"/>
                </a:solidFill>
              </a:rPr>
              <a:t>現地調査・通信環境診断</a:t>
            </a:r>
          </a:p>
        </p:txBody>
      </p:sp>
      <p:sp>
        <p:nvSpPr>
          <p:cNvPr id="9" name="TextBox 8"/>
          <p:cNvSpPr txBox="1"/>
          <p:nvPr/>
        </p:nvSpPr>
        <p:spPr>
          <a:xfrm>
            <a:off x="1051560" y="1444752"/>
            <a:ext cx="8046720" cy="475488"/>
          </a:xfrm>
          <a:prstGeom prst="rect">
            <a:avLst/>
          </a:prstGeom>
          <a:noFill/>
        </p:spPr>
        <p:txBody>
          <a:bodyPr wrap="square">
            <a:spAutoFit/>
          </a:bodyPr>
          <a:lstStyle/>
          <a:p>
            <a:pPr algn="l"/>
            <a:r>
              <a:rPr sz="1100" b="0" i="0">
                <a:solidFill>
                  <a:srgbClr val="555555"/>
                </a:solidFill>
              </a:rPr>
              <a:t>データセンター現地にて既存通信環境の確認、Starlink電波受信状況の調査、必要台数・設置場所の検討を実施。</a:t>
            </a:r>
          </a:p>
        </p:txBody>
      </p:sp>
      <p:sp>
        <p:nvSpPr>
          <p:cNvPr id="10" name="Rectangle 9"/>
          <p:cNvSpPr/>
          <p:nvPr/>
        </p:nvSpPr>
        <p:spPr>
          <a:xfrm>
            <a:off x="9464040" y="1280160"/>
            <a:ext cx="2286000" cy="384048"/>
          </a:xfrm>
          <a:prstGeom prst="rect">
            <a:avLst/>
          </a:prstGeom>
          <a:solidFill>
            <a:srgbClr val="0F3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64040" y="1280160"/>
            <a:ext cx="2286000" cy="384048"/>
          </a:xfrm>
          <a:prstGeom prst="rect">
            <a:avLst/>
          </a:prstGeom>
          <a:noFill/>
        </p:spPr>
        <p:txBody>
          <a:bodyPr wrap="square">
            <a:spAutoFit/>
          </a:bodyPr>
          <a:lstStyle/>
          <a:p>
            <a:pPr algn="ctr"/>
            <a:r>
              <a:rPr sz="1200" b="1" i="0">
                <a:solidFill>
                  <a:srgbClr val="FFFFFF"/>
                </a:solidFill>
              </a:rPr>
              <a:t>〜3日</a:t>
            </a:r>
          </a:p>
        </p:txBody>
      </p:sp>
      <p:sp>
        <p:nvSpPr>
          <p:cNvPr id="12" name="Rectangle 11"/>
          <p:cNvSpPr/>
          <p:nvPr/>
        </p:nvSpPr>
        <p:spPr>
          <a:xfrm>
            <a:off x="274320" y="2029968"/>
            <a:ext cx="11640312" cy="9326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47472" y="2194560"/>
            <a:ext cx="594360" cy="594360"/>
          </a:xfrm>
          <a:prstGeom prst="ellipse">
            <a:avLst/>
          </a:prstGeom>
          <a:solidFill>
            <a:srgbClr val="0F3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rPr>
              <a:t>2</a:t>
            </a:r>
          </a:p>
        </p:txBody>
      </p:sp>
      <p:sp>
        <p:nvSpPr>
          <p:cNvPr id="14" name="TextBox 13"/>
          <p:cNvSpPr txBox="1"/>
          <p:nvPr/>
        </p:nvSpPr>
        <p:spPr>
          <a:xfrm>
            <a:off x="1051560" y="2103120"/>
            <a:ext cx="8046720" cy="347472"/>
          </a:xfrm>
          <a:prstGeom prst="rect">
            <a:avLst/>
          </a:prstGeom>
          <a:noFill/>
        </p:spPr>
        <p:txBody>
          <a:bodyPr wrap="square">
            <a:spAutoFit/>
          </a:bodyPr>
          <a:lstStyle/>
          <a:p>
            <a:pPr algn="l"/>
            <a:r>
              <a:rPr sz="1400" b="1" i="0">
                <a:solidFill>
                  <a:srgbClr val="0F3460"/>
                </a:solidFill>
              </a:rPr>
              <a:t>正式お見積り・契約</a:t>
            </a:r>
          </a:p>
        </p:txBody>
      </p:sp>
      <p:sp>
        <p:nvSpPr>
          <p:cNvPr id="15" name="TextBox 14"/>
          <p:cNvSpPr txBox="1"/>
          <p:nvPr/>
        </p:nvSpPr>
        <p:spPr>
          <a:xfrm>
            <a:off x="1051560" y="2450592"/>
            <a:ext cx="8046720" cy="475488"/>
          </a:xfrm>
          <a:prstGeom prst="rect">
            <a:avLst/>
          </a:prstGeom>
          <a:noFill/>
        </p:spPr>
        <p:txBody>
          <a:bodyPr wrap="square">
            <a:spAutoFit/>
          </a:bodyPr>
          <a:lstStyle/>
          <a:p>
            <a:pPr algn="l"/>
            <a:r>
              <a:rPr sz="1100" b="0" i="0">
                <a:solidFill>
                  <a:srgbClr val="555555"/>
                </a:solidFill>
              </a:rPr>
              <a:t>調査結果をもとに最終的な機器台数・回線プラン・費用を提示。au法人営業担当と連携し最適なプランをご提案。</a:t>
            </a:r>
          </a:p>
        </p:txBody>
      </p:sp>
      <p:sp>
        <p:nvSpPr>
          <p:cNvPr id="16" name="Rectangle 15"/>
          <p:cNvSpPr/>
          <p:nvPr/>
        </p:nvSpPr>
        <p:spPr>
          <a:xfrm>
            <a:off x="9464040" y="2286000"/>
            <a:ext cx="2286000" cy="384048"/>
          </a:xfrm>
          <a:prstGeom prst="rect">
            <a:avLst/>
          </a:prstGeom>
          <a:solidFill>
            <a:srgbClr val="0F3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64040" y="2286000"/>
            <a:ext cx="2286000" cy="384048"/>
          </a:xfrm>
          <a:prstGeom prst="rect">
            <a:avLst/>
          </a:prstGeom>
          <a:noFill/>
        </p:spPr>
        <p:txBody>
          <a:bodyPr wrap="square">
            <a:spAutoFit/>
          </a:bodyPr>
          <a:lstStyle/>
          <a:p>
            <a:pPr algn="ctr"/>
            <a:r>
              <a:rPr sz="1200" b="1" i="0">
                <a:solidFill>
                  <a:srgbClr val="FFFFFF"/>
                </a:solidFill>
              </a:rPr>
              <a:t>〜5日</a:t>
            </a:r>
          </a:p>
        </p:txBody>
      </p:sp>
      <p:sp>
        <p:nvSpPr>
          <p:cNvPr id="18" name="Rectangle 17"/>
          <p:cNvSpPr/>
          <p:nvPr/>
        </p:nvSpPr>
        <p:spPr>
          <a:xfrm>
            <a:off x="274320" y="3035808"/>
            <a:ext cx="11640312" cy="9326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47472" y="3200400"/>
            <a:ext cx="594360" cy="594360"/>
          </a:xfrm>
          <a:prstGeom prst="ellipse">
            <a:avLst/>
          </a:prstGeom>
          <a:solidFill>
            <a:srgbClr val="0F3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rPr>
              <a:t>3</a:t>
            </a:r>
          </a:p>
        </p:txBody>
      </p:sp>
      <p:sp>
        <p:nvSpPr>
          <p:cNvPr id="20" name="TextBox 19"/>
          <p:cNvSpPr txBox="1"/>
          <p:nvPr/>
        </p:nvSpPr>
        <p:spPr>
          <a:xfrm>
            <a:off x="1051560" y="3108960"/>
            <a:ext cx="8046720" cy="347472"/>
          </a:xfrm>
          <a:prstGeom prst="rect">
            <a:avLst/>
          </a:prstGeom>
          <a:noFill/>
        </p:spPr>
        <p:txBody>
          <a:bodyPr wrap="square">
            <a:spAutoFit/>
          </a:bodyPr>
          <a:lstStyle/>
          <a:p>
            <a:pPr algn="l"/>
            <a:r>
              <a:rPr sz="1400" b="1" i="0">
                <a:solidFill>
                  <a:srgbClr val="0F3460"/>
                </a:solidFill>
              </a:rPr>
              <a:t>機器調達・初期設定</a:t>
            </a:r>
          </a:p>
        </p:txBody>
      </p:sp>
      <p:sp>
        <p:nvSpPr>
          <p:cNvPr id="21" name="TextBox 20"/>
          <p:cNvSpPr txBox="1"/>
          <p:nvPr/>
        </p:nvSpPr>
        <p:spPr>
          <a:xfrm>
            <a:off x="1051560" y="3456432"/>
            <a:ext cx="8046720" cy="475488"/>
          </a:xfrm>
          <a:prstGeom prst="rect">
            <a:avLst/>
          </a:prstGeom>
          <a:noFill/>
        </p:spPr>
        <p:txBody>
          <a:bodyPr wrap="square">
            <a:spAutoFit/>
          </a:bodyPr>
          <a:lstStyle/>
          <a:p>
            <a:pPr algn="l"/>
            <a:r>
              <a:rPr sz="1100" b="0" i="0">
                <a:solidFill>
                  <a:srgbClr val="555555"/>
                </a:solidFill>
              </a:rPr>
              <a:t>au Starlink対応スマートフォンの法人購入手続き、SIM発行、MDM設定、緊急連絡先の登録を弊社にて実施。</a:t>
            </a:r>
          </a:p>
        </p:txBody>
      </p:sp>
      <p:sp>
        <p:nvSpPr>
          <p:cNvPr id="22" name="Rectangle 21"/>
          <p:cNvSpPr/>
          <p:nvPr/>
        </p:nvSpPr>
        <p:spPr>
          <a:xfrm>
            <a:off x="9464040" y="3291840"/>
            <a:ext cx="2286000" cy="384048"/>
          </a:xfrm>
          <a:prstGeom prst="rect">
            <a:avLst/>
          </a:prstGeom>
          <a:solidFill>
            <a:srgbClr val="0F3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64040" y="3291840"/>
            <a:ext cx="2286000" cy="384048"/>
          </a:xfrm>
          <a:prstGeom prst="rect">
            <a:avLst/>
          </a:prstGeom>
          <a:noFill/>
        </p:spPr>
        <p:txBody>
          <a:bodyPr wrap="square">
            <a:spAutoFit/>
          </a:bodyPr>
          <a:lstStyle/>
          <a:p>
            <a:pPr algn="ctr"/>
            <a:r>
              <a:rPr sz="1200" b="1" i="0">
                <a:solidFill>
                  <a:srgbClr val="FFFFFF"/>
                </a:solidFill>
              </a:rPr>
              <a:t>〜7日</a:t>
            </a:r>
          </a:p>
        </p:txBody>
      </p:sp>
      <p:sp>
        <p:nvSpPr>
          <p:cNvPr id="24" name="Rectangle 23"/>
          <p:cNvSpPr/>
          <p:nvPr/>
        </p:nvSpPr>
        <p:spPr>
          <a:xfrm>
            <a:off x="274320" y="4041648"/>
            <a:ext cx="11640312" cy="9326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47472" y="4206240"/>
            <a:ext cx="594360" cy="594360"/>
          </a:xfrm>
          <a:prstGeom prst="ellipse">
            <a:avLst/>
          </a:prstGeom>
          <a:solidFill>
            <a:srgbClr val="0F3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rPr>
              <a:t>4</a:t>
            </a:r>
          </a:p>
        </p:txBody>
      </p:sp>
      <p:sp>
        <p:nvSpPr>
          <p:cNvPr id="26" name="TextBox 25"/>
          <p:cNvSpPr txBox="1"/>
          <p:nvPr/>
        </p:nvSpPr>
        <p:spPr>
          <a:xfrm>
            <a:off x="1051560" y="4114800"/>
            <a:ext cx="8046720" cy="347472"/>
          </a:xfrm>
          <a:prstGeom prst="rect">
            <a:avLst/>
          </a:prstGeom>
          <a:noFill/>
        </p:spPr>
        <p:txBody>
          <a:bodyPr wrap="square">
            <a:spAutoFit/>
          </a:bodyPr>
          <a:lstStyle/>
          <a:p>
            <a:pPr algn="l"/>
            <a:r>
              <a:rPr sz="1400" b="1" i="0">
                <a:solidFill>
                  <a:srgbClr val="0F3460"/>
                </a:solidFill>
              </a:rPr>
              <a:t>警備員向けトレーニング（半日）</a:t>
            </a:r>
          </a:p>
        </p:txBody>
      </p:sp>
      <p:sp>
        <p:nvSpPr>
          <p:cNvPr id="27" name="TextBox 26"/>
          <p:cNvSpPr txBox="1"/>
          <p:nvPr/>
        </p:nvSpPr>
        <p:spPr>
          <a:xfrm>
            <a:off x="1051560" y="4462272"/>
            <a:ext cx="8046720" cy="475488"/>
          </a:xfrm>
          <a:prstGeom prst="rect">
            <a:avLst/>
          </a:prstGeom>
          <a:noFill/>
        </p:spPr>
        <p:txBody>
          <a:bodyPr wrap="square">
            <a:spAutoFit/>
          </a:bodyPr>
          <a:lstStyle/>
          <a:p>
            <a:pPr algn="l"/>
            <a:r>
              <a:rPr sz="1100" b="0" i="0">
                <a:solidFill>
                  <a:srgbClr val="555555"/>
                </a:solidFill>
              </a:rPr>
              <a:t>現場警備員に対して端末操作・切替確認方法・緊急時の連絡フローをレクチャー。操作マニュアルも提供。</a:t>
            </a:r>
          </a:p>
        </p:txBody>
      </p:sp>
      <p:sp>
        <p:nvSpPr>
          <p:cNvPr id="28" name="Rectangle 27"/>
          <p:cNvSpPr/>
          <p:nvPr/>
        </p:nvSpPr>
        <p:spPr>
          <a:xfrm>
            <a:off x="9464040" y="4297680"/>
            <a:ext cx="2286000" cy="384048"/>
          </a:xfrm>
          <a:prstGeom prst="rect">
            <a:avLst/>
          </a:prstGeom>
          <a:solidFill>
            <a:srgbClr val="0F3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464040" y="4297680"/>
            <a:ext cx="2286000" cy="384048"/>
          </a:xfrm>
          <a:prstGeom prst="rect">
            <a:avLst/>
          </a:prstGeom>
          <a:noFill/>
        </p:spPr>
        <p:txBody>
          <a:bodyPr wrap="square">
            <a:spAutoFit/>
          </a:bodyPr>
          <a:lstStyle/>
          <a:p>
            <a:pPr algn="ctr"/>
            <a:r>
              <a:rPr sz="1200" b="1" i="0">
                <a:solidFill>
                  <a:srgbClr val="FFFFFF"/>
                </a:solidFill>
              </a:rPr>
              <a:t>半日</a:t>
            </a:r>
          </a:p>
        </p:txBody>
      </p:sp>
      <p:sp>
        <p:nvSpPr>
          <p:cNvPr id="30" name="Rectangle 29"/>
          <p:cNvSpPr/>
          <p:nvPr/>
        </p:nvSpPr>
        <p:spPr>
          <a:xfrm>
            <a:off x="274320" y="5047488"/>
            <a:ext cx="11640312" cy="9326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47472" y="5212080"/>
            <a:ext cx="594360" cy="594360"/>
          </a:xfrm>
          <a:prstGeom prst="ellipse">
            <a:avLst/>
          </a:prstGeom>
          <a:solidFill>
            <a:srgbClr val="0F3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rPr>
              <a:t>5</a:t>
            </a:r>
          </a:p>
        </p:txBody>
      </p:sp>
      <p:sp>
        <p:nvSpPr>
          <p:cNvPr id="32" name="TextBox 31"/>
          <p:cNvSpPr txBox="1"/>
          <p:nvPr/>
        </p:nvSpPr>
        <p:spPr>
          <a:xfrm>
            <a:off x="1051560" y="5120640"/>
            <a:ext cx="8046720" cy="347472"/>
          </a:xfrm>
          <a:prstGeom prst="rect">
            <a:avLst/>
          </a:prstGeom>
          <a:noFill/>
        </p:spPr>
        <p:txBody>
          <a:bodyPr wrap="square">
            <a:spAutoFit/>
          </a:bodyPr>
          <a:lstStyle/>
          <a:p>
            <a:pPr algn="l"/>
            <a:r>
              <a:rPr sz="1400" b="1" i="0">
                <a:solidFill>
                  <a:srgbClr val="0F3460"/>
                </a:solidFill>
              </a:rPr>
              <a:t>本番運用開始・動作確認テスト</a:t>
            </a:r>
          </a:p>
        </p:txBody>
      </p:sp>
      <p:sp>
        <p:nvSpPr>
          <p:cNvPr id="33" name="TextBox 32"/>
          <p:cNvSpPr txBox="1"/>
          <p:nvPr/>
        </p:nvSpPr>
        <p:spPr>
          <a:xfrm>
            <a:off x="1051560" y="5468112"/>
            <a:ext cx="8046720" cy="475488"/>
          </a:xfrm>
          <a:prstGeom prst="rect">
            <a:avLst/>
          </a:prstGeom>
          <a:noFill/>
        </p:spPr>
        <p:txBody>
          <a:bodyPr wrap="square">
            <a:spAutoFit/>
          </a:bodyPr>
          <a:lstStyle/>
          <a:p>
            <a:pPr algn="l"/>
            <a:r>
              <a:rPr sz="1100" b="0" i="0">
                <a:solidFill>
                  <a:srgbClr val="555555"/>
                </a:solidFill>
              </a:rPr>
              <a:t>本番環境での稼働開始。地上回線を意図的に切断してStarlink自動切替を確認する「冗長化テスト」を実施しレポート提出。</a:t>
            </a:r>
          </a:p>
        </p:txBody>
      </p:sp>
      <p:sp>
        <p:nvSpPr>
          <p:cNvPr id="34" name="Rectangle 33"/>
          <p:cNvSpPr/>
          <p:nvPr/>
        </p:nvSpPr>
        <p:spPr>
          <a:xfrm>
            <a:off x="9464040" y="5303520"/>
            <a:ext cx="2286000" cy="384048"/>
          </a:xfrm>
          <a:prstGeom prst="rect">
            <a:avLst/>
          </a:prstGeom>
          <a:solidFill>
            <a:srgbClr val="E945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464040" y="5303520"/>
            <a:ext cx="2286000" cy="384048"/>
          </a:xfrm>
          <a:prstGeom prst="rect">
            <a:avLst/>
          </a:prstGeom>
          <a:noFill/>
        </p:spPr>
        <p:txBody>
          <a:bodyPr wrap="square">
            <a:spAutoFit/>
          </a:bodyPr>
          <a:lstStyle/>
          <a:p>
            <a:pPr algn="ctr"/>
            <a:r>
              <a:rPr sz="1200" b="1" i="0">
                <a:solidFill>
                  <a:srgbClr val="FFFFFF"/>
                </a:solidFill>
              </a:rPr>
              <a:t>運用開始</a:t>
            </a:r>
          </a:p>
        </p:txBody>
      </p:sp>
      <p:sp>
        <p:nvSpPr>
          <p:cNvPr id="36" name="Rectangle 35"/>
          <p:cNvSpPr/>
          <p:nvPr/>
        </p:nvSpPr>
        <p:spPr>
          <a:xfrm>
            <a:off x="274320" y="6035040"/>
            <a:ext cx="11640312"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1480" y="6080760"/>
            <a:ext cx="11430000" cy="502920"/>
          </a:xfrm>
          <a:prstGeom prst="rect">
            <a:avLst/>
          </a:prstGeom>
          <a:noFill/>
        </p:spPr>
        <p:txBody>
          <a:bodyPr wrap="square">
            <a:spAutoFit/>
          </a:bodyPr>
          <a:lstStyle/>
          <a:p>
            <a:pPr algn="l"/>
            <a:r>
              <a:rPr sz="1200" b="0" i="0">
                <a:solidFill>
                  <a:srgbClr val="0F3460"/>
                </a:solidFill>
              </a:rPr>
              <a:t>📋  アフターサポート：月次の通信ログ確認・年次の冗長化訓練ご支援・機器更新時の移行サポートを提供。長期的な通信品質維持をお約束します。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F3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803136"/>
            <a:ext cx="12188952" cy="54864"/>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37160"/>
            <a:ext cx="10972800" cy="502920"/>
          </a:xfrm>
          <a:prstGeom prst="rect">
            <a:avLst/>
          </a:prstGeom>
          <a:noFill/>
        </p:spPr>
        <p:txBody>
          <a:bodyPr wrap="square">
            <a:spAutoFit/>
          </a:bodyPr>
          <a:lstStyle/>
          <a:p>
            <a:pPr algn="l"/>
            <a:r>
              <a:rPr sz="1400" b="0" i="0">
                <a:solidFill>
                  <a:srgbClr val="A0C4E8"/>
                </a:solidFill>
              </a:rPr>
              <a:t>09 ｜ まとめ</a:t>
            </a:r>
          </a:p>
        </p:txBody>
      </p:sp>
      <p:sp>
        <p:nvSpPr>
          <p:cNvPr id="6" name="TextBox 5"/>
          <p:cNvSpPr txBox="1"/>
          <p:nvPr/>
        </p:nvSpPr>
        <p:spPr>
          <a:xfrm>
            <a:off x="457200" y="713232"/>
            <a:ext cx="11274552" cy="640080"/>
          </a:xfrm>
          <a:prstGeom prst="rect">
            <a:avLst/>
          </a:prstGeom>
          <a:noFill/>
        </p:spPr>
        <p:txBody>
          <a:bodyPr wrap="square">
            <a:spAutoFit/>
          </a:bodyPr>
          <a:lstStyle/>
          <a:p>
            <a:pPr algn="ctr"/>
            <a:r>
              <a:rPr sz="2800" b="1" i="0">
                <a:solidFill>
                  <a:srgbClr val="FFFFFF"/>
                </a:solidFill>
              </a:rPr>
              <a:t>なぜ、今すぐ「通信冗長化」が必要なのか</a:t>
            </a:r>
          </a:p>
        </p:txBody>
      </p:sp>
      <p:sp>
        <p:nvSpPr>
          <p:cNvPr id="7" name="Rectangle 6"/>
          <p:cNvSpPr/>
          <p:nvPr/>
        </p:nvSpPr>
        <p:spPr>
          <a:xfrm>
            <a:off x="3657600" y="1353312"/>
            <a:ext cx="4873752" cy="45720"/>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508760"/>
            <a:ext cx="3703320" cy="3200400"/>
          </a:xfrm>
          <a:prstGeom prst="rect">
            <a:avLst/>
          </a:prstGeom>
          <a:solidFill>
            <a:srgbClr val="142A48"/>
          </a:solidFill>
          <a:ln w="6350">
            <a:solidFill>
              <a:srgbClr val="306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600200"/>
            <a:ext cx="3703320" cy="777240"/>
          </a:xfrm>
          <a:prstGeom prst="rect">
            <a:avLst/>
          </a:prstGeom>
          <a:noFill/>
        </p:spPr>
        <p:txBody>
          <a:bodyPr wrap="square">
            <a:spAutoFit/>
          </a:bodyPr>
          <a:lstStyle/>
          <a:p>
            <a:pPr algn="ctr"/>
            <a:r>
              <a:rPr sz="3600" b="0" i="0">
                <a:solidFill>
                  <a:srgbClr val="FFFFFF"/>
                </a:solidFill>
              </a:rPr>
              <a:t>🛰️</a:t>
            </a:r>
          </a:p>
        </p:txBody>
      </p:sp>
      <p:sp>
        <p:nvSpPr>
          <p:cNvPr id="10" name="TextBox 9"/>
          <p:cNvSpPr txBox="1"/>
          <p:nvPr/>
        </p:nvSpPr>
        <p:spPr>
          <a:xfrm>
            <a:off x="365760" y="2423160"/>
            <a:ext cx="3703320" cy="411480"/>
          </a:xfrm>
          <a:prstGeom prst="rect">
            <a:avLst/>
          </a:prstGeom>
          <a:noFill/>
        </p:spPr>
        <p:txBody>
          <a:bodyPr wrap="square">
            <a:spAutoFit/>
          </a:bodyPr>
          <a:lstStyle/>
          <a:p>
            <a:pPr algn="ctr"/>
            <a:r>
              <a:rPr sz="1500" b="1" i="0">
                <a:solidFill>
                  <a:srgbClr val="00D4FF"/>
                </a:solidFill>
              </a:rPr>
              <a:t>技術的優位性</a:t>
            </a:r>
          </a:p>
        </p:txBody>
      </p:sp>
      <p:sp>
        <p:nvSpPr>
          <p:cNvPr id="11" name="TextBox 10"/>
          <p:cNvSpPr txBox="1"/>
          <p:nvPr/>
        </p:nvSpPr>
        <p:spPr>
          <a:xfrm>
            <a:off x="502920" y="2907792"/>
            <a:ext cx="3429000" cy="1737360"/>
          </a:xfrm>
          <a:prstGeom prst="rect">
            <a:avLst/>
          </a:prstGeom>
          <a:noFill/>
        </p:spPr>
        <p:txBody>
          <a:bodyPr wrap="square">
            <a:spAutoFit/>
          </a:bodyPr>
          <a:lstStyle/>
          <a:p>
            <a:pPr algn="l"/>
            <a:r>
              <a:rPr sz="1200" b="0" i="0">
                <a:solidFill>
                  <a:srgbClr val="A0C4E8"/>
                </a:solidFill>
              </a:rPr>
              <a:t>Starlink衛星直接通信により、地上インフラに依存しない真の冗長化を実現。競合他社が持ち得ない差別化ポイント。</a:t>
            </a:r>
          </a:p>
        </p:txBody>
      </p:sp>
      <p:sp>
        <p:nvSpPr>
          <p:cNvPr id="12" name="Rectangle 11"/>
          <p:cNvSpPr/>
          <p:nvPr/>
        </p:nvSpPr>
        <p:spPr>
          <a:xfrm>
            <a:off x="4297680" y="1508760"/>
            <a:ext cx="3703320" cy="3200400"/>
          </a:xfrm>
          <a:prstGeom prst="rect">
            <a:avLst/>
          </a:prstGeom>
          <a:solidFill>
            <a:srgbClr val="142A48"/>
          </a:solidFill>
          <a:ln w="6350">
            <a:solidFill>
              <a:srgbClr val="306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600200"/>
            <a:ext cx="3703320" cy="777240"/>
          </a:xfrm>
          <a:prstGeom prst="rect">
            <a:avLst/>
          </a:prstGeom>
          <a:noFill/>
        </p:spPr>
        <p:txBody>
          <a:bodyPr wrap="square">
            <a:spAutoFit/>
          </a:bodyPr>
          <a:lstStyle/>
          <a:p>
            <a:pPr algn="ctr"/>
            <a:r>
              <a:rPr sz="3600" b="0" i="0">
                <a:solidFill>
                  <a:srgbClr val="FFFFFF"/>
                </a:solidFill>
              </a:rPr>
              <a:t>🛡️</a:t>
            </a:r>
          </a:p>
        </p:txBody>
      </p:sp>
      <p:sp>
        <p:nvSpPr>
          <p:cNvPr id="14" name="TextBox 13"/>
          <p:cNvSpPr txBox="1"/>
          <p:nvPr/>
        </p:nvSpPr>
        <p:spPr>
          <a:xfrm>
            <a:off x="4297680" y="2423160"/>
            <a:ext cx="3703320" cy="411480"/>
          </a:xfrm>
          <a:prstGeom prst="rect">
            <a:avLst/>
          </a:prstGeom>
          <a:noFill/>
        </p:spPr>
        <p:txBody>
          <a:bodyPr wrap="square">
            <a:spAutoFit/>
          </a:bodyPr>
          <a:lstStyle/>
          <a:p>
            <a:pPr algn="ctr"/>
            <a:r>
              <a:rPr sz="1500" b="1" i="0">
                <a:solidFill>
                  <a:srgbClr val="00D4FF"/>
                </a:solidFill>
              </a:rPr>
              <a:t>リスクヘッジ</a:t>
            </a:r>
          </a:p>
        </p:txBody>
      </p:sp>
      <p:sp>
        <p:nvSpPr>
          <p:cNvPr id="15" name="TextBox 14"/>
          <p:cNvSpPr txBox="1"/>
          <p:nvPr/>
        </p:nvSpPr>
        <p:spPr>
          <a:xfrm>
            <a:off x="4434840" y="2907792"/>
            <a:ext cx="3429000" cy="1737360"/>
          </a:xfrm>
          <a:prstGeom prst="rect">
            <a:avLst/>
          </a:prstGeom>
          <a:noFill/>
        </p:spPr>
        <p:txBody>
          <a:bodyPr wrap="square">
            <a:spAutoFit/>
          </a:bodyPr>
          <a:lstStyle/>
          <a:p>
            <a:pPr algn="l"/>
            <a:r>
              <a:rPr sz="1200" b="0" i="0">
                <a:solidFill>
                  <a:srgbClr val="A0C4E8"/>
                </a:solidFill>
              </a:rPr>
              <a:t>年間わずか約17万円の投資で、数千万円規模の賠償・逸失利益リスクを回避。ROI 1,000%超の合理的投資。</a:t>
            </a:r>
          </a:p>
        </p:txBody>
      </p:sp>
      <p:sp>
        <p:nvSpPr>
          <p:cNvPr id="16" name="Rectangle 15"/>
          <p:cNvSpPr/>
          <p:nvPr/>
        </p:nvSpPr>
        <p:spPr>
          <a:xfrm>
            <a:off x="8229600" y="1508760"/>
            <a:ext cx="3703320" cy="3200400"/>
          </a:xfrm>
          <a:prstGeom prst="rect">
            <a:avLst/>
          </a:prstGeom>
          <a:solidFill>
            <a:srgbClr val="142A48"/>
          </a:solidFill>
          <a:ln w="6350">
            <a:solidFill>
              <a:srgbClr val="306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0" y="1600200"/>
            <a:ext cx="3703320" cy="777240"/>
          </a:xfrm>
          <a:prstGeom prst="rect">
            <a:avLst/>
          </a:prstGeom>
          <a:noFill/>
        </p:spPr>
        <p:txBody>
          <a:bodyPr wrap="square">
            <a:spAutoFit/>
          </a:bodyPr>
          <a:lstStyle/>
          <a:p>
            <a:pPr algn="ctr"/>
            <a:r>
              <a:rPr sz="3600" b="0" i="0">
                <a:solidFill>
                  <a:srgbClr val="FFFFFF"/>
                </a:solidFill>
              </a:rPr>
              <a:t>📈</a:t>
            </a:r>
          </a:p>
        </p:txBody>
      </p:sp>
      <p:sp>
        <p:nvSpPr>
          <p:cNvPr id="18" name="TextBox 17"/>
          <p:cNvSpPr txBox="1"/>
          <p:nvPr/>
        </p:nvSpPr>
        <p:spPr>
          <a:xfrm>
            <a:off x="8229600" y="2423160"/>
            <a:ext cx="3703320" cy="411480"/>
          </a:xfrm>
          <a:prstGeom prst="rect">
            <a:avLst/>
          </a:prstGeom>
          <a:noFill/>
        </p:spPr>
        <p:txBody>
          <a:bodyPr wrap="square">
            <a:spAutoFit/>
          </a:bodyPr>
          <a:lstStyle/>
          <a:p>
            <a:pPr algn="ctr"/>
            <a:r>
              <a:rPr sz="1500" b="1" i="0">
                <a:solidFill>
                  <a:srgbClr val="00D4FF"/>
                </a:solidFill>
              </a:rPr>
              <a:t>ビジネス拡大</a:t>
            </a:r>
          </a:p>
        </p:txBody>
      </p:sp>
      <p:sp>
        <p:nvSpPr>
          <p:cNvPr id="19" name="TextBox 18"/>
          <p:cNvSpPr txBox="1"/>
          <p:nvPr/>
        </p:nvSpPr>
        <p:spPr>
          <a:xfrm>
            <a:off x="8366760" y="2907792"/>
            <a:ext cx="3429000" cy="1737360"/>
          </a:xfrm>
          <a:prstGeom prst="rect">
            <a:avLst/>
          </a:prstGeom>
          <a:noFill/>
        </p:spPr>
        <p:txBody>
          <a:bodyPr wrap="square">
            <a:spAutoFit/>
          </a:bodyPr>
          <a:lstStyle/>
          <a:p>
            <a:pPr algn="l"/>
            <a:r>
              <a:rPr sz="1200" b="0" i="0">
                <a:solidFill>
                  <a:srgbClr val="A0C4E8"/>
                </a:solidFill>
              </a:rPr>
              <a:t>「Starlink冗長対応」を訴求ポイントとし、データセンターの新規受注獲得・既存契約の単価向上に直結。</a:t>
            </a:r>
          </a:p>
        </p:txBody>
      </p:sp>
      <p:sp>
        <p:nvSpPr>
          <p:cNvPr id="20" name="Rectangle 19"/>
          <p:cNvSpPr/>
          <p:nvPr/>
        </p:nvSpPr>
        <p:spPr>
          <a:xfrm>
            <a:off x="365760" y="4892040"/>
            <a:ext cx="11457432" cy="1691640"/>
          </a:xfrm>
          <a:prstGeom prst="rect">
            <a:avLst/>
          </a:prstGeom>
          <a:solidFill>
            <a:srgbClr val="E945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983480"/>
            <a:ext cx="11274552" cy="502920"/>
          </a:xfrm>
          <a:prstGeom prst="rect">
            <a:avLst/>
          </a:prstGeom>
          <a:noFill/>
        </p:spPr>
        <p:txBody>
          <a:bodyPr wrap="square">
            <a:spAutoFit/>
          </a:bodyPr>
          <a:lstStyle/>
          <a:p>
            <a:pPr algn="ctr"/>
            <a:r>
              <a:rPr sz="2000" b="1" i="0">
                <a:solidFill>
                  <a:srgbClr val="FFFFFF"/>
                </a:solidFill>
              </a:rPr>
              <a:t>🚀  まずは無料の現地調査からはじめましょう</a:t>
            </a:r>
          </a:p>
        </p:txBody>
      </p:sp>
      <p:sp>
        <p:nvSpPr>
          <p:cNvPr id="22" name="TextBox 21"/>
          <p:cNvSpPr txBox="1"/>
          <p:nvPr/>
        </p:nvSpPr>
        <p:spPr>
          <a:xfrm>
            <a:off x="457200" y="5504688"/>
            <a:ext cx="11274552" cy="822960"/>
          </a:xfrm>
          <a:prstGeom prst="rect">
            <a:avLst/>
          </a:prstGeom>
          <a:noFill/>
        </p:spPr>
        <p:txBody>
          <a:bodyPr wrap="square">
            <a:spAutoFit/>
          </a:bodyPr>
          <a:lstStyle/>
          <a:p>
            <a:pPr algn="ctr"/>
            <a:r>
              <a:rPr sz="1300" b="0" i="0">
                <a:solidFill>
                  <a:srgbClr val="FFDDDD"/>
                </a:solidFill>
              </a:rPr>
              <a:t>御社のデータセンターの通信環境を診断し、最適な冗長化プランをご提示します。
ご興味をお持ちでしたら、担当者よりご連絡させていただきます。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