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B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0B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0D8"/>
                </a:solidFill>
              </a:rPr>
              <a:t>提案資料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データセンター警備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0D8"/>
                </a:solidFill>
              </a:rPr>
              <a:t>通信冗長化ソリューションのご提案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834640"/>
            <a:ext cx="6702552" cy="45720"/>
          </a:xfrm>
          <a:prstGeom prst="rect">
            <a:avLst/>
          </a:prstGeom>
          <a:solidFill>
            <a:srgbClr val="4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AACCEE"/>
                </a:solidFill>
              </a:rPr>
              <a:t>au スターリンク対応スマートフォンで
災害時でも途絶えない警備通信を実現します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480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333333"/>
                </a:solidFill>
              </a:rPr>
              <a:t>🛡️  🛰️  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350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799BB"/>
                </a:solidFill>
              </a:rPr>
              <a:t>2026年6月　　○○警備株式会社　営業部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00B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現状の課題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3749039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E0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188720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333333"/>
                </a:solidFill>
              </a:rPr>
              <a:t>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20574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04050"/>
                </a:solidFill>
              </a:rPr>
              <a:t>地上回線への一本依存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69748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地震・台風・大規模停電で携帯基地局がダウンすると
警備本部・警察・消防との連絡が完全に途絶える。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9392" y="1097280"/>
            <a:ext cx="3749039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E0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79392" y="1188720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333333"/>
                </a:solidFill>
              </a:rPr>
              <a:t>⚠️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6552" y="20574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04050"/>
                </a:solidFill>
              </a:rPr>
              <a:t>単一障害点（SPOF）のリスク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6552" y="269748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通信手段が1系統のみでは、1点の障害が
警備体制全体の崩壊につながる。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84464" y="1097280"/>
            <a:ext cx="3749039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E0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1188720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333333"/>
                </a:solidFill>
              </a:rPr>
              <a:t>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21624" y="20574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04050"/>
                </a:solidFill>
              </a:rPr>
              <a:t>顧客BCP要件への未対応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1624" y="269748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データセンター顧客のBCP基準が高度化しており
通信冗長化の未整備は契約上のリスクになる。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349240"/>
            <a:ext cx="11640312" cy="822960"/>
          </a:xfrm>
          <a:prstGeom prst="rect">
            <a:avLst/>
          </a:prstGeom>
          <a:solidFill>
            <a:srgbClr val="FFEEEE"/>
          </a:solidFill>
          <a:ln w="12700">
            <a:solidFill>
              <a:srgbClr val="E0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48640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BB2222"/>
                </a:solidFill>
              </a:rPr>
              <a:t>⚠️  「通信が途絶える警備」は、警備していないに等しい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00B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ご提案：au スターリンク対応スマートフォンの現場配備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2468880" cy="18288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659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第1回線
固定回線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6002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3A6B"/>
                </a:solidFill>
              </a:rPr>
              <a:t>＋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1097280"/>
            <a:ext cx="2468880" cy="18288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11430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19659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第2回線
携帯（4G/5G）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6002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3A6B"/>
                </a:solidFill>
              </a:rPr>
              <a:t>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0" y="1097280"/>
            <a:ext cx="2468880" cy="1828800"/>
          </a:xfrm>
          <a:prstGeom prst="rect">
            <a:avLst/>
          </a:prstGeom>
          <a:solidFill>
            <a:srgbClr val="E04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11430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🛰️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19659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第3回線【新設】
au Starlink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16002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3A6B"/>
                </a:solidFill>
              </a:rPr>
              <a:t>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06840" y="1097280"/>
            <a:ext cx="2834640" cy="1828800"/>
          </a:xfrm>
          <a:prstGeom prst="rect">
            <a:avLst/>
          </a:prstGeom>
          <a:solidFill>
            <a:srgbClr val="229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114300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196596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完全冗長化
通信を確保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108960"/>
            <a:ext cx="571500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108960"/>
            <a:ext cx="109728" cy="1554480"/>
          </a:xfrm>
          <a:prstGeom prst="rect">
            <a:avLst/>
          </a:prstGeom>
          <a:solidFill>
            <a:srgbClr val="00B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218688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6B"/>
                </a:solidFill>
              </a:rPr>
              <a:t>🛰️ 衛星から直接通信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657600"/>
            <a:ext cx="5349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</a:rPr>
              <a:t>地上インフラが壊滅しても宇宙から通信を確保。基地局ダウンの影響ゼロ。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3108960"/>
            <a:ext cx="571500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5080" y="3108960"/>
            <a:ext cx="109728" cy="1554480"/>
          </a:xfrm>
          <a:prstGeom prst="rect">
            <a:avLst/>
          </a:prstGeom>
          <a:solidFill>
            <a:srgbClr val="00B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3218688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6B"/>
                </a:solidFill>
              </a:rPr>
              <a:t>📲 スマホ1台で完結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657600"/>
            <a:ext cx="5349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</a:rPr>
              <a:t>大型アンテナ不要・工事不要。配備するだけで翌日から運用できます。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800600"/>
            <a:ext cx="571500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4800600"/>
            <a:ext cx="109728" cy="1554480"/>
          </a:xfrm>
          <a:prstGeom prst="rect">
            <a:avLst/>
          </a:prstGeom>
          <a:solidFill>
            <a:srgbClr val="00B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4910328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6B"/>
                </a:solidFill>
              </a:rPr>
              <a:t>🔄 自動切り替え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349240"/>
            <a:ext cx="5349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</a:rPr>
              <a:t>警備員の操作なしで地上回線→衛星回線へ自動フェイルオーバー。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5080" y="4800600"/>
            <a:ext cx="571500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55080" y="4800600"/>
            <a:ext cx="109728" cy="1554480"/>
          </a:xfrm>
          <a:prstGeom prst="rect">
            <a:avLst/>
          </a:prstGeom>
          <a:solidFill>
            <a:srgbClr val="00B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4910328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6B"/>
                </a:solidFill>
              </a:rPr>
              <a:t>🔋 72時間継続稼働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5349240"/>
            <a:ext cx="5349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</a:rPr>
              <a:t>UPS・非常用電源に対応。停電が続いても72時間以上通信を維持。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00B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導入効果と概算費用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5577840" cy="548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A6B"/>
                </a:solidFill>
              </a:rPr>
              <a:t>📊  導入効果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72768"/>
            <a:ext cx="5577840" cy="45720"/>
          </a:xfrm>
          <a:prstGeom prst="rect">
            <a:avLst/>
          </a:prstGeom>
          <a:solidFill>
            <a:srgbClr val="00B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691640"/>
            <a:ext cx="5577840" cy="86868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7647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</a:rPr>
              <a:t>通信可用性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173736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A6B"/>
                </a:solidFill>
              </a:rPr>
              <a:t>99.9%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14884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3系統冗長化で年間ダウンタイム8.7時間以下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587752"/>
            <a:ext cx="557784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66090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</a:rPr>
              <a:t>自動切替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263347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A6B"/>
                </a:solidFill>
              </a:rPr>
              <a:t>0秒の操作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304495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警備員の操作なしで自動切替完了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483864"/>
            <a:ext cx="5577840" cy="86868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55701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</a:rPr>
              <a:t>連続稼働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3529584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A6B"/>
                </a:solidFill>
              </a:rPr>
              <a:t>72時間以上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3941064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UPS給電で長時間の通信維持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379976"/>
            <a:ext cx="557784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4531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</a:rPr>
              <a:t>差別化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442569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A6B"/>
                </a:solidFill>
              </a:rPr>
              <a:t>競合優位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4837176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Starlink冗長化対応は競合他社にない強み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276088"/>
            <a:ext cx="5577840" cy="86868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5349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</a:rPr>
              <a:t>BCP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5321807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A6B"/>
                </a:solidFill>
              </a:rPr>
              <a:t>要件適合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83080" y="573328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顧客のBCP基準を満たし契約継続に直結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1051560"/>
            <a:ext cx="5788152" cy="54864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11430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💰  概算費用（1拠点・2名体制）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1572768"/>
            <a:ext cx="5788152" cy="45720"/>
          </a:xfrm>
          <a:prstGeom prst="rect">
            <a:avLst/>
          </a:prstGeom>
          <a:solidFill>
            <a:srgbClr val="00B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169164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0D8"/>
                </a:solidFill>
              </a:rPr>
              <a:t>【初期費用】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215798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au Starlink対応スマートフォン × 2台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6960" y="215798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〜 ¥120,000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259689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SIM発行・初期設定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66960" y="259689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〜 ¥20,000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30358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警備員トレーニング（半日）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66960" y="30358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〜 ¥30,000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6480" y="3401568"/>
            <a:ext cx="5788152" cy="420624"/>
          </a:xfrm>
          <a:prstGeom prst="rect">
            <a:avLst/>
          </a:prstGeom>
          <a:solidFill>
            <a:srgbClr val="08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0" y="3474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初期費用 合計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66960" y="34747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0B0D8"/>
                </a:solidFill>
              </a:rPr>
              <a:t>〜 ¥170,000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391363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0D8"/>
                </a:solidFill>
              </a:rPr>
              <a:t>【月次費用（ランニング）】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43708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au法人プラン（Starlink含む）× 2回線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66960" y="437083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〜 ¥12,000/月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480974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MDM管理費（オプション）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66960" y="4809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〜 ¥2,000/月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26480" y="5175504"/>
            <a:ext cx="5788152" cy="420624"/>
          </a:xfrm>
          <a:prstGeom prst="rect">
            <a:avLst/>
          </a:prstGeom>
          <a:solidFill>
            <a:srgbClr val="08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9360" y="524865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月次費用 合計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6960" y="524865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0B0D8"/>
                </a:solidFill>
              </a:rPr>
              <a:t>〜 ¥14,000/月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26480" y="5687568"/>
            <a:ext cx="5788152" cy="804672"/>
          </a:xfrm>
          <a:prstGeom prst="rect">
            <a:avLst/>
          </a:prstGeom>
          <a:solidFill>
            <a:srgbClr val="E04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09360" y="5760720"/>
            <a:ext cx="5486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年間約17万円の投資でリスクを最小化
ROI 1,000%超を達成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0D8"/>
                </a:solidFill>
              </a:rPr>
              <a:t>まとめ・次のステップ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御社のデータセンター警備を
「つながる警備」へアップグレードします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057400"/>
            <a:ext cx="5788152" cy="54864"/>
          </a:xfrm>
          <a:prstGeom prst="rect">
            <a:avLst/>
          </a:prstGeom>
          <a:solidFill>
            <a:srgbClr val="00B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240280"/>
            <a:ext cx="3657600" cy="2926080"/>
          </a:xfrm>
          <a:prstGeom prst="rect">
            <a:avLst/>
          </a:prstGeom>
          <a:solidFill>
            <a:srgbClr val="122A4E"/>
          </a:solidFill>
          <a:ln w="12700">
            <a:solidFill>
              <a:srgbClr val="306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333333"/>
                </a:solidFill>
              </a:rPr>
              <a:t>🛰️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546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0D8"/>
                </a:solidFill>
              </a:rPr>
              <a:t>技術力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39312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CCEE"/>
                </a:solidFill>
              </a:rPr>
              <a:t>衛星直接通信で
地上インフラに依存しない
真の冗長化を実現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0832" y="2240280"/>
            <a:ext cx="3657600" cy="2926080"/>
          </a:xfrm>
          <a:prstGeom prst="rect">
            <a:avLst/>
          </a:prstGeom>
          <a:solidFill>
            <a:srgbClr val="122A4E"/>
          </a:solidFill>
          <a:ln w="12700">
            <a:solidFill>
              <a:srgbClr val="306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0832" y="233172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333333"/>
                </a:solidFill>
              </a:rPr>
              <a:t>🛡️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0832" y="31546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0D8"/>
                </a:solidFill>
              </a:rPr>
              <a:t>安全性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3639312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CCEE"/>
                </a:solidFill>
              </a:rPr>
              <a:t>いかなる大規模災害でも
通信を維持し
警備任務を継続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84464" y="2240280"/>
            <a:ext cx="3657600" cy="2926080"/>
          </a:xfrm>
          <a:prstGeom prst="rect">
            <a:avLst/>
          </a:prstGeom>
          <a:solidFill>
            <a:srgbClr val="122A4E"/>
          </a:solidFill>
          <a:ln w="12700">
            <a:solidFill>
              <a:srgbClr val="306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233172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333333"/>
                </a:solidFill>
              </a:rPr>
              <a:t>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31546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0D8"/>
                </a:solidFill>
              </a:rPr>
              <a:t>競合優位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7344" y="3639312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CCEE"/>
                </a:solidFill>
              </a:rPr>
              <a:t>「Starlink対応」は
現時点で競合他社に
ない差別化ポイント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303520"/>
            <a:ext cx="11274552" cy="1325880"/>
          </a:xfrm>
          <a:prstGeom prst="rect">
            <a:avLst/>
          </a:prstGeom>
          <a:solidFill>
            <a:srgbClr val="E04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394960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🚀  まずは無料の現地調査からはじめましょう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925312"/>
            <a:ext cx="110916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DDDD"/>
                </a:solidFill>
              </a:rPr>
              <a:t>通信環境を診断し、最適な冗長化プランを無料でご提示します。
お気軽にご相談ください。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